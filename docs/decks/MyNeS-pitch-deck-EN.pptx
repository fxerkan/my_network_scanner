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E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71"/>
    <p:restoredTop sz="94610"/>
  </p:normalViewPr>
  <p:slideViewPr>
    <p:cSldViewPr snapToGrid="0" snapToObjects="1">
      <p:cViewPr varScale="1">
        <p:scale>
          <a:sx n="168" d="100"/>
          <a:sy n="168" d="100"/>
        </p:scale>
        <p:origin x="22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5445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3.jpg"/><Relationship Id="rId4" Type="http://schemas.openxmlformats.org/officeDocument/2006/relationships/image" Target="../media/image12.jpg"/></Relationships>
</file>

<file path=ppt/slides/_rels/slide15.xml.rels><?xml version="1.0" encoding="UTF-8" standalone="yes"?>
<Relationships xmlns="http://schemas.openxmlformats.org/package/2006/relationships"><Relationship Id="rId8" Type="http://schemas.openxmlformats.org/officeDocument/2006/relationships/image" Target="../media/image18.jpg"/><Relationship Id="rId3" Type="http://schemas.openxmlformats.org/officeDocument/2006/relationships/image" Target="../media/image1.png"/><Relationship Id="rId7"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g"/><Relationship Id="rId9" Type="http://schemas.openxmlformats.org/officeDocument/2006/relationships/image" Target="../media/image19.jp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1.jpg"/><Relationship Id="rId4" Type="http://schemas.openxmlformats.org/officeDocument/2006/relationships/image" Target="../media/image20.jp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hyperlink" Target="https://fxerkan.com/" TargetMode="Externa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373558" y="146304"/>
            <a:ext cx="748913" cy="310896"/>
          </a:xfrm>
          <a:prstGeom prst="roundRect">
            <a:avLst>
              <a:gd name="adj" fmla="val 20588"/>
            </a:avLst>
          </a:prstGeom>
          <a:solidFill>
            <a:srgbClr val="EDF2FF"/>
          </a:solidFill>
          <a:ln/>
        </p:spPr>
        <p:txBody>
          <a:bodyPr/>
          <a:lstStyle/>
          <a:p>
            <a:endParaRPr lang="en-TR"/>
          </a:p>
        </p:txBody>
      </p:sp>
      <p:sp>
        <p:nvSpPr>
          <p:cNvPr id="8" name="Text 5"/>
          <p:cNvSpPr txBox="1"/>
          <p:nvPr/>
        </p:nvSpPr>
        <p:spPr>
          <a:xfrm>
            <a:off x="3510718" y="211135"/>
            <a:ext cx="748913" cy="219456"/>
          </a:xfrm>
          <a:prstGeom prst="rect">
            <a:avLst/>
          </a:prstGeom>
          <a:noFill/>
          <a:ln/>
        </p:spPr>
        <p:txBody>
          <a:bodyPr wrap="square" lIns="0" tIns="0" rIns="0" bIns="0" rtlCol="0" anchor="t"/>
          <a:lstStyle/>
          <a:p>
            <a:pPr marL="0" indent="0" algn="l">
              <a:buNone/>
            </a:pPr>
            <a:r>
              <a:rPr lang="en-US" sz="1050" dirty="0">
                <a:solidFill>
                  <a:srgbClr val="3D6FF5"/>
                </a:solidFill>
                <a:latin typeface="Saira Medium" pitchFamily="34" charset="0"/>
                <a:ea typeface="Saira Medium" pitchFamily="34" charset="-122"/>
                <a:cs typeface="Saira Medium" pitchFamily="34" charset="-120"/>
              </a:rPr>
              <a:t>Devices</a:t>
            </a:r>
            <a:endParaRPr lang="en-US" sz="1050" dirty="0"/>
          </a:p>
        </p:txBody>
      </p:sp>
      <p:sp>
        <p:nvSpPr>
          <p:cNvPr id="9" name="Text 6"/>
          <p:cNvSpPr txBox="1"/>
          <p:nvPr/>
        </p:nvSpPr>
        <p:spPr>
          <a:xfrm>
            <a:off x="4369359" y="211135"/>
            <a:ext cx="881329" cy="219456"/>
          </a:xfrm>
          <a:prstGeom prst="rect">
            <a:avLst/>
          </a:prstGeom>
          <a:noFill/>
          <a:ln/>
        </p:spPr>
        <p:txBody>
          <a:bodyPr wrap="square" lIns="0" tIns="0" rIns="0" bIns="0" rtlCol="0" anchor="t"/>
          <a:lstStyle/>
          <a:p>
            <a:pPr marL="0" indent="0" algn="l">
              <a:buNone/>
            </a:pPr>
            <a:r>
              <a:rPr lang="en-US" sz="1050" dirty="0">
                <a:solidFill>
                  <a:srgbClr val="606A79"/>
                </a:solidFill>
                <a:latin typeface="Saira Medium" pitchFamily="34" charset="0"/>
                <a:ea typeface="Saira Medium" pitchFamily="34" charset="-122"/>
                <a:cs typeface="Saira Medium" pitchFamily="34" charset="-120"/>
              </a:rPr>
              <a:t>Discovery</a:t>
            </a:r>
            <a:endParaRPr lang="en-US" sz="1050" dirty="0"/>
          </a:p>
        </p:txBody>
      </p:sp>
      <p:sp>
        <p:nvSpPr>
          <p:cNvPr id="10" name="Text 7"/>
          <p:cNvSpPr txBox="1"/>
          <p:nvPr/>
        </p:nvSpPr>
        <p:spPr>
          <a:xfrm>
            <a:off x="5360416" y="211135"/>
            <a:ext cx="642099" cy="219456"/>
          </a:xfrm>
          <a:prstGeom prst="rect">
            <a:avLst/>
          </a:prstGeom>
          <a:noFill/>
          <a:ln/>
        </p:spPr>
        <p:txBody>
          <a:bodyPr wrap="square" lIns="0" tIns="0" rIns="0" bIns="0" rtlCol="0" anchor="t"/>
          <a:lstStyle/>
          <a:p>
            <a:pPr marL="0" indent="0" algn="l">
              <a:buNone/>
            </a:pPr>
            <a:r>
              <a:rPr lang="en-US" sz="1050" dirty="0">
                <a:solidFill>
                  <a:srgbClr val="606A79"/>
                </a:solidFill>
                <a:latin typeface="Saira Medium" pitchFamily="34" charset="0"/>
                <a:ea typeface="Saira Medium" pitchFamily="34" charset="-122"/>
                <a:cs typeface="Saira Medium" pitchFamily="34" charset="-120"/>
              </a:rPr>
              <a:t>Alerts</a:t>
            </a:r>
            <a:endParaRPr lang="en-US" sz="1050" dirty="0"/>
          </a:p>
        </p:txBody>
      </p:sp>
      <p:sp>
        <p:nvSpPr>
          <p:cNvPr id="11" name="Text 8"/>
          <p:cNvSpPr txBox="1"/>
          <p:nvPr/>
        </p:nvSpPr>
        <p:spPr>
          <a:xfrm>
            <a:off x="6112243" y="211135"/>
            <a:ext cx="788118" cy="219456"/>
          </a:xfrm>
          <a:prstGeom prst="rect">
            <a:avLst/>
          </a:prstGeom>
          <a:noFill/>
          <a:ln/>
        </p:spPr>
        <p:txBody>
          <a:bodyPr wrap="square" lIns="0" tIns="0" rIns="0" bIns="0" rtlCol="0" anchor="t"/>
          <a:lstStyle/>
          <a:p>
            <a:pPr marL="0" indent="0" algn="l">
              <a:buNone/>
            </a:pPr>
            <a:r>
              <a:rPr lang="en-US" sz="1050" dirty="0">
                <a:solidFill>
                  <a:srgbClr val="606A79"/>
                </a:solidFill>
                <a:latin typeface="Saira Medium" pitchFamily="34" charset="0"/>
                <a:ea typeface="Saira Medium" pitchFamily="34" charset="-122"/>
                <a:cs typeface="Saira Medium" pitchFamily="34" charset="-120"/>
              </a:rPr>
              <a:t>Security</a:t>
            </a:r>
            <a:endParaRPr lang="en-US" sz="1050" dirty="0"/>
          </a:p>
        </p:txBody>
      </p:sp>
      <p:sp>
        <p:nvSpPr>
          <p:cNvPr id="12" name="Text 9"/>
          <p:cNvSpPr txBox="1"/>
          <p:nvPr/>
        </p:nvSpPr>
        <p:spPr>
          <a:xfrm>
            <a:off x="7010089" y="211135"/>
            <a:ext cx="729710" cy="219456"/>
          </a:xfrm>
          <a:prstGeom prst="rect">
            <a:avLst/>
          </a:prstGeom>
          <a:noFill/>
          <a:ln/>
        </p:spPr>
        <p:txBody>
          <a:bodyPr wrap="square" lIns="0" tIns="0" rIns="0" bIns="0" rtlCol="0" anchor="t"/>
          <a:lstStyle/>
          <a:p>
            <a:pPr marL="0" indent="0" algn="l">
              <a:buNone/>
            </a:pPr>
            <a:r>
              <a:rPr lang="en-US" sz="1050" dirty="0">
                <a:solidFill>
                  <a:srgbClr val="606A79"/>
                </a:solidFill>
                <a:latin typeface="Saira Medium" pitchFamily="34" charset="0"/>
                <a:ea typeface="Saira Medium" pitchFamily="34" charset="-122"/>
                <a:cs typeface="Saira Medium" pitchFamily="34" charset="-120"/>
              </a:rPr>
              <a:t>History</a:t>
            </a:r>
            <a:endParaRPr lang="en-US" sz="1050" dirty="0"/>
          </a:p>
        </p:txBody>
      </p:sp>
      <p:sp>
        <p:nvSpPr>
          <p:cNvPr id="13" name="Text 10"/>
          <p:cNvSpPr txBox="1"/>
          <p:nvPr/>
        </p:nvSpPr>
        <p:spPr>
          <a:xfrm>
            <a:off x="7849527" y="211135"/>
            <a:ext cx="791051" cy="219456"/>
          </a:xfrm>
          <a:prstGeom prst="rect">
            <a:avLst/>
          </a:prstGeom>
          <a:noFill/>
          <a:ln/>
        </p:spPr>
        <p:txBody>
          <a:bodyPr wrap="square" lIns="0" tIns="0" rIns="0" bIns="0" rtlCol="0" anchor="t"/>
          <a:lstStyle/>
          <a:p>
            <a:pPr marL="0" indent="0" algn="l">
              <a:buNone/>
            </a:pPr>
            <a:r>
              <a:rPr lang="en-US" sz="1050" dirty="0">
                <a:solidFill>
                  <a:srgbClr val="606A79"/>
                </a:solidFill>
                <a:latin typeface="Saira Medium" pitchFamily="34" charset="0"/>
                <a:ea typeface="Saira Medium" pitchFamily="34" charset="-122"/>
                <a:cs typeface="Saira Medium" pitchFamily="34" charset="-120"/>
              </a:rPr>
              <a:t>Settings</a:t>
            </a:r>
            <a:endParaRPr lang="en-US" sz="1050" dirty="0"/>
          </a:p>
        </p:txBody>
      </p:sp>
      <p:sp>
        <p:nvSpPr>
          <p:cNvPr id="14" name="Shape 11"/>
          <p:cNvSpPr/>
          <p:nvPr/>
        </p:nvSpPr>
        <p:spPr>
          <a:xfrm>
            <a:off x="11313871" y="269748"/>
            <a:ext cx="96012" cy="96012"/>
          </a:xfrm>
          <a:prstGeom prst="ellipse">
            <a:avLst/>
          </a:prstGeom>
          <a:solidFill>
            <a:srgbClr val="17A05C"/>
          </a:solidFill>
          <a:ln/>
        </p:spPr>
        <p:txBody>
          <a:bodyPr/>
          <a:lstStyle/>
          <a:p>
            <a:endParaRPr lang="en-TR"/>
          </a:p>
        </p:txBody>
      </p:sp>
      <p:sp>
        <p:nvSpPr>
          <p:cNvPr id="15" name="Text 12"/>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pic>
        <p:nvPicPr>
          <p:cNvPr id="16" name="Image 1" descr="/home/claude/decks/kit2/worlds/../logos/mynes-logo.png"/>
          <p:cNvPicPr>
            <a:picLocks noChangeAspect="1"/>
          </p:cNvPicPr>
          <p:nvPr/>
        </p:nvPicPr>
        <p:blipFill>
          <a:blip r:embed="rId3"/>
          <a:stretch>
            <a:fillRect/>
          </a:stretch>
        </p:blipFill>
        <p:spPr>
          <a:xfrm>
            <a:off x="676656" y="887984"/>
            <a:ext cx="804672" cy="804672"/>
          </a:xfrm>
          <a:prstGeom prst="rect">
            <a:avLst/>
          </a:prstGeom>
        </p:spPr>
      </p:pic>
      <p:sp>
        <p:nvSpPr>
          <p:cNvPr id="17" name="Text 13"/>
          <p:cNvSpPr txBox="1"/>
          <p:nvPr/>
        </p:nvSpPr>
        <p:spPr>
          <a:xfrm>
            <a:off x="1627632" y="980237"/>
            <a:ext cx="10058400" cy="852424"/>
          </a:xfrm>
          <a:prstGeom prst="rect">
            <a:avLst/>
          </a:prstGeom>
          <a:noFill/>
          <a:ln/>
        </p:spPr>
        <p:txBody>
          <a:bodyPr wrap="none" lIns="0" tIns="0" rIns="0" bIns="0" rtlCol="0" anchor="t"/>
          <a:lstStyle/>
          <a:p>
            <a:pPr marL="0" indent="0">
              <a:buNone/>
            </a:pPr>
            <a:r>
              <a:rPr lang="en-US" sz="4000" b="1" kern="0" spc="-72" dirty="0">
                <a:solidFill>
                  <a:srgbClr val="141A24"/>
                </a:solidFill>
                <a:latin typeface="Saira Cond" pitchFamily="34" charset="0"/>
                <a:ea typeface="Saira Cond" pitchFamily="34" charset="-122"/>
                <a:cs typeface="Saira Cond" pitchFamily="34" charset="-120"/>
              </a:rPr>
              <a:t>My Network Scann</a:t>
            </a:r>
            <a:r>
              <a:rPr lang="en-US" sz="4000" b="1" kern="0" spc="-72" dirty="0">
                <a:solidFill>
                  <a:srgbClr val="3D6FF5"/>
                </a:solidFill>
                <a:latin typeface="Saira Cond" pitchFamily="34" charset="0"/>
                <a:ea typeface="Saira Cond" pitchFamily="34" charset="-122"/>
                <a:cs typeface="Saira Cond" pitchFamily="34" charset="-120"/>
              </a:rPr>
              <a:t>er</a:t>
            </a:r>
            <a:endParaRPr lang="en-US" sz="4000" dirty="0"/>
          </a:p>
        </p:txBody>
      </p:sp>
      <p:sp>
        <p:nvSpPr>
          <p:cNvPr id="18" name="Text 14"/>
          <p:cNvSpPr txBox="1"/>
          <p:nvPr/>
        </p:nvSpPr>
        <p:spPr>
          <a:xfrm>
            <a:off x="1661658" y="1638064"/>
            <a:ext cx="2223516" cy="446227"/>
          </a:xfrm>
          <a:prstGeom prst="rect">
            <a:avLst/>
          </a:prstGeom>
          <a:noFill/>
          <a:ln/>
        </p:spPr>
        <p:txBody>
          <a:bodyPr wrap="none" lIns="0" tIns="0" rIns="0" bIns="0" rtlCol="0" anchor="t"/>
          <a:lstStyle/>
          <a:p>
            <a:pPr marL="0" indent="0" algn="l">
              <a:buNone/>
            </a:pPr>
            <a:r>
              <a:rPr lang="en-US" sz="940" b="1" kern="0" spc="113" dirty="0">
                <a:solidFill>
                  <a:srgbClr val="606A79"/>
                </a:solidFill>
                <a:latin typeface="Saira Medium" pitchFamily="34" charset="0"/>
                <a:ea typeface="Saira Medium" pitchFamily="34" charset="-122"/>
                <a:cs typeface="Saira Medium" pitchFamily="34" charset="-120"/>
              </a:rPr>
              <a:t>MyNeS</a:t>
            </a:r>
            <a:endParaRPr lang="en-US" sz="940" b="1" dirty="0"/>
          </a:p>
        </p:txBody>
      </p:sp>
      <p:sp>
        <p:nvSpPr>
          <p:cNvPr id="19" name="Text 15"/>
          <p:cNvSpPr txBox="1"/>
          <p:nvPr/>
        </p:nvSpPr>
        <p:spPr>
          <a:xfrm>
            <a:off x="676656" y="2222216"/>
            <a:ext cx="4334256" cy="1130300"/>
          </a:xfrm>
          <a:prstGeom prst="rect">
            <a:avLst/>
          </a:prstGeom>
          <a:noFill/>
          <a:ln/>
        </p:spPr>
        <p:txBody>
          <a:bodyPr wrap="square" lIns="0" tIns="0" rIns="0" bIns="0" rtlCol="0" anchor="t"/>
          <a:lstStyle/>
          <a:p>
            <a:pPr marL="0" indent="0" algn="l">
              <a:lnSpc>
                <a:spcPts val="3190"/>
              </a:lnSpc>
              <a:buNone/>
            </a:pPr>
            <a:r>
              <a:rPr lang="en-US" sz="2900" kern="0" spc="-35" dirty="0">
                <a:solidFill>
                  <a:srgbClr val="141A24"/>
                </a:solidFill>
                <a:latin typeface="Saira Cond SemiBold" pitchFamily="34" charset="0"/>
                <a:ea typeface="Saira Cond SemiBold" pitchFamily="34" charset="-122"/>
                <a:cs typeface="Saira Cond SemiBold" pitchFamily="34" charset="-120"/>
              </a:rPr>
              <a:t>You cannot secure what you cannot name.</a:t>
            </a:r>
            <a:endParaRPr lang="en-US" sz="2900" dirty="0"/>
          </a:p>
        </p:txBody>
      </p:sp>
      <p:sp>
        <p:nvSpPr>
          <p:cNvPr id="20" name="Text 16"/>
          <p:cNvSpPr txBox="1"/>
          <p:nvPr/>
        </p:nvSpPr>
        <p:spPr>
          <a:xfrm>
            <a:off x="676656" y="3295416"/>
            <a:ext cx="4224528" cy="1048258"/>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Most home networks carry more devices than their owner can list. MyNeS finds every one of them, works out what it is from vendor, ports and protocols, lets you give it a name that means something, and tells you when something new appears.</a:t>
            </a:r>
            <a:endParaRPr lang="en-US" sz="1150" dirty="0"/>
          </a:p>
        </p:txBody>
      </p:sp>
      <p:sp>
        <p:nvSpPr>
          <p:cNvPr id="21" name="Shape 17"/>
          <p:cNvSpPr/>
          <p:nvPr/>
        </p:nvSpPr>
        <p:spPr>
          <a:xfrm>
            <a:off x="676656" y="4441142"/>
            <a:ext cx="862292" cy="292608"/>
          </a:xfrm>
          <a:prstGeom prst="roundRect">
            <a:avLst>
              <a:gd name="adj" fmla="val 50000"/>
            </a:avLst>
          </a:prstGeom>
          <a:solidFill>
            <a:srgbClr val="EDF2FF"/>
          </a:solidFill>
          <a:ln w="12700">
            <a:solidFill>
              <a:srgbClr val="D6E2FF"/>
            </a:solidFill>
            <a:prstDash val="solid"/>
          </a:ln>
        </p:spPr>
        <p:txBody>
          <a:bodyPr/>
          <a:lstStyle/>
          <a:p>
            <a:endParaRPr lang="en-TR"/>
          </a:p>
        </p:txBody>
      </p:sp>
      <p:sp>
        <p:nvSpPr>
          <p:cNvPr id="22" name="Text 18"/>
          <p:cNvSpPr txBox="1"/>
          <p:nvPr/>
        </p:nvSpPr>
        <p:spPr>
          <a:xfrm>
            <a:off x="676656" y="4509458"/>
            <a:ext cx="862292" cy="292608"/>
          </a:xfrm>
          <a:prstGeom prst="rect">
            <a:avLst/>
          </a:prstGeom>
          <a:noFill/>
          <a:ln/>
        </p:spPr>
        <p:txBody>
          <a:bodyPr wrap="square" lIns="0" tIns="0" rIns="0" bIns="0" rtlCol="0" anchor="t"/>
          <a:lstStyle/>
          <a:p>
            <a:pPr marL="0" indent="0" algn="ctr">
              <a:buNone/>
            </a:pPr>
            <a:r>
              <a:rPr lang="en-US" sz="950" dirty="0">
                <a:solidFill>
                  <a:srgbClr val="3D6FF5"/>
                </a:solidFill>
                <a:latin typeface="Saira Medium" pitchFamily="34" charset="0"/>
                <a:ea typeface="Saira Medium" pitchFamily="34" charset="-122"/>
                <a:cs typeface="Saira Medium" pitchFamily="34" charset="-120"/>
              </a:rPr>
              <a:t>Docker</a:t>
            </a:r>
            <a:endParaRPr lang="en-US" sz="950" dirty="0"/>
          </a:p>
        </p:txBody>
      </p:sp>
      <p:sp>
        <p:nvSpPr>
          <p:cNvPr id="23" name="Shape 19"/>
          <p:cNvSpPr/>
          <p:nvPr/>
        </p:nvSpPr>
        <p:spPr>
          <a:xfrm>
            <a:off x="1648676" y="4441142"/>
            <a:ext cx="1784179" cy="292608"/>
          </a:xfrm>
          <a:prstGeom prst="roundRect">
            <a:avLst>
              <a:gd name="adj" fmla="val 50000"/>
            </a:avLst>
          </a:prstGeom>
          <a:solidFill>
            <a:srgbClr val="EDF2FF"/>
          </a:solidFill>
          <a:ln w="12700">
            <a:solidFill>
              <a:srgbClr val="D6E2FF"/>
            </a:solidFill>
            <a:prstDash val="solid"/>
          </a:ln>
        </p:spPr>
        <p:txBody>
          <a:bodyPr/>
          <a:lstStyle/>
          <a:p>
            <a:endParaRPr lang="en-TR"/>
          </a:p>
        </p:txBody>
      </p:sp>
      <p:sp>
        <p:nvSpPr>
          <p:cNvPr id="24" name="Text 20"/>
          <p:cNvSpPr txBox="1"/>
          <p:nvPr/>
        </p:nvSpPr>
        <p:spPr>
          <a:xfrm>
            <a:off x="1648676" y="4509458"/>
            <a:ext cx="1784179" cy="292608"/>
          </a:xfrm>
          <a:prstGeom prst="rect">
            <a:avLst/>
          </a:prstGeom>
          <a:noFill/>
          <a:ln/>
        </p:spPr>
        <p:txBody>
          <a:bodyPr wrap="square" lIns="0" tIns="0" rIns="0" bIns="0" rtlCol="0" anchor="t"/>
          <a:lstStyle/>
          <a:p>
            <a:pPr marL="0" indent="0" algn="ctr">
              <a:buNone/>
            </a:pPr>
            <a:r>
              <a:rPr lang="en-US" sz="950" dirty="0">
                <a:solidFill>
                  <a:srgbClr val="3D6FF5"/>
                </a:solidFill>
                <a:latin typeface="Saira Medium" pitchFamily="34" charset="0"/>
                <a:ea typeface="Saira Medium" pitchFamily="34" charset="-122"/>
                <a:cs typeface="Saira Medium" pitchFamily="34" charset="-120"/>
              </a:rPr>
              <a:t>Home Assistant add-on</a:t>
            </a:r>
            <a:endParaRPr lang="en-US" sz="950" dirty="0"/>
          </a:p>
        </p:txBody>
      </p:sp>
      <p:sp>
        <p:nvSpPr>
          <p:cNvPr id="25" name="Shape 21"/>
          <p:cNvSpPr/>
          <p:nvPr/>
        </p:nvSpPr>
        <p:spPr>
          <a:xfrm>
            <a:off x="3542582" y="4441142"/>
            <a:ext cx="902468" cy="292608"/>
          </a:xfrm>
          <a:prstGeom prst="roundRect">
            <a:avLst>
              <a:gd name="adj" fmla="val 50000"/>
            </a:avLst>
          </a:prstGeom>
          <a:solidFill>
            <a:srgbClr val="EDF2FF"/>
          </a:solidFill>
          <a:ln w="12700">
            <a:solidFill>
              <a:srgbClr val="D6E2FF"/>
            </a:solidFill>
            <a:prstDash val="solid"/>
          </a:ln>
        </p:spPr>
        <p:txBody>
          <a:bodyPr/>
          <a:lstStyle/>
          <a:p>
            <a:endParaRPr lang="en-TR"/>
          </a:p>
        </p:txBody>
      </p:sp>
      <p:sp>
        <p:nvSpPr>
          <p:cNvPr id="26" name="Text 22"/>
          <p:cNvSpPr txBox="1"/>
          <p:nvPr/>
        </p:nvSpPr>
        <p:spPr>
          <a:xfrm>
            <a:off x="3542582" y="4509458"/>
            <a:ext cx="902468" cy="292608"/>
          </a:xfrm>
          <a:prstGeom prst="rect">
            <a:avLst/>
          </a:prstGeom>
          <a:noFill/>
          <a:ln/>
        </p:spPr>
        <p:txBody>
          <a:bodyPr wrap="square" lIns="0" tIns="0" rIns="0" bIns="0" rtlCol="0" anchor="t"/>
          <a:lstStyle/>
          <a:p>
            <a:pPr marL="0" indent="0" algn="ctr">
              <a:buNone/>
            </a:pPr>
            <a:r>
              <a:rPr lang="en-US" sz="950" dirty="0">
                <a:solidFill>
                  <a:srgbClr val="3D6FF5"/>
                </a:solidFill>
                <a:latin typeface="Saira Medium" pitchFamily="34" charset="0"/>
                <a:ea typeface="Saira Medium" pitchFamily="34" charset="-122"/>
                <a:cs typeface="Saira Medium" pitchFamily="34" charset="-120"/>
              </a:rPr>
              <a:t>CasaOS</a:t>
            </a:r>
            <a:endParaRPr lang="en-US" sz="950" dirty="0"/>
          </a:p>
        </p:txBody>
      </p:sp>
      <p:sp>
        <p:nvSpPr>
          <p:cNvPr id="27" name="Text 23"/>
          <p:cNvSpPr txBox="1"/>
          <p:nvPr/>
        </p:nvSpPr>
        <p:spPr>
          <a:xfrm>
            <a:off x="676656" y="5000480"/>
            <a:ext cx="4224528" cy="219456"/>
          </a:xfrm>
          <a:prstGeom prst="rect">
            <a:avLst/>
          </a:prstGeom>
          <a:noFill/>
          <a:ln/>
        </p:spPr>
        <p:txBody>
          <a:bodyPr wrap="square" lIns="0" tIns="0" rIns="0" bIns="0" rtlCol="0" anchor="t"/>
          <a:lstStyle/>
          <a:p>
            <a:pPr marL="0" indent="0" algn="l">
              <a:buNone/>
            </a:pPr>
            <a:r>
              <a:rPr lang="en-US" sz="1150" dirty="0">
                <a:solidFill>
                  <a:srgbClr val="141A24"/>
                </a:solidFill>
                <a:latin typeface="Saira Cond SemiBold" pitchFamily="34" charset="0"/>
                <a:ea typeface="Saira Cond SemiBold" pitchFamily="34" charset="-122"/>
                <a:cs typeface="Saira Cond SemiBold" pitchFamily="34" charset="-120"/>
              </a:rPr>
              <a:t>MyNeS Mobile — the same engine, on the phone</a:t>
            </a:r>
            <a:endParaRPr lang="en-US" sz="1150" dirty="0"/>
          </a:p>
        </p:txBody>
      </p:sp>
      <p:sp>
        <p:nvSpPr>
          <p:cNvPr id="28" name="Shape 24"/>
          <p:cNvSpPr/>
          <p:nvPr/>
        </p:nvSpPr>
        <p:spPr>
          <a:xfrm>
            <a:off x="676656" y="5282390"/>
            <a:ext cx="1938528" cy="438912"/>
          </a:xfrm>
          <a:prstGeom prst="roundRect">
            <a:avLst>
              <a:gd name="adj" fmla="val 18750"/>
            </a:avLst>
          </a:prstGeom>
          <a:solidFill>
            <a:srgbClr val="141A24"/>
          </a:solidFill>
          <a:ln/>
        </p:spPr>
        <p:txBody>
          <a:bodyPr/>
          <a:lstStyle/>
          <a:p>
            <a:endParaRPr lang="en-TR"/>
          </a:p>
        </p:txBody>
      </p:sp>
      <p:sp>
        <p:nvSpPr>
          <p:cNvPr id="29" name="Text 25"/>
          <p:cNvSpPr txBox="1"/>
          <p:nvPr/>
        </p:nvSpPr>
        <p:spPr>
          <a:xfrm>
            <a:off x="877824" y="5322440"/>
            <a:ext cx="1554480" cy="219456"/>
          </a:xfrm>
          <a:prstGeom prst="rect">
            <a:avLst/>
          </a:prstGeom>
          <a:noFill/>
          <a:ln/>
        </p:spPr>
        <p:txBody>
          <a:bodyPr wrap="square" lIns="0" tIns="0" rIns="0" bIns="0" rtlCol="0" anchor="t"/>
          <a:lstStyle/>
          <a:p>
            <a:pPr marL="0" indent="0" algn="l">
              <a:buNone/>
            </a:pPr>
            <a:r>
              <a:rPr lang="en-US" sz="1100" dirty="0">
                <a:solidFill>
                  <a:srgbClr val="FFFFFF"/>
                </a:solidFill>
                <a:latin typeface="Saira Cond SemiBold" pitchFamily="34" charset="0"/>
                <a:ea typeface="Saira Cond SemiBold" pitchFamily="34" charset="-122"/>
                <a:cs typeface="Saira Cond SemiBold" pitchFamily="34" charset="-120"/>
              </a:rPr>
              <a:t>App Store</a:t>
            </a:r>
            <a:endParaRPr lang="en-US" sz="1100" dirty="0"/>
          </a:p>
        </p:txBody>
      </p:sp>
      <p:sp>
        <p:nvSpPr>
          <p:cNvPr id="30" name="Text 26"/>
          <p:cNvSpPr txBox="1"/>
          <p:nvPr/>
        </p:nvSpPr>
        <p:spPr>
          <a:xfrm>
            <a:off x="877824" y="5528363"/>
            <a:ext cx="1554480" cy="164592"/>
          </a:xfrm>
          <a:prstGeom prst="rect">
            <a:avLst/>
          </a:prstGeom>
          <a:noFill/>
          <a:ln/>
        </p:spPr>
        <p:txBody>
          <a:bodyPr wrap="square" lIns="0" tIns="0" rIns="0" bIns="0" rtlCol="0" anchor="t"/>
          <a:lstStyle/>
          <a:p>
            <a:pPr marL="0" indent="0" algn="l">
              <a:buNone/>
            </a:pPr>
            <a:r>
              <a:rPr lang="en-US" sz="750" dirty="0">
                <a:solidFill>
                  <a:srgbClr val="9AA6B8"/>
                </a:solidFill>
                <a:latin typeface="Sometype Mono" pitchFamily="34" charset="0"/>
                <a:ea typeface="Sometype Mono" pitchFamily="34" charset="-122"/>
                <a:cs typeface="Sometype Mono" pitchFamily="34" charset="-120"/>
              </a:rPr>
              <a:t>iOS</a:t>
            </a:r>
            <a:endParaRPr lang="en-US" sz="750" dirty="0"/>
          </a:p>
        </p:txBody>
      </p:sp>
      <p:sp>
        <p:nvSpPr>
          <p:cNvPr id="31" name="Shape 27"/>
          <p:cNvSpPr/>
          <p:nvPr/>
        </p:nvSpPr>
        <p:spPr>
          <a:xfrm>
            <a:off x="2761488" y="5282390"/>
            <a:ext cx="1938528" cy="438912"/>
          </a:xfrm>
          <a:prstGeom prst="roundRect">
            <a:avLst>
              <a:gd name="adj" fmla="val 18750"/>
            </a:avLst>
          </a:prstGeom>
          <a:solidFill>
            <a:srgbClr val="141A24"/>
          </a:solidFill>
          <a:ln/>
        </p:spPr>
        <p:txBody>
          <a:bodyPr/>
          <a:lstStyle/>
          <a:p>
            <a:endParaRPr lang="en-TR"/>
          </a:p>
        </p:txBody>
      </p:sp>
      <p:sp>
        <p:nvSpPr>
          <p:cNvPr id="32" name="Text 28"/>
          <p:cNvSpPr txBox="1"/>
          <p:nvPr/>
        </p:nvSpPr>
        <p:spPr>
          <a:xfrm>
            <a:off x="2962656" y="5322440"/>
            <a:ext cx="1554480" cy="219456"/>
          </a:xfrm>
          <a:prstGeom prst="rect">
            <a:avLst/>
          </a:prstGeom>
          <a:noFill/>
          <a:ln/>
        </p:spPr>
        <p:txBody>
          <a:bodyPr wrap="square" lIns="0" tIns="0" rIns="0" bIns="0" rtlCol="0" anchor="t"/>
          <a:lstStyle/>
          <a:p>
            <a:pPr marL="0" indent="0" algn="l">
              <a:buNone/>
            </a:pPr>
            <a:r>
              <a:rPr lang="en-US" sz="1100" dirty="0">
                <a:solidFill>
                  <a:srgbClr val="FFFFFF"/>
                </a:solidFill>
                <a:latin typeface="Saira Cond SemiBold" pitchFamily="34" charset="0"/>
                <a:ea typeface="Saira Cond SemiBold" pitchFamily="34" charset="-122"/>
                <a:cs typeface="Saira Cond SemiBold" pitchFamily="34" charset="-120"/>
              </a:rPr>
              <a:t>Google Play</a:t>
            </a:r>
            <a:endParaRPr lang="en-US" sz="1100" dirty="0"/>
          </a:p>
        </p:txBody>
      </p:sp>
      <p:sp>
        <p:nvSpPr>
          <p:cNvPr id="33" name="Text 29"/>
          <p:cNvSpPr txBox="1"/>
          <p:nvPr/>
        </p:nvSpPr>
        <p:spPr>
          <a:xfrm>
            <a:off x="2962656" y="5528363"/>
            <a:ext cx="1554480" cy="164592"/>
          </a:xfrm>
          <a:prstGeom prst="rect">
            <a:avLst/>
          </a:prstGeom>
          <a:noFill/>
          <a:ln/>
        </p:spPr>
        <p:txBody>
          <a:bodyPr wrap="square" lIns="0" tIns="0" rIns="0" bIns="0" rtlCol="0" anchor="t"/>
          <a:lstStyle/>
          <a:p>
            <a:pPr marL="0" indent="0" algn="l">
              <a:buNone/>
            </a:pPr>
            <a:r>
              <a:rPr lang="en-US" sz="750" dirty="0">
                <a:solidFill>
                  <a:srgbClr val="9AA6B8"/>
                </a:solidFill>
                <a:latin typeface="Sometype Mono" pitchFamily="34" charset="0"/>
                <a:ea typeface="Sometype Mono" pitchFamily="34" charset="-122"/>
                <a:cs typeface="Sometype Mono" pitchFamily="34" charset="-120"/>
              </a:rPr>
              <a:t>Android</a:t>
            </a:r>
            <a:endParaRPr lang="en-US" sz="750" dirty="0"/>
          </a:p>
        </p:txBody>
      </p:sp>
      <p:sp>
        <p:nvSpPr>
          <p:cNvPr id="34" name="Shape 30"/>
          <p:cNvSpPr/>
          <p:nvPr/>
        </p:nvSpPr>
        <p:spPr>
          <a:xfrm>
            <a:off x="676656" y="5904182"/>
            <a:ext cx="4224528" cy="0"/>
          </a:xfrm>
          <a:prstGeom prst="line">
            <a:avLst/>
          </a:prstGeom>
          <a:noFill/>
          <a:ln w="11430">
            <a:solidFill>
              <a:srgbClr val="E2E7EF"/>
            </a:solidFill>
            <a:prstDash val="solid"/>
          </a:ln>
        </p:spPr>
        <p:txBody>
          <a:bodyPr/>
          <a:lstStyle/>
          <a:p>
            <a:endParaRPr lang="en-TR"/>
          </a:p>
        </p:txBody>
      </p:sp>
      <p:sp>
        <p:nvSpPr>
          <p:cNvPr id="35" name="Text 31"/>
          <p:cNvSpPr txBox="1"/>
          <p:nvPr/>
        </p:nvSpPr>
        <p:spPr>
          <a:xfrm>
            <a:off x="676656" y="6086330"/>
            <a:ext cx="2534717" cy="219456"/>
          </a:xfrm>
          <a:prstGeom prst="rect">
            <a:avLst/>
          </a:prstGeom>
          <a:noFill/>
          <a:ln/>
        </p:spPr>
        <p:txBody>
          <a:bodyPr wrap="square" lIns="0" tIns="0" rIns="0" bIns="0" rtlCol="0" anchor="t"/>
          <a:lstStyle/>
          <a:p>
            <a:pPr marL="0" indent="0" algn="l">
              <a:buNone/>
            </a:pPr>
            <a:r>
              <a:rPr lang="en-US" sz="850" dirty="0">
                <a:solidFill>
                  <a:srgbClr val="8C95A3"/>
                </a:solidFill>
                <a:latin typeface="Sometype Mono" pitchFamily="34" charset="0"/>
                <a:ea typeface="Sometype Mono" pitchFamily="34" charset="-122"/>
                <a:cs typeface="Sometype Mono" pitchFamily="34" charset="-120"/>
              </a:rPr>
              <a:t>github.com/fxerkan/my_network_scanner</a:t>
            </a:r>
            <a:endParaRPr lang="en-US" sz="850" dirty="0"/>
          </a:p>
        </p:txBody>
      </p:sp>
      <p:sp>
        <p:nvSpPr>
          <p:cNvPr id="36" name="Shape 32"/>
          <p:cNvSpPr/>
          <p:nvPr/>
        </p:nvSpPr>
        <p:spPr>
          <a:xfrm>
            <a:off x="6441171" y="958291"/>
            <a:ext cx="5400308" cy="5047488"/>
          </a:xfrm>
          <a:prstGeom prst="rect">
            <a:avLst/>
          </a:prstGeom>
          <a:solidFill>
            <a:srgbClr val="8894A8">
              <a:alpha val="28000"/>
            </a:srgbClr>
          </a:solidFill>
          <a:ln/>
        </p:spPr>
        <p:txBody>
          <a:bodyPr/>
          <a:lstStyle/>
          <a:p>
            <a:endParaRPr lang="en-TR"/>
          </a:p>
        </p:txBody>
      </p:sp>
      <p:pic>
        <p:nvPicPr>
          <p:cNvPr id="37" name="Image 2" descr="../products/mynes/img/hero.jpg"/>
          <p:cNvPicPr>
            <a:picLocks noChangeAspect="1"/>
          </p:cNvPicPr>
          <p:nvPr/>
        </p:nvPicPr>
        <p:blipFill>
          <a:blip r:embed="rId4"/>
          <a:stretch>
            <a:fillRect/>
          </a:stretch>
        </p:blipFill>
        <p:spPr>
          <a:xfrm>
            <a:off x="6395451" y="894283"/>
            <a:ext cx="5400308" cy="5047488"/>
          </a:xfrm>
          <a:prstGeom prst="rect">
            <a:avLst/>
          </a:prstGeom>
        </p:spPr>
      </p:pic>
      <p:sp>
        <p:nvSpPr>
          <p:cNvPr id="38" name="Shape 33"/>
          <p:cNvSpPr/>
          <p:nvPr/>
        </p:nvSpPr>
        <p:spPr>
          <a:xfrm>
            <a:off x="6395451" y="894283"/>
            <a:ext cx="5400308" cy="5047488"/>
          </a:xfrm>
          <a:prstGeom prst="rect">
            <a:avLst/>
          </a:prstGeom>
          <a:ln w="12700">
            <a:solidFill>
              <a:srgbClr val="E2E7EF"/>
            </a:solidFill>
            <a:prstDash val="solid"/>
          </a:ln>
        </p:spPr>
        <p:txBody>
          <a:bodyPr/>
          <a:lstStyle/>
          <a:p>
            <a:endParaRPr lang="en-TR"/>
          </a:p>
        </p:txBody>
      </p:sp>
      <p:sp>
        <p:nvSpPr>
          <p:cNvPr id="39" name="Text 34"/>
          <p:cNvSpPr txBox="1"/>
          <p:nvPr/>
        </p:nvSpPr>
        <p:spPr>
          <a:xfrm>
            <a:off x="6395452" y="6123919"/>
            <a:ext cx="5446028" cy="201168"/>
          </a:xfrm>
          <a:prstGeom prst="rect">
            <a:avLst/>
          </a:prstGeom>
          <a:noFill/>
          <a:ln/>
        </p:spPr>
        <p:txBody>
          <a:bodyPr wrap="square" lIns="0" tIns="0" rIns="0" bIns="0" rtlCol="0" anchor="t"/>
          <a:lstStyle/>
          <a:p>
            <a:pPr marL="0" indent="0" algn="ctr">
              <a:buNone/>
            </a:pPr>
            <a:r>
              <a:rPr lang="en-US" sz="850" dirty="0">
                <a:solidFill>
                  <a:srgbClr val="8C95A3"/>
                </a:solidFill>
                <a:latin typeface="Sometype Mono" pitchFamily="34" charset="0"/>
                <a:ea typeface="Sometype Mono" pitchFamily="34" charset="-122"/>
                <a:cs typeface="Sometype Mono" pitchFamily="34" charset="-120"/>
              </a:rPr>
              <a:t>Devices — every card is one real thing on your LAN</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373558" y="146304"/>
            <a:ext cx="748913" cy="310896"/>
          </a:xfrm>
          <a:prstGeom prst="roundRect">
            <a:avLst>
              <a:gd name="adj" fmla="val 20588"/>
            </a:avLst>
          </a:prstGeom>
          <a:solidFill>
            <a:srgbClr val="EDF2FF"/>
          </a:solidFill>
          <a:ln/>
        </p:spPr>
        <p:txBody>
          <a:bodyPr/>
          <a:lstStyle/>
          <a:p>
            <a:endParaRPr lang="en-TR"/>
          </a:p>
        </p:txBody>
      </p:sp>
      <p:sp>
        <p:nvSpPr>
          <p:cNvPr id="8" name="Text 5"/>
          <p:cNvSpPr txBox="1"/>
          <p:nvPr/>
        </p:nvSpPr>
        <p:spPr>
          <a:xfrm>
            <a:off x="3510718" y="211135"/>
            <a:ext cx="748913" cy="219456"/>
          </a:xfrm>
          <a:prstGeom prst="rect">
            <a:avLst/>
          </a:prstGeom>
          <a:noFill/>
          <a:ln/>
        </p:spPr>
        <p:txBody>
          <a:bodyPr wrap="square" lIns="0" tIns="0" rIns="0" bIns="0" rtlCol="0" anchor="t"/>
          <a:lstStyle/>
          <a:p>
            <a:pPr marL="0" indent="0" algn="l">
              <a:buNone/>
            </a:pPr>
            <a:r>
              <a:rPr lang="en-US" sz="1050" dirty="0">
                <a:solidFill>
                  <a:srgbClr val="3D6FF5"/>
                </a:solidFill>
                <a:latin typeface="Saira Medium" pitchFamily="34" charset="0"/>
                <a:ea typeface="Saira Medium" pitchFamily="34" charset="-122"/>
                <a:cs typeface="Saira Medium" pitchFamily="34" charset="-120"/>
              </a:rPr>
              <a:t>Devices</a:t>
            </a:r>
            <a:endParaRPr lang="en-US" sz="1050" dirty="0"/>
          </a:p>
        </p:txBody>
      </p:sp>
      <p:sp>
        <p:nvSpPr>
          <p:cNvPr id="9" name="Text 6"/>
          <p:cNvSpPr txBox="1"/>
          <p:nvPr/>
        </p:nvSpPr>
        <p:spPr>
          <a:xfrm>
            <a:off x="4369359" y="211135"/>
            <a:ext cx="881329" cy="219456"/>
          </a:xfrm>
          <a:prstGeom prst="rect">
            <a:avLst/>
          </a:prstGeom>
          <a:noFill/>
          <a:ln/>
        </p:spPr>
        <p:txBody>
          <a:bodyPr wrap="square" lIns="0" tIns="0" rIns="0" bIns="0" rtlCol="0" anchor="t"/>
          <a:lstStyle/>
          <a:p>
            <a:pPr marL="0" indent="0" algn="l">
              <a:buNone/>
            </a:pPr>
            <a:r>
              <a:rPr lang="en-US" sz="1050" dirty="0">
                <a:solidFill>
                  <a:srgbClr val="606A79"/>
                </a:solidFill>
                <a:latin typeface="Saira Medium" pitchFamily="34" charset="0"/>
                <a:ea typeface="Saira Medium" pitchFamily="34" charset="-122"/>
                <a:cs typeface="Saira Medium" pitchFamily="34" charset="-120"/>
              </a:rPr>
              <a:t>Discovery</a:t>
            </a:r>
            <a:endParaRPr lang="en-US" sz="1050" dirty="0"/>
          </a:p>
        </p:txBody>
      </p:sp>
      <p:sp>
        <p:nvSpPr>
          <p:cNvPr id="10" name="Text 7"/>
          <p:cNvSpPr txBox="1"/>
          <p:nvPr/>
        </p:nvSpPr>
        <p:spPr>
          <a:xfrm>
            <a:off x="5360416" y="211135"/>
            <a:ext cx="642099" cy="219456"/>
          </a:xfrm>
          <a:prstGeom prst="rect">
            <a:avLst/>
          </a:prstGeom>
          <a:noFill/>
          <a:ln/>
        </p:spPr>
        <p:txBody>
          <a:bodyPr wrap="square" lIns="0" tIns="0" rIns="0" bIns="0" rtlCol="0" anchor="t"/>
          <a:lstStyle/>
          <a:p>
            <a:pPr marL="0" indent="0" algn="l">
              <a:buNone/>
            </a:pPr>
            <a:r>
              <a:rPr lang="en-US" sz="1050" dirty="0">
                <a:solidFill>
                  <a:srgbClr val="606A79"/>
                </a:solidFill>
                <a:latin typeface="Saira Medium" pitchFamily="34" charset="0"/>
                <a:ea typeface="Saira Medium" pitchFamily="34" charset="-122"/>
                <a:cs typeface="Saira Medium" pitchFamily="34" charset="-120"/>
              </a:rPr>
              <a:t>Alerts</a:t>
            </a:r>
            <a:endParaRPr lang="en-US" sz="1050" dirty="0"/>
          </a:p>
        </p:txBody>
      </p:sp>
      <p:sp>
        <p:nvSpPr>
          <p:cNvPr id="11" name="Text 8"/>
          <p:cNvSpPr txBox="1"/>
          <p:nvPr/>
        </p:nvSpPr>
        <p:spPr>
          <a:xfrm>
            <a:off x="6112243" y="211135"/>
            <a:ext cx="788118" cy="219456"/>
          </a:xfrm>
          <a:prstGeom prst="rect">
            <a:avLst/>
          </a:prstGeom>
          <a:noFill/>
          <a:ln/>
        </p:spPr>
        <p:txBody>
          <a:bodyPr wrap="square" lIns="0" tIns="0" rIns="0" bIns="0" rtlCol="0" anchor="t"/>
          <a:lstStyle/>
          <a:p>
            <a:pPr marL="0" indent="0" algn="l">
              <a:buNone/>
            </a:pPr>
            <a:r>
              <a:rPr lang="en-US" sz="1050" dirty="0">
                <a:solidFill>
                  <a:srgbClr val="606A79"/>
                </a:solidFill>
                <a:latin typeface="Saira Medium" pitchFamily="34" charset="0"/>
                <a:ea typeface="Saira Medium" pitchFamily="34" charset="-122"/>
                <a:cs typeface="Saira Medium" pitchFamily="34" charset="-120"/>
              </a:rPr>
              <a:t>Security</a:t>
            </a:r>
            <a:endParaRPr lang="en-US" sz="1050" dirty="0"/>
          </a:p>
        </p:txBody>
      </p:sp>
      <p:sp>
        <p:nvSpPr>
          <p:cNvPr id="12" name="Text 9"/>
          <p:cNvSpPr txBox="1"/>
          <p:nvPr/>
        </p:nvSpPr>
        <p:spPr>
          <a:xfrm>
            <a:off x="7010089" y="211135"/>
            <a:ext cx="729710" cy="219456"/>
          </a:xfrm>
          <a:prstGeom prst="rect">
            <a:avLst/>
          </a:prstGeom>
          <a:noFill/>
          <a:ln/>
        </p:spPr>
        <p:txBody>
          <a:bodyPr wrap="square" lIns="0" tIns="0" rIns="0" bIns="0" rtlCol="0" anchor="t"/>
          <a:lstStyle/>
          <a:p>
            <a:pPr marL="0" indent="0" algn="l">
              <a:buNone/>
            </a:pPr>
            <a:r>
              <a:rPr lang="en-US" sz="1050" dirty="0">
                <a:solidFill>
                  <a:srgbClr val="606A79"/>
                </a:solidFill>
                <a:latin typeface="Saira Medium" pitchFamily="34" charset="0"/>
                <a:ea typeface="Saira Medium" pitchFamily="34" charset="-122"/>
                <a:cs typeface="Saira Medium" pitchFamily="34" charset="-120"/>
              </a:rPr>
              <a:t>History</a:t>
            </a:r>
            <a:endParaRPr lang="en-US" sz="1050" dirty="0"/>
          </a:p>
        </p:txBody>
      </p:sp>
      <p:sp>
        <p:nvSpPr>
          <p:cNvPr id="13" name="Text 10"/>
          <p:cNvSpPr txBox="1"/>
          <p:nvPr/>
        </p:nvSpPr>
        <p:spPr>
          <a:xfrm>
            <a:off x="7849527" y="211135"/>
            <a:ext cx="791051" cy="219456"/>
          </a:xfrm>
          <a:prstGeom prst="rect">
            <a:avLst/>
          </a:prstGeom>
          <a:noFill/>
          <a:ln/>
        </p:spPr>
        <p:txBody>
          <a:bodyPr wrap="square" lIns="0" tIns="0" rIns="0" bIns="0" rtlCol="0" anchor="t"/>
          <a:lstStyle/>
          <a:p>
            <a:pPr marL="0" indent="0" algn="l">
              <a:buNone/>
            </a:pPr>
            <a:r>
              <a:rPr lang="en-US" sz="1050" dirty="0">
                <a:solidFill>
                  <a:srgbClr val="606A79"/>
                </a:solidFill>
                <a:latin typeface="Saira Medium" pitchFamily="34" charset="0"/>
                <a:ea typeface="Saira Medium" pitchFamily="34" charset="-122"/>
                <a:cs typeface="Saira Medium" pitchFamily="34" charset="-120"/>
              </a:rPr>
              <a:t>Settings</a:t>
            </a:r>
            <a:endParaRPr lang="en-US" sz="1050" dirty="0"/>
          </a:p>
        </p:txBody>
      </p:sp>
      <p:sp>
        <p:nvSpPr>
          <p:cNvPr id="14" name="Shape 11"/>
          <p:cNvSpPr/>
          <p:nvPr/>
        </p:nvSpPr>
        <p:spPr>
          <a:xfrm>
            <a:off x="11313871" y="269748"/>
            <a:ext cx="96012" cy="96012"/>
          </a:xfrm>
          <a:prstGeom prst="ellipse">
            <a:avLst/>
          </a:prstGeom>
          <a:solidFill>
            <a:srgbClr val="17A05C"/>
          </a:solidFill>
          <a:ln/>
        </p:spPr>
        <p:txBody>
          <a:bodyPr/>
          <a:lstStyle/>
          <a:p>
            <a:endParaRPr lang="en-TR"/>
          </a:p>
        </p:txBody>
      </p:sp>
      <p:sp>
        <p:nvSpPr>
          <p:cNvPr id="15" name="Text 12"/>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6" name="Text 13"/>
          <p:cNvSpPr txBox="1"/>
          <p:nvPr/>
        </p:nvSpPr>
        <p:spPr>
          <a:xfrm>
            <a:off x="676656" y="1018642"/>
            <a:ext cx="5138928" cy="1143000"/>
          </a:xfrm>
          <a:prstGeom prst="rect">
            <a:avLst/>
          </a:prstGeom>
          <a:noFill/>
          <a:ln/>
        </p:spPr>
        <p:txBody>
          <a:bodyPr wrap="square" lIns="0" tIns="0" rIns="0" bIns="0" rtlCol="0" anchor="t"/>
          <a:lstStyle/>
          <a:p>
            <a:pPr marL="0" indent="0" algn="l">
              <a:lnSpc>
                <a:spcPts val="3240"/>
              </a:lnSpc>
              <a:buNone/>
            </a:pPr>
            <a:r>
              <a:rPr lang="en-US" sz="3000" b="1" kern="0" spc="-60" dirty="0">
                <a:solidFill>
                  <a:srgbClr val="141A24"/>
                </a:solidFill>
                <a:latin typeface="Saira Cond" pitchFamily="34" charset="0"/>
                <a:ea typeface="Saira Cond" pitchFamily="34" charset="-122"/>
                <a:cs typeface="Saira Cond" pitchFamily="34" charset="-120"/>
              </a:rPr>
              <a:t>And it draws the shape of the network, not just a list.</a:t>
            </a:r>
            <a:endParaRPr lang="en-US" sz="3000" dirty="0"/>
          </a:p>
        </p:txBody>
      </p:sp>
      <p:sp>
        <p:nvSpPr>
          <p:cNvPr id="17" name="Text 14"/>
          <p:cNvSpPr txBox="1"/>
          <p:nvPr/>
        </p:nvSpPr>
        <p:spPr>
          <a:xfrm>
            <a:off x="676656" y="2127138"/>
            <a:ext cx="5029200" cy="864108"/>
          </a:xfrm>
          <a:prstGeom prst="rect">
            <a:avLst/>
          </a:prstGeom>
          <a:noFill/>
          <a:ln/>
        </p:spPr>
        <p:txBody>
          <a:bodyPr wrap="square" lIns="0" tIns="0" rIns="0" bIns="0" rtlCol="0" anchor="t"/>
          <a:lstStyle/>
          <a:p>
            <a:pPr marL="0" indent="0" algn="l">
              <a:lnSpc>
                <a:spcPts val="1740"/>
              </a:lnSpc>
              <a:buNone/>
            </a:pPr>
            <a:r>
              <a:rPr lang="en-US" sz="1200" dirty="0">
                <a:solidFill>
                  <a:srgbClr val="606A79"/>
                </a:solidFill>
                <a:latin typeface="Saira" pitchFamily="34" charset="0"/>
                <a:ea typeface="Saira" pitchFamily="34" charset="-122"/>
                <a:cs typeface="Saira" pitchFamily="34" charset="-120"/>
              </a:rPr>
              <a:t>The graph view traces uplinks, so a bridged switch or an access point that is invisible on the wire still shows up in the right place. Click a device and the whole path lights up.</a:t>
            </a:r>
            <a:endParaRPr lang="en-US" sz="1200" dirty="0"/>
          </a:p>
        </p:txBody>
      </p:sp>
      <p:sp>
        <p:nvSpPr>
          <p:cNvPr id="18" name="Shape 15"/>
          <p:cNvSpPr/>
          <p:nvPr/>
        </p:nvSpPr>
        <p:spPr>
          <a:xfrm>
            <a:off x="694944" y="3204667"/>
            <a:ext cx="146304" cy="146304"/>
          </a:xfrm>
          <a:prstGeom prst="ellipse">
            <a:avLst/>
          </a:prstGeom>
          <a:solidFill>
            <a:srgbClr val="3D6FF5"/>
          </a:solidFill>
          <a:ln/>
        </p:spPr>
        <p:txBody>
          <a:bodyPr/>
          <a:lstStyle/>
          <a:p>
            <a:endParaRPr lang="en-TR"/>
          </a:p>
        </p:txBody>
      </p:sp>
      <p:sp>
        <p:nvSpPr>
          <p:cNvPr id="19" name="Shape 16"/>
          <p:cNvSpPr/>
          <p:nvPr/>
        </p:nvSpPr>
        <p:spPr>
          <a:xfrm>
            <a:off x="768096" y="3350971"/>
            <a:ext cx="0" cy="274320"/>
          </a:xfrm>
          <a:prstGeom prst="line">
            <a:avLst/>
          </a:prstGeom>
          <a:noFill/>
          <a:ln w="17780">
            <a:solidFill>
              <a:srgbClr val="E2E7EF"/>
            </a:solidFill>
            <a:prstDash val="solid"/>
          </a:ln>
        </p:spPr>
        <p:txBody>
          <a:bodyPr/>
          <a:lstStyle/>
          <a:p>
            <a:endParaRPr lang="en-TR"/>
          </a:p>
        </p:txBody>
      </p:sp>
      <p:sp>
        <p:nvSpPr>
          <p:cNvPr id="20" name="Text 17"/>
          <p:cNvSpPr txBox="1"/>
          <p:nvPr/>
        </p:nvSpPr>
        <p:spPr>
          <a:xfrm>
            <a:off x="987552" y="3123926"/>
            <a:ext cx="2651760" cy="237744"/>
          </a:xfrm>
          <a:prstGeom prst="rect">
            <a:avLst/>
          </a:prstGeom>
          <a:noFill/>
          <a:ln/>
        </p:spPr>
        <p:txBody>
          <a:bodyPr wrap="square" lIns="0" tIns="0" rIns="0" bIns="0" rtlCol="0" anchor="t"/>
          <a:lstStyle/>
          <a:p>
            <a:pPr marL="0" indent="0" algn="l">
              <a:buNone/>
            </a:pPr>
            <a:r>
              <a:rPr lang="en-US" sz="1150" dirty="0">
                <a:solidFill>
                  <a:srgbClr val="141A24"/>
                </a:solidFill>
                <a:latin typeface="Saira Medium" pitchFamily="34" charset="0"/>
                <a:ea typeface="Saira Medium" pitchFamily="34" charset="-122"/>
                <a:cs typeface="Saira Medium" pitchFamily="34" charset="-120"/>
              </a:rPr>
              <a:t>ARP + TCP sweep</a:t>
            </a:r>
            <a:endParaRPr lang="en-US" sz="1150" dirty="0"/>
          </a:p>
        </p:txBody>
      </p:sp>
      <p:sp>
        <p:nvSpPr>
          <p:cNvPr id="21" name="Text 18"/>
          <p:cNvSpPr txBox="1"/>
          <p:nvPr/>
        </p:nvSpPr>
        <p:spPr>
          <a:xfrm>
            <a:off x="3602736" y="3136910"/>
            <a:ext cx="2103120" cy="219456"/>
          </a:xfrm>
          <a:prstGeom prst="rect">
            <a:avLst/>
          </a:prstGeom>
          <a:noFill/>
          <a:ln/>
        </p:spPr>
        <p:txBody>
          <a:bodyPr wrap="square" lIns="0" tIns="0" rIns="0" bIns="0" rtlCol="0" anchor="t"/>
          <a:lstStyle/>
          <a:p>
            <a:pPr marL="0" indent="0" algn="l">
              <a:buNone/>
            </a:pPr>
            <a:r>
              <a:rPr lang="en-US" sz="1050" dirty="0">
                <a:solidFill>
                  <a:srgbClr val="606A79"/>
                </a:solidFill>
                <a:latin typeface="Saira" pitchFamily="34" charset="0"/>
                <a:ea typeface="Saira" pitchFamily="34" charset="-122"/>
                <a:cs typeface="Saira" pitchFamily="34" charset="-120"/>
              </a:rPr>
              <a:t>who answers</a:t>
            </a:r>
            <a:endParaRPr lang="en-US" sz="1050" dirty="0"/>
          </a:p>
        </p:txBody>
      </p:sp>
      <p:sp>
        <p:nvSpPr>
          <p:cNvPr id="22" name="Shape 19"/>
          <p:cNvSpPr/>
          <p:nvPr/>
        </p:nvSpPr>
        <p:spPr>
          <a:xfrm>
            <a:off x="694944" y="3607003"/>
            <a:ext cx="146304" cy="146304"/>
          </a:xfrm>
          <a:prstGeom prst="ellipse">
            <a:avLst/>
          </a:prstGeom>
          <a:solidFill>
            <a:srgbClr val="3D6FF5"/>
          </a:solidFill>
          <a:ln/>
        </p:spPr>
        <p:txBody>
          <a:bodyPr/>
          <a:lstStyle/>
          <a:p>
            <a:endParaRPr lang="en-TR"/>
          </a:p>
        </p:txBody>
      </p:sp>
      <p:sp>
        <p:nvSpPr>
          <p:cNvPr id="23" name="Shape 20"/>
          <p:cNvSpPr/>
          <p:nvPr/>
        </p:nvSpPr>
        <p:spPr>
          <a:xfrm>
            <a:off x="768096" y="3753307"/>
            <a:ext cx="0" cy="274320"/>
          </a:xfrm>
          <a:prstGeom prst="line">
            <a:avLst/>
          </a:prstGeom>
          <a:noFill/>
          <a:ln w="17780">
            <a:solidFill>
              <a:srgbClr val="E2E7EF"/>
            </a:solidFill>
            <a:prstDash val="solid"/>
          </a:ln>
        </p:spPr>
        <p:txBody>
          <a:bodyPr/>
          <a:lstStyle/>
          <a:p>
            <a:endParaRPr lang="en-TR"/>
          </a:p>
        </p:txBody>
      </p:sp>
      <p:sp>
        <p:nvSpPr>
          <p:cNvPr id="24" name="Text 21"/>
          <p:cNvSpPr txBox="1"/>
          <p:nvPr/>
        </p:nvSpPr>
        <p:spPr>
          <a:xfrm>
            <a:off x="987552" y="3526262"/>
            <a:ext cx="2651760" cy="237744"/>
          </a:xfrm>
          <a:prstGeom prst="rect">
            <a:avLst/>
          </a:prstGeom>
          <a:noFill/>
          <a:ln/>
        </p:spPr>
        <p:txBody>
          <a:bodyPr wrap="square" lIns="0" tIns="0" rIns="0" bIns="0" rtlCol="0" anchor="t"/>
          <a:lstStyle/>
          <a:p>
            <a:pPr marL="0" indent="0" algn="l">
              <a:buNone/>
            </a:pPr>
            <a:r>
              <a:rPr lang="en-US" sz="1150" dirty="0">
                <a:solidFill>
                  <a:srgbClr val="141A24"/>
                </a:solidFill>
                <a:latin typeface="Saira Medium" pitchFamily="34" charset="0"/>
                <a:ea typeface="Saira Medium" pitchFamily="34" charset="-122"/>
                <a:cs typeface="Saira Medium" pitchFamily="34" charset="-120"/>
              </a:rPr>
              <a:t>IEEE OUI table</a:t>
            </a:r>
            <a:endParaRPr lang="en-US" sz="1150" dirty="0"/>
          </a:p>
        </p:txBody>
      </p:sp>
      <p:sp>
        <p:nvSpPr>
          <p:cNvPr id="25" name="Text 22"/>
          <p:cNvSpPr txBox="1"/>
          <p:nvPr/>
        </p:nvSpPr>
        <p:spPr>
          <a:xfrm>
            <a:off x="3602736" y="3539246"/>
            <a:ext cx="2103120" cy="219456"/>
          </a:xfrm>
          <a:prstGeom prst="rect">
            <a:avLst/>
          </a:prstGeom>
          <a:noFill/>
          <a:ln/>
        </p:spPr>
        <p:txBody>
          <a:bodyPr wrap="square" lIns="0" tIns="0" rIns="0" bIns="0" rtlCol="0" anchor="t"/>
          <a:lstStyle/>
          <a:p>
            <a:pPr marL="0" indent="0" algn="l">
              <a:buNone/>
            </a:pPr>
            <a:r>
              <a:rPr lang="en-US" sz="1050" dirty="0">
                <a:solidFill>
                  <a:srgbClr val="606A79"/>
                </a:solidFill>
                <a:latin typeface="Saira" pitchFamily="34" charset="0"/>
                <a:ea typeface="Saira" pitchFamily="34" charset="-122"/>
                <a:cs typeface="Saira" pitchFamily="34" charset="-120"/>
              </a:rPr>
              <a:t>which vendor, offline</a:t>
            </a:r>
            <a:endParaRPr lang="en-US" sz="1050" dirty="0"/>
          </a:p>
        </p:txBody>
      </p:sp>
      <p:sp>
        <p:nvSpPr>
          <p:cNvPr id="26" name="Shape 23"/>
          <p:cNvSpPr/>
          <p:nvPr/>
        </p:nvSpPr>
        <p:spPr>
          <a:xfrm>
            <a:off x="694944" y="4009339"/>
            <a:ext cx="146304" cy="146304"/>
          </a:xfrm>
          <a:prstGeom prst="ellipse">
            <a:avLst/>
          </a:prstGeom>
          <a:solidFill>
            <a:srgbClr val="3D6FF5"/>
          </a:solidFill>
          <a:ln/>
        </p:spPr>
        <p:txBody>
          <a:bodyPr/>
          <a:lstStyle/>
          <a:p>
            <a:endParaRPr lang="en-TR"/>
          </a:p>
        </p:txBody>
      </p:sp>
      <p:sp>
        <p:nvSpPr>
          <p:cNvPr id="27" name="Shape 24"/>
          <p:cNvSpPr/>
          <p:nvPr/>
        </p:nvSpPr>
        <p:spPr>
          <a:xfrm>
            <a:off x="768096" y="4155643"/>
            <a:ext cx="0" cy="274320"/>
          </a:xfrm>
          <a:prstGeom prst="line">
            <a:avLst/>
          </a:prstGeom>
          <a:noFill/>
          <a:ln w="17780">
            <a:solidFill>
              <a:srgbClr val="E2E7EF"/>
            </a:solidFill>
            <a:prstDash val="solid"/>
          </a:ln>
        </p:spPr>
        <p:txBody>
          <a:bodyPr/>
          <a:lstStyle/>
          <a:p>
            <a:endParaRPr lang="en-TR"/>
          </a:p>
        </p:txBody>
      </p:sp>
      <p:sp>
        <p:nvSpPr>
          <p:cNvPr id="28" name="Text 25"/>
          <p:cNvSpPr txBox="1"/>
          <p:nvPr/>
        </p:nvSpPr>
        <p:spPr>
          <a:xfrm>
            <a:off x="987552" y="3928598"/>
            <a:ext cx="2651760" cy="237744"/>
          </a:xfrm>
          <a:prstGeom prst="rect">
            <a:avLst/>
          </a:prstGeom>
          <a:noFill/>
          <a:ln/>
        </p:spPr>
        <p:txBody>
          <a:bodyPr wrap="square" lIns="0" tIns="0" rIns="0" bIns="0" rtlCol="0" anchor="t"/>
          <a:lstStyle/>
          <a:p>
            <a:pPr marL="0" indent="0" algn="l">
              <a:buNone/>
            </a:pPr>
            <a:r>
              <a:rPr lang="en-US" sz="1150" dirty="0">
                <a:solidFill>
                  <a:srgbClr val="141A24"/>
                </a:solidFill>
                <a:latin typeface="Saira Medium" pitchFamily="34" charset="0"/>
                <a:ea typeface="Saira Medium" pitchFamily="34" charset="-122"/>
                <a:cs typeface="Saira Medium" pitchFamily="34" charset="-120"/>
              </a:rPr>
              <a:t>mDNS · SSDP · NetBIOS</a:t>
            </a:r>
            <a:endParaRPr lang="en-US" sz="1150" dirty="0"/>
          </a:p>
        </p:txBody>
      </p:sp>
      <p:sp>
        <p:nvSpPr>
          <p:cNvPr id="29" name="Text 26"/>
          <p:cNvSpPr txBox="1"/>
          <p:nvPr/>
        </p:nvSpPr>
        <p:spPr>
          <a:xfrm>
            <a:off x="3602736" y="3941582"/>
            <a:ext cx="2103120" cy="219456"/>
          </a:xfrm>
          <a:prstGeom prst="rect">
            <a:avLst/>
          </a:prstGeom>
          <a:noFill/>
          <a:ln/>
        </p:spPr>
        <p:txBody>
          <a:bodyPr wrap="square" lIns="0" tIns="0" rIns="0" bIns="0" rtlCol="0" anchor="t"/>
          <a:lstStyle/>
          <a:p>
            <a:pPr marL="0" indent="0" algn="l">
              <a:buNone/>
            </a:pPr>
            <a:r>
              <a:rPr lang="en-US" sz="1050" dirty="0">
                <a:solidFill>
                  <a:srgbClr val="606A79"/>
                </a:solidFill>
                <a:latin typeface="Saira" pitchFamily="34" charset="0"/>
                <a:ea typeface="Saira" pitchFamily="34" charset="-122"/>
                <a:cs typeface="Saira" pitchFamily="34" charset="-120"/>
              </a:rPr>
              <a:t>what it calls itself</a:t>
            </a:r>
            <a:endParaRPr lang="en-US" sz="1050" dirty="0"/>
          </a:p>
        </p:txBody>
      </p:sp>
      <p:sp>
        <p:nvSpPr>
          <p:cNvPr id="30" name="Shape 27"/>
          <p:cNvSpPr/>
          <p:nvPr/>
        </p:nvSpPr>
        <p:spPr>
          <a:xfrm>
            <a:off x="694944" y="4411675"/>
            <a:ext cx="146304" cy="146304"/>
          </a:xfrm>
          <a:prstGeom prst="ellipse">
            <a:avLst/>
          </a:prstGeom>
          <a:solidFill>
            <a:srgbClr val="3D6FF5"/>
          </a:solidFill>
          <a:ln/>
        </p:spPr>
        <p:txBody>
          <a:bodyPr/>
          <a:lstStyle/>
          <a:p>
            <a:endParaRPr lang="en-TR"/>
          </a:p>
        </p:txBody>
      </p:sp>
      <p:sp>
        <p:nvSpPr>
          <p:cNvPr id="31" name="Shape 28"/>
          <p:cNvSpPr/>
          <p:nvPr/>
        </p:nvSpPr>
        <p:spPr>
          <a:xfrm>
            <a:off x="768096" y="4557979"/>
            <a:ext cx="0" cy="274320"/>
          </a:xfrm>
          <a:prstGeom prst="line">
            <a:avLst/>
          </a:prstGeom>
          <a:noFill/>
          <a:ln w="17780">
            <a:solidFill>
              <a:srgbClr val="E2E7EF"/>
            </a:solidFill>
            <a:prstDash val="solid"/>
          </a:ln>
        </p:spPr>
        <p:txBody>
          <a:bodyPr/>
          <a:lstStyle/>
          <a:p>
            <a:endParaRPr lang="en-TR"/>
          </a:p>
        </p:txBody>
      </p:sp>
      <p:sp>
        <p:nvSpPr>
          <p:cNvPr id="32" name="Text 29"/>
          <p:cNvSpPr txBox="1"/>
          <p:nvPr/>
        </p:nvSpPr>
        <p:spPr>
          <a:xfrm>
            <a:off x="987552" y="4330934"/>
            <a:ext cx="2651760" cy="237744"/>
          </a:xfrm>
          <a:prstGeom prst="rect">
            <a:avLst/>
          </a:prstGeom>
          <a:noFill/>
          <a:ln/>
        </p:spPr>
        <p:txBody>
          <a:bodyPr wrap="square" lIns="0" tIns="0" rIns="0" bIns="0" rtlCol="0" anchor="t"/>
          <a:lstStyle/>
          <a:p>
            <a:pPr marL="0" indent="0" algn="l">
              <a:buNone/>
            </a:pPr>
            <a:r>
              <a:rPr lang="en-US" sz="1150" dirty="0">
                <a:solidFill>
                  <a:srgbClr val="141A24"/>
                </a:solidFill>
                <a:latin typeface="Saira Medium" pitchFamily="34" charset="0"/>
                <a:ea typeface="Saira Medium" pitchFamily="34" charset="-122"/>
                <a:cs typeface="Saira Medium" pitchFamily="34" charset="-120"/>
              </a:rPr>
              <a:t>Ports + banners</a:t>
            </a:r>
            <a:endParaRPr lang="en-US" sz="1150" dirty="0"/>
          </a:p>
        </p:txBody>
      </p:sp>
      <p:sp>
        <p:nvSpPr>
          <p:cNvPr id="33" name="Text 30"/>
          <p:cNvSpPr txBox="1"/>
          <p:nvPr/>
        </p:nvSpPr>
        <p:spPr>
          <a:xfrm>
            <a:off x="3602736" y="4343918"/>
            <a:ext cx="2103120" cy="219456"/>
          </a:xfrm>
          <a:prstGeom prst="rect">
            <a:avLst/>
          </a:prstGeom>
          <a:noFill/>
          <a:ln/>
        </p:spPr>
        <p:txBody>
          <a:bodyPr wrap="square" lIns="0" tIns="0" rIns="0" bIns="0" rtlCol="0" anchor="t"/>
          <a:lstStyle/>
          <a:p>
            <a:pPr marL="0" indent="0" algn="l">
              <a:buNone/>
            </a:pPr>
            <a:r>
              <a:rPr lang="en-US" sz="1050" dirty="0">
                <a:solidFill>
                  <a:srgbClr val="606A79"/>
                </a:solidFill>
                <a:latin typeface="Saira" pitchFamily="34" charset="0"/>
                <a:ea typeface="Saira" pitchFamily="34" charset="-122"/>
                <a:cs typeface="Saira" pitchFamily="34" charset="-120"/>
              </a:rPr>
              <a:t>what it actually is</a:t>
            </a:r>
            <a:endParaRPr lang="en-US" sz="1050" dirty="0"/>
          </a:p>
        </p:txBody>
      </p:sp>
      <p:sp>
        <p:nvSpPr>
          <p:cNvPr id="34" name="Shape 31"/>
          <p:cNvSpPr/>
          <p:nvPr/>
        </p:nvSpPr>
        <p:spPr>
          <a:xfrm>
            <a:off x="694944" y="4814011"/>
            <a:ext cx="146304" cy="146304"/>
          </a:xfrm>
          <a:prstGeom prst="ellipse">
            <a:avLst/>
          </a:prstGeom>
          <a:solidFill>
            <a:srgbClr val="17A05C"/>
          </a:solidFill>
          <a:ln/>
        </p:spPr>
        <p:txBody>
          <a:bodyPr/>
          <a:lstStyle/>
          <a:p>
            <a:endParaRPr lang="en-TR"/>
          </a:p>
        </p:txBody>
      </p:sp>
      <p:sp>
        <p:nvSpPr>
          <p:cNvPr id="35" name="Text 32"/>
          <p:cNvSpPr txBox="1"/>
          <p:nvPr/>
        </p:nvSpPr>
        <p:spPr>
          <a:xfrm>
            <a:off x="987552" y="4733270"/>
            <a:ext cx="2651760" cy="237744"/>
          </a:xfrm>
          <a:prstGeom prst="rect">
            <a:avLst/>
          </a:prstGeom>
          <a:noFill/>
          <a:ln/>
        </p:spPr>
        <p:txBody>
          <a:bodyPr wrap="square" lIns="0" tIns="0" rIns="0" bIns="0" rtlCol="0" anchor="t"/>
          <a:lstStyle/>
          <a:p>
            <a:pPr marL="0" indent="0" algn="l">
              <a:buNone/>
            </a:pPr>
            <a:r>
              <a:rPr lang="en-US" sz="1150" dirty="0">
                <a:solidFill>
                  <a:srgbClr val="141A24"/>
                </a:solidFill>
                <a:latin typeface="Saira Medium" pitchFamily="34" charset="0"/>
                <a:ea typeface="Saira Medium" pitchFamily="34" charset="-122"/>
                <a:cs typeface="Saira Medium" pitchFamily="34" charset="-120"/>
              </a:rPr>
              <a:t>Home Assistant over MQTT</a:t>
            </a:r>
            <a:endParaRPr lang="en-US" sz="1150" dirty="0"/>
          </a:p>
        </p:txBody>
      </p:sp>
      <p:sp>
        <p:nvSpPr>
          <p:cNvPr id="36" name="Text 33"/>
          <p:cNvSpPr txBox="1"/>
          <p:nvPr/>
        </p:nvSpPr>
        <p:spPr>
          <a:xfrm>
            <a:off x="3602736" y="4746254"/>
            <a:ext cx="2103120" cy="219456"/>
          </a:xfrm>
          <a:prstGeom prst="rect">
            <a:avLst/>
          </a:prstGeom>
          <a:noFill/>
          <a:ln/>
        </p:spPr>
        <p:txBody>
          <a:bodyPr wrap="square" lIns="0" tIns="0" rIns="0" bIns="0" rtlCol="0" anchor="t"/>
          <a:lstStyle/>
          <a:p>
            <a:pPr marL="0" indent="0" algn="l">
              <a:buNone/>
            </a:pPr>
            <a:r>
              <a:rPr lang="en-US" sz="1050" dirty="0">
                <a:solidFill>
                  <a:srgbClr val="606A79"/>
                </a:solidFill>
                <a:latin typeface="Saira" pitchFamily="34" charset="0"/>
                <a:ea typeface="Saira" pitchFamily="34" charset="-122"/>
                <a:cs typeface="Saira" pitchFamily="34" charset="-120"/>
              </a:rPr>
              <a:t>where it ends up</a:t>
            </a:r>
            <a:endParaRPr lang="en-US" sz="1050" dirty="0"/>
          </a:p>
        </p:txBody>
      </p:sp>
      <p:grpSp>
        <p:nvGrpSpPr>
          <p:cNvPr id="43" name="Group 42">
            <a:extLst>
              <a:ext uri="{FF2B5EF4-FFF2-40B4-BE49-F238E27FC236}">
                <a16:creationId xmlns:a16="http://schemas.microsoft.com/office/drawing/2014/main" id="{8D988659-68DC-7BE2-D1E1-929852B1E1BE}"/>
              </a:ext>
            </a:extLst>
          </p:cNvPr>
          <p:cNvGrpSpPr/>
          <p:nvPr/>
        </p:nvGrpSpPr>
        <p:grpSpPr>
          <a:xfrm>
            <a:off x="5888736" y="1304880"/>
            <a:ext cx="6100559" cy="4627053"/>
            <a:chOff x="6016752" y="1403244"/>
            <a:chExt cx="5545836" cy="4120091"/>
          </a:xfrm>
        </p:grpSpPr>
        <p:sp>
          <p:nvSpPr>
            <p:cNvPr id="39" name="Shape 36"/>
            <p:cNvSpPr/>
            <p:nvPr/>
          </p:nvSpPr>
          <p:spPr>
            <a:xfrm>
              <a:off x="6057900" y="1453536"/>
              <a:ext cx="5504688" cy="4069799"/>
            </a:xfrm>
            <a:prstGeom prst="rect">
              <a:avLst/>
            </a:prstGeom>
            <a:solidFill>
              <a:srgbClr val="8894A8">
                <a:alpha val="28000"/>
              </a:srgbClr>
            </a:solidFill>
            <a:ln/>
          </p:spPr>
          <p:txBody>
            <a:bodyPr/>
            <a:lstStyle/>
            <a:p>
              <a:endParaRPr lang="en-TR"/>
            </a:p>
          </p:txBody>
        </p:sp>
        <p:pic>
          <p:nvPicPr>
            <p:cNvPr id="40" name="Image 1" descr="../products/mynes/img/topology.jpg"/>
            <p:cNvPicPr>
              <a:picLocks noChangeAspect="1"/>
            </p:cNvPicPr>
            <p:nvPr/>
          </p:nvPicPr>
          <p:blipFill>
            <a:blip r:embed="rId4"/>
            <a:stretch>
              <a:fillRect/>
            </a:stretch>
          </p:blipFill>
          <p:spPr>
            <a:xfrm>
              <a:off x="6016752" y="1403244"/>
              <a:ext cx="5504688" cy="4069799"/>
            </a:xfrm>
            <a:prstGeom prst="rect">
              <a:avLst/>
            </a:prstGeom>
          </p:spPr>
        </p:pic>
        <p:sp>
          <p:nvSpPr>
            <p:cNvPr id="41" name="Shape 37"/>
            <p:cNvSpPr/>
            <p:nvPr/>
          </p:nvSpPr>
          <p:spPr>
            <a:xfrm>
              <a:off x="6016752" y="1403244"/>
              <a:ext cx="5504688" cy="4069799"/>
            </a:xfrm>
            <a:prstGeom prst="rect">
              <a:avLst/>
            </a:prstGeom>
            <a:ln w="12700">
              <a:solidFill>
                <a:srgbClr val="E2E7EF"/>
              </a:solidFill>
              <a:prstDash val="solid"/>
            </a:ln>
          </p:spPr>
          <p:txBody>
            <a:bodyPr/>
            <a:lstStyle/>
            <a:p>
              <a:endParaRPr lang="en-TR"/>
            </a:p>
          </p:txBody>
        </p:sp>
      </p:grpSp>
      <p:sp>
        <p:nvSpPr>
          <p:cNvPr id="42" name="Text 38"/>
          <p:cNvSpPr txBox="1"/>
          <p:nvPr/>
        </p:nvSpPr>
        <p:spPr>
          <a:xfrm>
            <a:off x="6016752" y="6034308"/>
            <a:ext cx="5504688" cy="201168"/>
          </a:xfrm>
          <a:prstGeom prst="rect">
            <a:avLst/>
          </a:prstGeom>
          <a:noFill/>
          <a:ln/>
        </p:spPr>
        <p:txBody>
          <a:bodyPr wrap="square" lIns="0" tIns="0" rIns="0" bIns="0" rtlCol="0" anchor="t"/>
          <a:lstStyle/>
          <a:p>
            <a:pPr marL="0" indent="0" algn="ctr">
              <a:buNone/>
            </a:pPr>
            <a:r>
              <a:rPr lang="en-US" sz="850" dirty="0">
                <a:solidFill>
                  <a:srgbClr val="8C95A3"/>
                </a:solidFill>
                <a:latin typeface="Sometype Mono" pitchFamily="34" charset="0"/>
                <a:ea typeface="Sometype Mono" pitchFamily="34" charset="-122"/>
                <a:cs typeface="Sometype Mono" pitchFamily="34" charset="-120"/>
              </a:rPr>
              <a:t>Graph view — uplinks traced, not guessed</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1084593"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1084593"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The problem</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868497"/>
            <a:ext cx="6144768" cy="1186180"/>
          </a:xfrm>
          <a:prstGeom prst="rect">
            <a:avLst/>
          </a:prstGeom>
          <a:noFill/>
          <a:ln/>
        </p:spPr>
        <p:txBody>
          <a:bodyPr wrap="square" lIns="0" tIns="0" rIns="0" bIns="0" rtlCol="0" anchor="t"/>
          <a:lstStyle/>
          <a:p>
            <a:pPr marL="0" indent="0" algn="l">
              <a:lnSpc>
                <a:spcPts val="3410"/>
              </a:lnSpc>
              <a:buNone/>
            </a:pPr>
            <a:r>
              <a:rPr lang="en-US" sz="3100" b="1" kern="0" spc="-43" dirty="0">
                <a:solidFill>
                  <a:srgbClr val="141A24"/>
                </a:solidFill>
                <a:latin typeface="Saira Cond" pitchFamily="34" charset="0"/>
                <a:ea typeface="Saira Cond" pitchFamily="34" charset="-122"/>
                <a:cs typeface="Saira Cond" pitchFamily="34" charset="-120"/>
              </a:rPr>
              <a:t>Half of a 2026 smart home has no IP address.</a:t>
            </a:r>
            <a:endParaRPr lang="en-US" sz="3100" dirty="0"/>
          </a:p>
        </p:txBody>
      </p:sp>
      <p:sp>
        <p:nvSpPr>
          <p:cNvPr id="12" name="Text 9"/>
          <p:cNvSpPr txBox="1"/>
          <p:nvPr/>
        </p:nvSpPr>
        <p:spPr>
          <a:xfrm>
            <a:off x="676656" y="1958218"/>
            <a:ext cx="6035040" cy="836486"/>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Every scanner in the category walks the IP range. That was the whole network in 2015. Today the devices that matter most — the ones that watch, listen and unlock — often aren't on it at all.</a:t>
            </a:r>
            <a:endParaRPr lang="en-US" sz="1150" dirty="0"/>
          </a:p>
        </p:txBody>
      </p:sp>
      <p:sp>
        <p:nvSpPr>
          <p:cNvPr id="13" name="Shape 10"/>
          <p:cNvSpPr/>
          <p:nvPr/>
        </p:nvSpPr>
        <p:spPr>
          <a:xfrm>
            <a:off x="676656" y="2928747"/>
            <a:ext cx="310896" cy="310896"/>
          </a:xfrm>
          <a:prstGeom prst="roundRect">
            <a:avLst>
              <a:gd name="adj" fmla="val 26471"/>
            </a:avLst>
          </a:prstGeom>
          <a:solidFill>
            <a:srgbClr val="3D6FF5"/>
          </a:solidFill>
          <a:ln/>
        </p:spPr>
        <p:txBody>
          <a:bodyPr/>
          <a:lstStyle/>
          <a:p>
            <a:endParaRPr lang="en-TR"/>
          </a:p>
        </p:txBody>
      </p:sp>
      <p:sp>
        <p:nvSpPr>
          <p:cNvPr id="14" name="Text 11"/>
          <p:cNvSpPr txBox="1"/>
          <p:nvPr/>
        </p:nvSpPr>
        <p:spPr>
          <a:xfrm>
            <a:off x="676656" y="2969529"/>
            <a:ext cx="310896" cy="219456"/>
          </a:xfrm>
          <a:prstGeom prst="rect">
            <a:avLst/>
          </a:prstGeom>
          <a:noFill/>
          <a:ln/>
        </p:spPr>
        <p:txBody>
          <a:bodyPr wrap="square" lIns="0" tIns="0" rIns="0" bIns="0" rtlCol="0" anchor="t"/>
          <a:lstStyle/>
          <a:p>
            <a:pPr marL="0" indent="0" algn="ctr">
              <a:buNone/>
            </a:pPr>
            <a:r>
              <a:rPr lang="en-US" sz="1200" b="1" dirty="0">
                <a:solidFill>
                  <a:srgbClr val="FFFFFF"/>
                </a:solidFill>
                <a:latin typeface="Saira Cond" pitchFamily="34" charset="0"/>
                <a:ea typeface="Saira Cond" pitchFamily="34" charset="-122"/>
                <a:cs typeface="Saira Cond" pitchFamily="34" charset="-120"/>
              </a:rPr>
              <a:t>1</a:t>
            </a:r>
            <a:endParaRPr lang="en-US" sz="1200" dirty="0"/>
          </a:p>
        </p:txBody>
      </p:sp>
      <p:sp>
        <p:nvSpPr>
          <p:cNvPr id="15" name="Shape 12"/>
          <p:cNvSpPr/>
          <p:nvPr/>
        </p:nvSpPr>
        <p:spPr>
          <a:xfrm>
            <a:off x="832104" y="3257931"/>
            <a:ext cx="0" cy="256032"/>
          </a:xfrm>
          <a:prstGeom prst="line">
            <a:avLst/>
          </a:prstGeom>
          <a:noFill/>
          <a:ln w="17780">
            <a:solidFill>
              <a:srgbClr val="E2E7EF"/>
            </a:solidFill>
            <a:prstDash val="solid"/>
          </a:ln>
        </p:spPr>
        <p:txBody>
          <a:bodyPr/>
          <a:lstStyle/>
          <a:p>
            <a:endParaRPr lang="en-TR"/>
          </a:p>
        </p:txBody>
      </p:sp>
      <p:sp>
        <p:nvSpPr>
          <p:cNvPr id="16" name="Text 13"/>
          <p:cNvSpPr txBox="1"/>
          <p:nvPr/>
        </p:nvSpPr>
        <p:spPr>
          <a:xfrm>
            <a:off x="1152144" y="2904790"/>
            <a:ext cx="5486400" cy="585216"/>
          </a:xfrm>
          <a:prstGeom prst="rect">
            <a:avLst/>
          </a:prstGeom>
          <a:noFill/>
          <a:ln/>
        </p:spPr>
        <p:txBody>
          <a:bodyPr wrap="square" lIns="0" tIns="0" rIns="0" bIns="0" rtlCol="0" anchor="t"/>
          <a:lstStyle/>
          <a:p>
            <a:pPr marL="0" indent="0" algn="l">
              <a:lnSpc>
                <a:spcPts val="1540"/>
              </a:lnSpc>
              <a:buNone/>
            </a:pPr>
            <a:r>
              <a:rPr lang="en-US" sz="1100" dirty="0">
                <a:solidFill>
                  <a:srgbClr val="141A24"/>
                </a:solidFill>
                <a:latin typeface="Saira Medium" pitchFamily="34" charset="0"/>
                <a:ea typeface="Saira Medium" pitchFamily="34" charset="-122"/>
                <a:cs typeface="Saira Medium" pitchFamily="34" charset="-120"/>
              </a:rPr>
              <a:t>Zigbee bulbs, plugs and sensors</a:t>
            </a:r>
            <a:r>
              <a:rPr lang="en-US" sz="1100" dirty="0">
                <a:solidFill>
                  <a:srgbClr val="606A79"/>
                </a:solidFill>
                <a:latin typeface="Saira" pitchFamily="34" charset="0"/>
                <a:ea typeface="Saira" pitchFamily="34" charset="-122"/>
                <a:cs typeface="Saira" pitchFamily="34" charset="-120"/>
              </a:rPr>
              <a:t> speak to a hub over 802.15.4, never to your router.</a:t>
            </a:r>
            <a:endParaRPr lang="en-US" sz="1100" dirty="0"/>
          </a:p>
        </p:txBody>
      </p:sp>
      <p:sp>
        <p:nvSpPr>
          <p:cNvPr id="17" name="Shape 14"/>
          <p:cNvSpPr/>
          <p:nvPr/>
        </p:nvSpPr>
        <p:spPr>
          <a:xfrm>
            <a:off x="676656" y="3532251"/>
            <a:ext cx="310896" cy="310896"/>
          </a:xfrm>
          <a:prstGeom prst="roundRect">
            <a:avLst>
              <a:gd name="adj" fmla="val 26471"/>
            </a:avLst>
          </a:prstGeom>
          <a:solidFill>
            <a:srgbClr val="17A05C"/>
          </a:solidFill>
          <a:ln/>
        </p:spPr>
        <p:txBody>
          <a:bodyPr/>
          <a:lstStyle/>
          <a:p>
            <a:endParaRPr lang="en-TR"/>
          </a:p>
        </p:txBody>
      </p:sp>
      <p:sp>
        <p:nvSpPr>
          <p:cNvPr id="18" name="Text 15"/>
          <p:cNvSpPr txBox="1"/>
          <p:nvPr/>
        </p:nvSpPr>
        <p:spPr>
          <a:xfrm>
            <a:off x="676656" y="3573033"/>
            <a:ext cx="310896" cy="219456"/>
          </a:xfrm>
          <a:prstGeom prst="rect">
            <a:avLst/>
          </a:prstGeom>
          <a:noFill/>
          <a:ln/>
        </p:spPr>
        <p:txBody>
          <a:bodyPr wrap="square" lIns="0" tIns="0" rIns="0" bIns="0" rtlCol="0" anchor="t"/>
          <a:lstStyle/>
          <a:p>
            <a:pPr marL="0" indent="0" algn="ctr">
              <a:buNone/>
            </a:pPr>
            <a:r>
              <a:rPr lang="en-US" sz="1200" b="1" dirty="0">
                <a:solidFill>
                  <a:srgbClr val="FFFFFF"/>
                </a:solidFill>
                <a:latin typeface="Saira Cond" pitchFamily="34" charset="0"/>
                <a:ea typeface="Saira Cond" pitchFamily="34" charset="-122"/>
                <a:cs typeface="Saira Cond" pitchFamily="34" charset="-120"/>
              </a:rPr>
              <a:t>2</a:t>
            </a:r>
            <a:endParaRPr lang="en-US" sz="1200" dirty="0"/>
          </a:p>
        </p:txBody>
      </p:sp>
      <p:sp>
        <p:nvSpPr>
          <p:cNvPr id="19" name="Shape 16"/>
          <p:cNvSpPr/>
          <p:nvPr/>
        </p:nvSpPr>
        <p:spPr>
          <a:xfrm>
            <a:off x="832104" y="3861435"/>
            <a:ext cx="0" cy="256032"/>
          </a:xfrm>
          <a:prstGeom prst="line">
            <a:avLst/>
          </a:prstGeom>
          <a:noFill/>
          <a:ln w="17780">
            <a:solidFill>
              <a:srgbClr val="E2E7EF"/>
            </a:solidFill>
            <a:prstDash val="solid"/>
          </a:ln>
        </p:spPr>
        <p:txBody>
          <a:bodyPr/>
          <a:lstStyle/>
          <a:p>
            <a:endParaRPr lang="en-TR"/>
          </a:p>
        </p:txBody>
      </p:sp>
      <p:sp>
        <p:nvSpPr>
          <p:cNvPr id="20" name="Text 17"/>
          <p:cNvSpPr txBox="1"/>
          <p:nvPr/>
        </p:nvSpPr>
        <p:spPr>
          <a:xfrm>
            <a:off x="1152144" y="3508294"/>
            <a:ext cx="5486400" cy="585216"/>
          </a:xfrm>
          <a:prstGeom prst="rect">
            <a:avLst/>
          </a:prstGeom>
          <a:noFill/>
          <a:ln/>
        </p:spPr>
        <p:txBody>
          <a:bodyPr wrap="square" lIns="0" tIns="0" rIns="0" bIns="0" rtlCol="0" anchor="t"/>
          <a:lstStyle/>
          <a:p>
            <a:pPr marL="0" indent="0" algn="l">
              <a:lnSpc>
                <a:spcPts val="1540"/>
              </a:lnSpc>
              <a:buNone/>
            </a:pPr>
            <a:r>
              <a:rPr lang="en-US" sz="1100" dirty="0">
                <a:solidFill>
                  <a:srgbClr val="141A24"/>
                </a:solidFill>
                <a:latin typeface="Saira Medium" pitchFamily="34" charset="0"/>
                <a:ea typeface="Saira Medium" pitchFamily="34" charset="-122"/>
                <a:cs typeface="Saira Medium" pitchFamily="34" charset="-120"/>
              </a:rPr>
              <a:t>Z-Wave locks and thermostats</a:t>
            </a:r>
            <a:r>
              <a:rPr lang="en-US" sz="1100" dirty="0">
                <a:solidFill>
                  <a:srgbClr val="606A79"/>
                </a:solidFill>
                <a:latin typeface="Saira" pitchFamily="34" charset="0"/>
                <a:ea typeface="Saira" pitchFamily="34" charset="-122"/>
                <a:cs typeface="Saira" pitchFamily="34" charset="-120"/>
              </a:rPr>
              <a:t> are on their own 868/908 MHz mesh.</a:t>
            </a:r>
            <a:endParaRPr lang="en-US" sz="1100" dirty="0"/>
          </a:p>
        </p:txBody>
      </p:sp>
      <p:sp>
        <p:nvSpPr>
          <p:cNvPr id="21" name="Shape 18"/>
          <p:cNvSpPr/>
          <p:nvPr/>
        </p:nvSpPr>
        <p:spPr>
          <a:xfrm>
            <a:off x="676656" y="4135755"/>
            <a:ext cx="310896" cy="310896"/>
          </a:xfrm>
          <a:prstGeom prst="roundRect">
            <a:avLst>
              <a:gd name="adj" fmla="val 26471"/>
            </a:avLst>
          </a:prstGeom>
          <a:solidFill>
            <a:srgbClr val="D98A1F"/>
          </a:solidFill>
          <a:ln/>
        </p:spPr>
        <p:txBody>
          <a:bodyPr/>
          <a:lstStyle/>
          <a:p>
            <a:endParaRPr lang="en-TR"/>
          </a:p>
        </p:txBody>
      </p:sp>
      <p:sp>
        <p:nvSpPr>
          <p:cNvPr id="22" name="Text 19"/>
          <p:cNvSpPr txBox="1"/>
          <p:nvPr/>
        </p:nvSpPr>
        <p:spPr>
          <a:xfrm>
            <a:off x="676656" y="4176537"/>
            <a:ext cx="310896" cy="219456"/>
          </a:xfrm>
          <a:prstGeom prst="rect">
            <a:avLst/>
          </a:prstGeom>
          <a:noFill/>
          <a:ln/>
        </p:spPr>
        <p:txBody>
          <a:bodyPr wrap="square" lIns="0" tIns="0" rIns="0" bIns="0" rtlCol="0" anchor="t"/>
          <a:lstStyle/>
          <a:p>
            <a:pPr marL="0" indent="0" algn="ctr">
              <a:buNone/>
            </a:pPr>
            <a:r>
              <a:rPr lang="en-US" sz="1200" b="1" dirty="0">
                <a:solidFill>
                  <a:srgbClr val="FFFFFF"/>
                </a:solidFill>
                <a:latin typeface="Saira Cond" pitchFamily="34" charset="0"/>
                <a:ea typeface="Saira Cond" pitchFamily="34" charset="-122"/>
                <a:cs typeface="Saira Cond" pitchFamily="34" charset="-120"/>
              </a:rPr>
              <a:t>3</a:t>
            </a:r>
            <a:endParaRPr lang="en-US" sz="1200" dirty="0"/>
          </a:p>
        </p:txBody>
      </p:sp>
      <p:sp>
        <p:nvSpPr>
          <p:cNvPr id="23" name="Shape 20"/>
          <p:cNvSpPr/>
          <p:nvPr/>
        </p:nvSpPr>
        <p:spPr>
          <a:xfrm>
            <a:off x="832104" y="4464939"/>
            <a:ext cx="0" cy="256032"/>
          </a:xfrm>
          <a:prstGeom prst="line">
            <a:avLst/>
          </a:prstGeom>
          <a:noFill/>
          <a:ln w="17780">
            <a:solidFill>
              <a:srgbClr val="E2E7EF"/>
            </a:solidFill>
            <a:prstDash val="solid"/>
          </a:ln>
        </p:spPr>
        <p:txBody>
          <a:bodyPr/>
          <a:lstStyle/>
          <a:p>
            <a:endParaRPr lang="en-TR"/>
          </a:p>
        </p:txBody>
      </p:sp>
      <p:sp>
        <p:nvSpPr>
          <p:cNvPr id="24" name="Text 21"/>
          <p:cNvSpPr txBox="1"/>
          <p:nvPr/>
        </p:nvSpPr>
        <p:spPr>
          <a:xfrm>
            <a:off x="1152144" y="4111798"/>
            <a:ext cx="5486400" cy="585216"/>
          </a:xfrm>
          <a:prstGeom prst="rect">
            <a:avLst/>
          </a:prstGeom>
          <a:noFill/>
          <a:ln/>
        </p:spPr>
        <p:txBody>
          <a:bodyPr wrap="square" lIns="0" tIns="0" rIns="0" bIns="0" rtlCol="0" anchor="t"/>
          <a:lstStyle/>
          <a:p>
            <a:pPr marL="0" indent="0" algn="l">
              <a:lnSpc>
                <a:spcPts val="1540"/>
              </a:lnSpc>
              <a:buNone/>
            </a:pPr>
            <a:r>
              <a:rPr lang="en-US" sz="1100" dirty="0">
                <a:solidFill>
                  <a:srgbClr val="141A24"/>
                </a:solidFill>
                <a:latin typeface="Saira Medium" pitchFamily="34" charset="0"/>
                <a:ea typeface="Saira Medium" pitchFamily="34" charset="-122"/>
                <a:cs typeface="Saira Medium" pitchFamily="34" charset="-120"/>
              </a:rPr>
              <a:t>Bluetooth LE tags, scales and wearables</a:t>
            </a:r>
            <a:r>
              <a:rPr lang="en-US" sz="1100" dirty="0">
                <a:solidFill>
                  <a:srgbClr val="606A79"/>
                </a:solidFill>
                <a:latin typeface="Saira" pitchFamily="34" charset="0"/>
                <a:ea typeface="Saira" pitchFamily="34" charset="-122"/>
                <a:cs typeface="Saira" pitchFamily="34" charset="-120"/>
              </a:rPr>
              <a:t> advertise constantly — and hold no IP.</a:t>
            </a:r>
            <a:endParaRPr lang="en-US" sz="1100" dirty="0"/>
          </a:p>
        </p:txBody>
      </p:sp>
      <p:sp>
        <p:nvSpPr>
          <p:cNvPr id="25" name="Shape 22"/>
          <p:cNvSpPr/>
          <p:nvPr/>
        </p:nvSpPr>
        <p:spPr>
          <a:xfrm>
            <a:off x="676656" y="4739259"/>
            <a:ext cx="310896" cy="310896"/>
          </a:xfrm>
          <a:prstGeom prst="roundRect">
            <a:avLst>
              <a:gd name="adj" fmla="val 26471"/>
            </a:avLst>
          </a:prstGeom>
          <a:solidFill>
            <a:srgbClr val="DC3F4A"/>
          </a:solidFill>
          <a:ln/>
        </p:spPr>
        <p:txBody>
          <a:bodyPr/>
          <a:lstStyle/>
          <a:p>
            <a:endParaRPr lang="en-TR"/>
          </a:p>
        </p:txBody>
      </p:sp>
      <p:sp>
        <p:nvSpPr>
          <p:cNvPr id="26" name="Text 23"/>
          <p:cNvSpPr txBox="1"/>
          <p:nvPr/>
        </p:nvSpPr>
        <p:spPr>
          <a:xfrm>
            <a:off x="676656" y="4780041"/>
            <a:ext cx="310896" cy="219456"/>
          </a:xfrm>
          <a:prstGeom prst="rect">
            <a:avLst/>
          </a:prstGeom>
          <a:noFill/>
          <a:ln/>
        </p:spPr>
        <p:txBody>
          <a:bodyPr wrap="square" lIns="0" tIns="0" rIns="0" bIns="0" rtlCol="0" anchor="t"/>
          <a:lstStyle/>
          <a:p>
            <a:pPr marL="0" indent="0" algn="ctr">
              <a:buNone/>
            </a:pPr>
            <a:r>
              <a:rPr lang="en-US" sz="1200" b="1" dirty="0">
                <a:solidFill>
                  <a:srgbClr val="FFFFFF"/>
                </a:solidFill>
                <a:latin typeface="Saira Cond" pitchFamily="34" charset="0"/>
                <a:ea typeface="Saira Cond" pitchFamily="34" charset="-122"/>
                <a:cs typeface="Saira Cond" pitchFamily="34" charset="-120"/>
              </a:rPr>
              <a:t>4</a:t>
            </a:r>
            <a:endParaRPr lang="en-US" sz="1200" dirty="0"/>
          </a:p>
        </p:txBody>
      </p:sp>
      <p:sp>
        <p:nvSpPr>
          <p:cNvPr id="27" name="Text 24"/>
          <p:cNvSpPr txBox="1"/>
          <p:nvPr/>
        </p:nvSpPr>
        <p:spPr>
          <a:xfrm>
            <a:off x="1152144" y="4715302"/>
            <a:ext cx="5486400" cy="610616"/>
          </a:xfrm>
          <a:prstGeom prst="rect">
            <a:avLst/>
          </a:prstGeom>
          <a:noFill/>
          <a:ln/>
        </p:spPr>
        <p:txBody>
          <a:bodyPr wrap="square" lIns="0" tIns="0" rIns="0" bIns="0" rtlCol="0" anchor="t"/>
          <a:lstStyle/>
          <a:p>
            <a:pPr marL="0" indent="0" algn="l">
              <a:lnSpc>
                <a:spcPts val="1540"/>
              </a:lnSpc>
              <a:buNone/>
            </a:pPr>
            <a:r>
              <a:rPr lang="en-US" sz="1100" dirty="0">
                <a:solidFill>
                  <a:srgbClr val="141A24"/>
                </a:solidFill>
                <a:latin typeface="Saira Medium" pitchFamily="34" charset="0"/>
                <a:ea typeface="Saira Medium" pitchFamily="34" charset="-122"/>
                <a:cs typeface="Saira Medium" pitchFamily="34" charset="-120"/>
              </a:rPr>
              <a:t>Matter devices</a:t>
            </a:r>
            <a:r>
              <a:rPr lang="en-US" sz="1100" dirty="0">
                <a:solidFill>
                  <a:srgbClr val="606A79"/>
                </a:solidFill>
                <a:latin typeface="Saira" pitchFamily="34" charset="0"/>
                <a:ea typeface="Saira" pitchFamily="34" charset="-122"/>
                <a:cs typeface="Saira" pitchFamily="34" charset="-120"/>
              </a:rPr>
              <a:t> announce themselves over mDNS in a way most scanners never parse.</a:t>
            </a:r>
            <a:endParaRPr lang="en-US" sz="1100" dirty="0"/>
          </a:p>
        </p:txBody>
      </p:sp>
      <p:sp>
        <p:nvSpPr>
          <p:cNvPr id="28" name="Text 25"/>
          <p:cNvSpPr txBox="1"/>
          <p:nvPr/>
        </p:nvSpPr>
        <p:spPr>
          <a:xfrm>
            <a:off x="7223760" y="992490"/>
            <a:ext cx="4291279" cy="256032"/>
          </a:xfrm>
          <a:prstGeom prst="rect">
            <a:avLst/>
          </a:prstGeom>
          <a:noFill/>
          <a:ln/>
        </p:spPr>
        <p:txBody>
          <a:bodyPr wrap="square" lIns="0" tIns="0" rIns="0" bIns="0" rtlCol="0" anchor="t"/>
          <a:lstStyle/>
          <a:p>
            <a:pPr marL="0" indent="0" algn="l">
              <a:buNone/>
            </a:pPr>
            <a:r>
              <a:rPr lang="en-US" sz="1300" dirty="0">
                <a:solidFill>
                  <a:srgbClr val="141A24"/>
                </a:solidFill>
                <a:latin typeface="Saira Cond SemiBold" pitchFamily="34" charset="0"/>
                <a:ea typeface="Saira Cond SemiBold" pitchFamily="34" charset="-122"/>
                <a:cs typeface="Saira Cond SemiBold" pitchFamily="34" charset="-120"/>
              </a:rPr>
              <a:t>What MyNeS listens to</a:t>
            </a:r>
            <a:endParaRPr lang="en-US" sz="1300" dirty="0"/>
          </a:p>
        </p:txBody>
      </p:sp>
      <p:sp>
        <p:nvSpPr>
          <p:cNvPr id="29" name="Shape 26"/>
          <p:cNvSpPr/>
          <p:nvPr/>
        </p:nvSpPr>
        <p:spPr>
          <a:xfrm>
            <a:off x="7223760" y="1426464"/>
            <a:ext cx="983666" cy="1060704"/>
          </a:xfrm>
          <a:prstGeom prst="roundRect">
            <a:avLst>
              <a:gd name="adj" fmla="val 8366"/>
            </a:avLst>
          </a:prstGeom>
          <a:solidFill>
            <a:srgbClr val="FFFFFF"/>
          </a:solidFill>
          <a:ln w="12700">
            <a:solidFill>
              <a:srgbClr val="E2E7EF"/>
            </a:solidFill>
            <a:prstDash val="solid"/>
          </a:ln>
        </p:spPr>
        <p:txBody>
          <a:bodyPr/>
          <a:lstStyle/>
          <a:p>
            <a:endParaRPr lang="en-TR"/>
          </a:p>
        </p:txBody>
      </p:sp>
      <p:sp>
        <p:nvSpPr>
          <p:cNvPr id="30" name="Text 27"/>
          <p:cNvSpPr txBox="1"/>
          <p:nvPr/>
        </p:nvSpPr>
        <p:spPr>
          <a:xfrm>
            <a:off x="7424928" y="1561429"/>
            <a:ext cx="617906" cy="457200"/>
          </a:xfrm>
          <a:prstGeom prst="rect">
            <a:avLst/>
          </a:prstGeom>
          <a:noFill/>
          <a:ln/>
        </p:spPr>
        <p:txBody>
          <a:bodyPr wrap="none" lIns="0" tIns="0" rIns="0" bIns="0" rtlCol="0" anchor="t"/>
          <a:lstStyle/>
          <a:p>
            <a:pPr marL="0" indent="0" algn="l">
              <a:buNone/>
            </a:pPr>
            <a:r>
              <a:rPr lang="en-US" sz="2200" b="1" dirty="0">
                <a:solidFill>
                  <a:srgbClr val="3D6FF5"/>
                </a:solidFill>
                <a:latin typeface="Saira Cond" pitchFamily="34" charset="0"/>
                <a:ea typeface="Saira Cond" pitchFamily="34" charset="-122"/>
                <a:cs typeface="Saira Cond" pitchFamily="34" charset="-120"/>
              </a:rPr>
              <a:t>6</a:t>
            </a:r>
            <a:endParaRPr lang="en-US" sz="2200" dirty="0"/>
          </a:p>
        </p:txBody>
      </p:sp>
      <p:sp>
        <p:nvSpPr>
          <p:cNvPr id="31" name="Text 28"/>
          <p:cNvSpPr txBox="1"/>
          <p:nvPr/>
        </p:nvSpPr>
        <p:spPr>
          <a:xfrm>
            <a:off x="7415784" y="2149612"/>
            <a:ext cx="636194" cy="334264"/>
          </a:xfrm>
          <a:prstGeom prst="rect">
            <a:avLst/>
          </a:prstGeom>
          <a:noFill/>
          <a:ln/>
        </p:spPr>
        <p:txBody>
          <a:bodyPr wrap="square" lIns="0" tIns="0" rIns="0" bIns="0" rtlCol="0" anchor="t"/>
          <a:lstStyle/>
          <a:p>
            <a:pPr marL="0" indent="0" algn="l">
              <a:lnSpc>
                <a:spcPts val="812"/>
              </a:lnSpc>
              <a:buNone/>
            </a:pPr>
            <a:r>
              <a:rPr lang="en-US" sz="700" kern="0" spc="42" dirty="0">
                <a:solidFill>
                  <a:srgbClr val="8C95A3"/>
                </a:solidFill>
                <a:latin typeface="Sometype Mono" pitchFamily="34" charset="0"/>
                <a:ea typeface="Sometype Mono" pitchFamily="34" charset="-122"/>
                <a:cs typeface="Sometype Mono" pitchFamily="34" charset="-120"/>
              </a:rPr>
              <a:t>DISCOVERY PROTOCOLS</a:t>
            </a:r>
            <a:endParaRPr lang="en-US" sz="700" dirty="0"/>
          </a:p>
        </p:txBody>
      </p:sp>
      <p:sp>
        <p:nvSpPr>
          <p:cNvPr id="32" name="Shape 29"/>
          <p:cNvSpPr/>
          <p:nvPr/>
        </p:nvSpPr>
        <p:spPr>
          <a:xfrm>
            <a:off x="8326298" y="1426464"/>
            <a:ext cx="983666" cy="1060704"/>
          </a:xfrm>
          <a:prstGeom prst="roundRect">
            <a:avLst>
              <a:gd name="adj" fmla="val 8366"/>
            </a:avLst>
          </a:prstGeom>
          <a:solidFill>
            <a:srgbClr val="FFFFFF"/>
          </a:solidFill>
          <a:ln w="12700">
            <a:solidFill>
              <a:srgbClr val="E2E7EF"/>
            </a:solidFill>
            <a:prstDash val="solid"/>
          </a:ln>
        </p:spPr>
        <p:txBody>
          <a:bodyPr/>
          <a:lstStyle/>
          <a:p>
            <a:endParaRPr lang="en-TR"/>
          </a:p>
        </p:txBody>
      </p:sp>
      <p:sp>
        <p:nvSpPr>
          <p:cNvPr id="33" name="Text 30"/>
          <p:cNvSpPr txBox="1"/>
          <p:nvPr/>
        </p:nvSpPr>
        <p:spPr>
          <a:xfrm>
            <a:off x="8527466" y="1561429"/>
            <a:ext cx="617906" cy="457200"/>
          </a:xfrm>
          <a:prstGeom prst="rect">
            <a:avLst/>
          </a:prstGeom>
          <a:noFill/>
          <a:ln/>
        </p:spPr>
        <p:txBody>
          <a:bodyPr wrap="none" lIns="0" tIns="0" rIns="0" bIns="0" rtlCol="0" anchor="t"/>
          <a:lstStyle/>
          <a:p>
            <a:pPr marL="0" indent="0" algn="l">
              <a:buNone/>
            </a:pPr>
            <a:r>
              <a:rPr lang="en-US" sz="2200" b="1" dirty="0">
                <a:solidFill>
                  <a:srgbClr val="17A05C"/>
                </a:solidFill>
                <a:latin typeface="Saira Cond" pitchFamily="34" charset="0"/>
                <a:ea typeface="Saira Cond" pitchFamily="34" charset="-122"/>
                <a:cs typeface="Saira Cond" pitchFamily="34" charset="-120"/>
              </a:rPr>
              <a:t>5</a:t>
            </a:r>
            <a:endParaRPr lang="en-US" sz="2200" dirty="0"/>
          </a:p>
        </p:txBody>
      </p:sp>
      <p:sp>
        <p:nvSpPr>
          <p:cNvPr id="34" name="Text 31"/>
          <p:cNvSpPr txBox="1"/>
          <p:nvPr/>
        </p:nvSpPr>
        <p:spPr>
          <a:xfrm>
            <a:off x="8518322" y="2166539"/>
            <a:ext cx="636194" cy="319532"/>
          </a:xfrm>
          <a:prstGeom prst="rect">
            <a:avLst/>
          </a:prstGeom>
          <a:noFill/>
          <a:ln/>
        </p:spPr>
        <p:txBody>
          <a:bodyPr wrap="square" lIns="0" tIns="0" rIns="0" bIns="0" rtlCol="0" anchor="t"/>
          <a:lstStyle/>
          <a:p>
            <a:pPr marL="0" indent="0" algn="l">
              <a:lnSpc>
                <a:spcPts val="754"/>
              </a:lnSpc>
              <a:buNone/>
            </a:pPr>
            <a:r>
              <a:rPr lang="en-US" sz="650" kern="0" spc="39" dirty="0">
                <a:solidFill>
                  <a:srgbClr val="8C95A3"/>
                </a:solidFill>
                <a:latin typeface="Sometype Mono" pitchFamily="34" charset="0"/>
                <a:ea typeface="Sometype Mono" pitchFamily="34" charset="-122"/>
                <a:cs typeface="Sometype Mono" pitchFamily="34" charset="-120"/>
              </a:rPr>
              <a:t>WAYS TO READ THE MAP</a:t>
            </a:r>
            <a:endParaRPr lang="en-US" sz="650" dirty="0"/>
          </a:p>
        </p:txBody>
      </p:sp>
      <p:sp>
        <p:nvSpPr>
          <p:cNvPr id="35" name="Shape 32"/>
          <p:cNvSpPr/>
          <p:nvPr/>
        </p:nvSpPr>
        <p:spPr>
          <a:xfrm>
            <a:off x="9428836" y="1426464"/>
            <a:ext cx="983666" cy="1060704"/>
          </a:xfrm>
          <a:prstGeom prst="roundRect">
            <a:avLst>
              <a:gd name="adj" fmla="val 8366"/>
            </a:avLst>
          </a:prstGeom>
          <a:solidFill>
            <a:srgbClr val="FFFFFF"/>
          </a:solidFill>
          <a:ln w="12700">
            <a:solidFill>
              <a:srgbClr val="E2E7EF"/>
            </a:solidFill>
            <a:prstDash val="solid"/>
          </a:ln>
        </p:spPr>
        <p:txBody>
          <a:bodyPr/>
          <a:lstStyle/>
          <a:p>
            <a:endParaRPr lang="en-TR"/>
          </a:p>
        </p:txBody>
      </p:sp>
      <p:sp>
        <p:nvSpPr>
          <p:cNvPr id="36" name="Text 33"/>
          <p:cNvSpPr txBox="1"/>
          <p:nvPr/>
        </p:nvSpPr>
        <p:spPr>
          <a:xfrm>
            <a:off x="9630004" y="1561429"/>
            <a:ext cx="617906" cy="457200"/>
          </a:xfrm>
          <a:prstGeom prst="rect">
            <a:avLst/>
          </a:prstGeom>
          <a:noFill/>
          <a:ln/>
        </p:spPr>
        <p:txBody>
          <a:bodyPr wrap="none" lIns="0" tIns="0" rIns="0" bIns="0" rtlCol="0" anchor="t"/>
          <a:lstStyle/>
          <a:p>
            <a:pPr marL="0" indent="0" algn="l">
              <a:buNone/>
            </a:pPr>
            <a:r>
              <a:rPr lang="en-US" sz="2200" b="1" dirty="0">
                <a:solidFill>
                  <a:srgbClr val="D98A1F"/>
                </a:solidFill>
                <a:latin typeface="Saira Cond" pitchFamily="34" charset="0"/>
                <a:ea typeface="Saira Cond" pitchFamily="34" charset="-122"/>
                <a:cs typeface="Saira Cond" pitchFamily="34" charset="-120"/>
              </a:rPr>
              <a:t>37k+</a:t>
            </a:r>
            <a:endParaRPr lang="en-US" sz="2200" dirty="0"/>
          </a:p>
        </p:txBody>
      </p:sp>
      <p:sp>
        <p:nvSpPr>
          <p:cNvPr id="37" name="Text 34"/>
          <p:cNvSpPr txBox="1"/>
          <p:nvPr/>
        </p:nvSpPr>
        <p:spPr>
          <a:xfrm>
            <a:off x="9620860" y="2149612"/>
            <a:ext cx="636194" cy="334264"/>
          </a:xfrm>
          <a:prstGeom prst="rect">
            <a:avLst/>
          </a:prstGeom>
          <a:noFill/>
          <a:ln/>
        </p:spPr>
        <p:txBody>
          <a:bodyPr wrap="square" lIns="0" tIns="0" rIns="0" bIns="0" rtlCol="0" anchor="t"/>
          <a:lstStyle/>
          <a:p>
            <a:pPr marL="0" indent="0" algn="l">
              <a:lnSpc>
                <a:spcPts val="812"/>
              </a:lnSpc>
              <a:buNone/>
            </a:pPr>
            <a:r>
              <a:rPr lang="en-US" sz="700" kern="0" spc="42" dirty="0">
                <a:solidFill>
                  <a:srgbClr val="8C95A3"/>
                </a:solidFill>
                <a:latin typeface="Sometype Mono" pitchFamily="34" charset="0"/>
                <a:ea typeface="Sometype Mono" pitchFamily="34" charset="-122"/>
                <a:cs typeface="Sometype Mono" pitchFamily="34" charset="-120"/>
              </a:rPr>
              <a:t>IEEE VENDOR RECORDS</a:t>
            </a:r>
            <a:endParaRPr lang="en-US" sz="700" dirty="0"/>
          </a:p>
        </p:txBody>
      </p:sp>
      <p:sp>
        <p:nvSpPr>
          <p:cNvPr id="38" name="Shape 35"/>
          <p:cNvSpPr/>
          <p:nvPr/>
        </p:nvSpPr>
        <p:spPr>
          <a:xfrm>
            <a:off x="10531373" y="1426464"/>
            <a:ext cx="983666" cy="1060704"/>
          </a:xfrm>
          <a:prstGeom prst="roundRect">
            <a:avLst>
              <a:gd name="adj" fmla="val 8366"/>
            </a:avLst>
          </a:prstGeom>
          <a:solidFill>
            <a:srgbClr val="FFFFFF"/>
          </a:solidFill>
          <a:ln w="12700">
            <a:solidFill>
              <a:srgbClr val="E2E7EF"/>
            </a:solidFill>
            <a:prstDash val="solid"/>
          </a:ln>
        </p:spPr>
        <p:txBody>
          <a:bodyPr/>
          <a:lstStyle/>
          <a:p>
            <a:endParaRPr lang="en-TR"/>
          </a:p>
        </p:txBody>
      </p:sp>
      <p:sp>
        <p:nvSpPr>
          <p:cNvPr id="39" name="Text 36"/>
          <p:cNvSpPr txBox="1"/>
          <p:nvPr/>
        </p:nvSpPr>
        <p:spPr>
          <a:xfrm>
            <a:off x="10732541" y="1561429"/>
            <a:ext cx="617906" cy="457200"/>
          </a:xfrm>
          <a:prstGeom prst="rect">
            <a:avLst/>
          </a:prstGeom>
          <a:noFill/>
          <a:ln/>
        </p:spPr>
        <p:txBody>
          <a:bodyPr wrap="none" lIns="0" tIns="0" rIns="0" bIns="0" rtlCol="0" anchor="t"/>
          <a:lstStyle/>
          <a:p>
            <a:pPr marL="0" indent="0" algn="l">
              <a:buNone/>
            </a:pPr>
            <a:r>
              <a:rPr lang="en-US" sz="2200" b="1" dirty="0">
                <a:solidFill>
                  <a:srgbClr val="DC3F4A"/>
                </a:solidFill>
                <a:latin typeface="Saira Cond" pitchFamily="34" charset="0"/>
                <a:ea typeface="Saira Cond" pitchFamily="34" charset="-122"/>
                <a:cs typeface="Saira Cond" pitchFamily="34" charset="-120"/>
              </a:rPr>
              <a:t>0</a:t>
            </a:r>
            <a:endParaRPr lang="en-US" sz="2200" dirty="0"/>
          </a:p>
        </p:txBody>
      </p:sp>
      <p:sp>
        <p:nvSpPr>
          <p:cNvPr id="40" name="Text 37"/>
          <p:cNvSpPr txBox="1"/>
          <p:nvPr/>
        </p:nvSpPr>
        <p:spPr>
          <a:xfrm>
            <a:off x="10723397" y="2217318"/>
            <a:ext cx="636194" cy="275336"/>
          </a:xfrm>
          <a:prstGeom prst="rect">
            <a:avLst/>
          </a:prstGeom>
          <a:noFill/>
          <a:ln/>
        </p:spPr>
        <p:txBody>
          <a:bodyPr wrap="square" lIns="0" tIns="0" rIns="0" bIns="0" rtlCol="0" anchor="t"/>
          <a:lstStyle/>
          <a:p>
            <a:pPr marL="0" indent="0" algn="l">
              <a:lnSpc>
                <a:spcPts val="580"/>
              </a:lnSpc>
              <a:buNone/>
            </a:pPr>
            <a:r>
              <a:rPr lang="en-US" sz="500" kern="0" spc="30" dirty="0">
                <a:solidFill>
                  <a:srgbClr val="8C95A3"/>
                </a:solidFill>
                <a:latin typeface="Sometype Mono" pitchFamily="34" charset="0"/>
                <a:ea typeface="Sometype Mono" pitchFamily="34" charset="-122"/>
                <a:cs typeface="Sometype Mono" pitchFamily="34" charset="-120"/>
              </a:rPr>
              <a:t>PACKETS LEAVING YOUR LAN</a:t>
            </a:r>
            <a:endParaRPr lang="en-US" sz="500" dirty="0"/>
          </a:p>
        </p:txBody>
      </p:sp>
      <p:sp>
        <p:nvSpPr>
          <p:cNvPr id="41" name="Shape 38"/>
          <p:cNvSpPr/>
          <p:nvPr/>
        </p:nvSpPr>
        <p:spPr>
          <a:xfrm>
            <a:off x="7255764" y="2939613"/>
            <a:ext cx="105613" cy="105613"/>
          </a:xfrm>
          <a:prstGeom prst="ellipse">
            <a:avLst/>
          </a:prstGeom>
          <a:solidFill>
            <a:srgbClr val="3D6FF5"/>
          </a:solidFill>
          <a:ln/>
        </p:spPr>
        <p:txBody>
          <a:bodyPr/>
          <a:lstStyle/>
          <a:p>
            <a:endParaRPr lang="en-TR"/>
          </a:p>
        </p:txBody>
      </p:sp>
      <p:sp>
        <p:nvSpPr>
          <p:cNvPr id="42" name="Text 39"/>
          <p:cNvSpPr txBox="1"/>
          <p:nvPr/>
        </p:nvSpPr>
        <p:spPr>
          <a:xfrm>
            <a:off x="7461504" y="2828971"/>
            <a:ext cx="4053535" cy="616204"/>
          </a:xfrm>
          <a:prstGeom prst="rect">
            <a:avLst/>
          </a:prstGeom>
          <a:noFill/>
          <a:ln/>
        </p:spPr>
        <p:txBody>
          <a:bodyPr wrap="square" lIns="0" tIns="0" rIns="0" bIns="0" rtlCol="0" anchor="t"/>
          <a:lstStyle/>
          <a:p>
            <a:pPr marL="0" indent="0" algn="l">
              <a:lnSpc>
                <a:spcPts val="1562"/>
              </a:lnSpc>
              <a:buNone/>
            </a:pPr>
            <a:r>
              <a:rPr lang="en-US" sz="1100" dirty="0">
                <a:solidFill>
                  <a:srgbClr val="606A79"/>
                </a:solidFill>
                <a:latin typeface="Saira" pitchFamily="34" charset="0"/>
                <a:ea typeface="Saira" pitchFamily="34" charset="-122"/>
                <a:cs typeface="Saira" pitchFamily="34" charset="-120"/>
              </a:rPr>
              <a:t>An IP scan answers, </a:t>
            </a:r>
            <a:r>
              <a:rPr lang="en-US" sz="1100" dirty="0">
                <a:solidFill>
                  <a:srgbClr val="141A24"/>
                </a:solidFill>
                <a:latin typeface="Saira Medium" pitchFamily="34" charset="0"/>
                <a:ea typeface="Saira Medium" pitchFamily="34" charset="-122"/>
                <a:cs typeface="Saira Medium" pitchFamily="34" charset="-120"/>
              </a:rPr>
              <a:t>“which addresses are up”</a:t>
            </a:r>
            <a:r>
              <a:rPr lang="en-US" sz="1100" dirty="0">
                <a:solidFill>
                  <a:srgbClr val="606A79"/>
                </a:solidFill>
                <a:latin typeface="Saira" pitchFamily="34" charset="0"/>
                <a:ea typeface="Saira" pitchFamily="34" charset="-122"/>
                <a:cs typeface="Saira" pitchFamily="34" charset="-120"/>
              </a:rPr>
              <a:t>. That is not the same question as </a:t>
            </a:r>
            <a:r>
              <a:rPr lang="en-US" sz="1100" dirty="0">
                <a:solidFill>
                  <a:srgbClr val="141A24"/>
                </a:solidFill>
                <a:latin typeface="Saira Medium" pitchFamily="34" charset="0"/>
                <a:ea typeface="Saira Medium" pitchFamily="34" charset="-122"/>
                <a:cs typeface="Saira Medium" pitchFamily="34" charset="-120"/>
              </a:rPr>
              <a:t>“what is in my house”</a:t>
            </a:r>
            <a:r>
              <a:rPr lang="en-US" sz="1100" dirty="0">
                <a:solidFill>
                  <a:srgbClr val="606A79"/>
                </a:solidFill>
                <a:latin typeface="Saira" pitchFamily="34" charset="0"/>
                <a:ea typeface="Saira" pitchFamily="34" charset="-122"/>
                <a:cs typeface="Saira" pitchFamily="34" charset="-120"/>
              </a:rPr>
              <a:t>.</a:t>
            </a:r>
            <a:endParaRPr lang="en-US" sz="1100" dirty="0"/>
          </a:p>
        </p:txBody>
      </p:sp>
      <p:sp>
        <p:nvSpPr>
          <p:cNvPr id="43" name="Shape 40"/>
          <p:cNvSpPr/>
          <p:nvPr/>
        </p:nvSpPr>
        <p:spPr>
          <a:xfrm>
            <a:off x="7255764" y="3519241"/>
            <a:ext cx="105613" cy="105613"/>
          </a:xfrm>
          <a:prstGeom prst="ellipse">
            <a:avLst/>
          </a:prstGeom>
          <a:solidFill>
            <a:srgbClr val="17A05C"/>
          </a:solidFill>
          <a:ln/>
        </p:spPr>
        <p:txBody>
          <a:bodyPr/>
          <a:lstStyle/>
          <a:p>
            <a:endParaRPr lang="en-TR"/>
          </a:p>
        </p:txBody>
      </p:sp>
      <p:sp>
        <p:nvSpPr>
          <p:cNvPr id="44" name="Text 41"/>
          <p:cNvSpPr txBox="1"/>
          <p:nvPr/>
        </p:nvSpPr>
        <p:spPr>
          <a:xfrm>
            <a:off x="7461504" y="3408599"/>
            <a:ext cx="4053535" cy="616204"/>
          </a:xfrm>
          <a:prstGeom prst="rect">
            <a:avLst/>
          </a:prstGeom>
          <a:noFill/>
          <a:ln/>
        </p:spPr>
        <p:txBody>
          <a:bodyPr wrap="square" lIns="0" tIns="0" rIns="0" bIns="0" rtlCol="0" anchor="t"/>
          <a:lstStyle/>
          <a:p>
            <a:pPr marL="0" indent="0" algn="l">
              <a:lnSpc>
                <a:spcPts val="1562"/>
              </a:lnSpc>
              <a:buNone/>
            </a:pPr>
            <a:r>
              <a:rPr lang="en-US" sz="1100" dirty="0">
                <a:solidFill>
                  <a:srgbClr val="606A79"/>
                </a:solidFill>
                <a:latin typeface="Saira" pitchFamily="34" charset="0"/>
                <a:ea typeface="Saira" pitchFamily="34" charset="-122"/>
                <a:cs typeface="Saira" pitchFamily="34" charset="-120"/>
              </a:rPr>
              <a:t>MyNeS runs both: ARP + nmap for the IP side, and five more protocols for everything else.</a:t>
            </a:r>
            <a:endParaRPr lang="en-US" sz="1100" dirty="0"/>
          </a:p>
        </p:txBody>
      </p:sp>
      <p:sp>
        <p:nvSpPr>
          <p:cNvPr id="45" name="Shape 42"/>
          <p:cNvSpPr/>
          <p:nvPr/>
        </p:nvSpPr>
        <p:spPr>
          <a:xfrm>
            <a:off x="7255764" y="4098869"/>
            <a:ext cx="105613" cy="105613"/>
          </a:xfrm>
          <a:prstGeom prst="ellipse">
            <a:avLst/>
          </a:prstGeom>
          <a:solidFill>
            <a:srgbClr val="D98A1F"/>
          </a:solidFill>
          <a:ln/>
        </p:spPr>
        <p:txBody>
          <a:bodyPr/>
          <a:lstStyle/>
          <a:p>
            <a:endParaRPr lang="en-TR"/>
          </a:p>
        </p:txBody>
      </p:sp>
      <p:sp>
        <p:nvSpPr>
          <p:cNvPr id="46" name="Text 43"/>
          <p:cNvSpPr txBox="1"/>
          <p:nvPr/>
        </p:nvSpPr>
        <p:spPr>
          <a:xfrm>
            <a:off x="7461504" y="3988227"/>
            <a:ext cx="4053535" cy="814578"/>
          </a:xfrm>
          <a:prstGeom prst="rect">
            <a:avLst/>
          </a:prstGeom>
          <a:noFill/>
          <a:ln/>
        </p:spPr>
        <p:txBody>
          <a:bodyPr wrap="square" lIns="0" tIns="0" rIns="0" bIns="0" rtlCol="0" anchor="t"/>
          <a:lstStyle/>
          <a:p>
            <a:pPr marL="0" indent="0" algn="l">
              <a:lnSpc>
                <a:spcPts val="1562"/>
              </a:lnSpc>
              <a:buNone/>
            </a:pPr>
            <a:r>
              <a:rPr lang="en-US" sz="1100" dirty="0">
                <a:solidFill>
                  <a:srgbClr val="606A79"/>
                </a:solidFill>
                <a:latin typeface="Saira" pitchFamily="34" charset="0"/>
                <a:ea typeface="Saira" pitchFamily="34" charset="-122"/>
                <a:cs typeface="Saira" pitchFamily="34" charset="-120"/>
              </a:rPr>
              <a:t>Zigbee and Z-Wave visibility is read from an </a:t>
            </a:r>
            <a:r>
              <a:rPr lang="en-US" sz="1100" dirty="0">
                <a:solidFill>
                  <a:srgbClr val="141A24"/>
                </a:solidFill>
                <a:latin typeface="Saira Medium" pitchFamily="34" charset="0"/>
                <a:ea typeface="Saira Medium" pitchFamily="34" charset="-122"/>
                <a:cs typeface="Saira Medium" pitchFamily="34" charset="-120"/>
              </a:rPr>
              <a:t>existing Zigbee2MQTT / Z-Wave JS broker</a:t>
            </a:r>
            <a:r>
              <a:rPr lang="en-US" sz="1100" dirty="0">
                <a:solidFill>
                  <a:srgbClr val="606A79"/>
                </a:solidFill>
                <a:latin typeface="Saira" pitchFamily="34" charset="0"/>
                <a:ea typeface="Saira" pitchFamily="34" charset="-122"/>
                <a:cs typeface="Saira" pitchFamily="34" charset="-120"/>
              </a:rPr>
              <a:t> over MQTT — MyNeS does not talk to a radio itself.</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1048988"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1048988"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The product</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868497"/>
            <a:ext cx="6419088" cy="753110"/>
          </a:xfrm>
          <a:prstGeom prst="rect">
            <a:avLst/>
          </a:prstGeom>
          <a:noFill/>
          <a:ln/>
        </p:spPr>
        <p:txBody>
          <a:bodyPr wrap="square" lIns="0" tIns="0" rIns="0" bIns="0" rtlCol="0" anchor="t"/>
          <a:lstStyle/>
          <a:p>
            <a:pPr marL="0" indent="0" algn="l">
              <a:lnSpc>
                <a:spcPts val="3410"/>
              </a:lnSpc>
              <a:buNone/>
            </a:pPr>
            <a:r>
              <a:rPr lang="en-US" sz="3100" b="1" kern="0" spc="-43" dirty="0">
                <a:solidFill>
                  <a:srgbClr val="141A24"/>
                </a:solidFill>
                <a:latin typeface="Saira Cond" pitchFamily="34" charset="0"/>
                <a:ea typeface="Saira Cond" pitchFamily="34" charset="-122"/>
                <a:cs typeface="Saira Cond" pitchFamily="34" charset="-120"/>
              </a:rPr>
              <a:t>Your family's friendly network scanner.</a:t>
            </a:r>
            <a:endParaRPr lang="en-US" sz="3100" dirty="0"/>
          </a:p>
        </p:txBody>
      </p:sp>
      <p:sp>
        <p:nvSpPr>
          <p:cNvPr id="12" name="Text 9"/>
          <p:cNvSpPr txBox="1"/>
          <p:nvPr/>
        </p:nvSpPr>
        <p:spPr>
          <a:xfrm>
            <a:off x="676656" y="1525148"/>
            <a:ext cx="6309360" cy="624713"/>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One self-hosted web app that discovers, identifies, names and watches every device on the LAN — and hands the whole inventory to Home Assistant.</a:t>
            </a:r>
            <a:endParaRPr lang="en-US" sz="1150" dirty="0"/>
          </a:p>
        </p:txBody>
      </p:sp>
      <p:sp>
        <p:nvSpPr>
          <p:cNvPr id="13" name="Shape 10"/>
          <p:cNvSpPr/>
          <p:nvPr/>
        </p:nvSpPr>
        <p:spPr>
          <a:xfrm>
            <a:off x="708660" y="2334014"/>
            <a:ext cx="105613" cy="105613"/>
          </a:xfrm>
          <a:prstGeom prst="ellipse">
            <a:avLst/>
          </a:prstGeom>
          <a:solidFill>
            <a:srgbClr val="3D6FF5"/>
          </a:solidFill>
          <a:ln/>
        </p:spPr>
        <p:txBody>
          <a:bodyPr/>
          <a:lstStyle/>
          <a:p>
            <a:endParaRPr lang="en-TR"/>
          </a:p>
        </p:txBody>
      </p:sp>
      <p:sp>
        <p:nvSpPr>
          <p:cNvPr id="14" name="Text 11"/>
          <p:cNvSpPr txBox="1"/>
          <p:nvPr/>
        </p:nvSpPr>
        <p:spPr>
          <a:xfrm>
            <a:off x="914400" y="2223371"/>
            <a:ext cx="6071616"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Discover</a:t>
            </a:r>
            <a:r>
              <a:rPr lang="en-US" sz="1100" dirty="0">
                <a:solidFill>
                  <a:srgbClr val="606A79"/>
                </a:solidFill>
                <a:latin typeface="Saira" pitchFamily="34" charset="0"/>
                <a:ea typeface="Saira" pitchFamily="34" charset="-122"/>
                <a:cs typeface="Saira" pitchFamily="34" charset="-120"/>
              </a:rPr>
              <a:t> — automatic range detection, raw ARP layer-2 sweep, 1000+ port service detection through nmap.</a:t>
            </a:r>
            <a:endParaRPr lang="en-US" sz="1100" dirty="0"/>
          </a:p>
        </p:txBody>
      </p:sp>
      <p:sp>
        <p:nvSpPr>
          <p:cNvPr id="15" name="Shape 12"/>
          <p:cNvSpPr/>
          <p:nvPr/>
        </p:nvSpPr>
        <p:spPr>
          <a:xfrm>
            <a:off x="708660" y="2913642"/>
            <a:ext cx="105613" cy="105613"/>
          </a:xfrm>
          <a:prstGeom prst="ellipse">
            <a:avLst/>
          </a:prstGeom>
          <a:solidFill>
            <a:srgbClr val="17A05C"/>
          </a:solidFill>
          <a:ln/>
        </p:spPr>
        <p:txBody>
          <a:bodyPr/>
          <a:lstStyle/>
          <a:p>
            <a:endParaRPr lang="en-TR"/>
          </a:p>
        </p:txBody>
      </p:sp>
      <p:sp>
        <p:nvSpPr>
          <p:cNvPr id="16" name="Text 13"/>
          <p:cNvSpPr txBox="1"/>
          <p:nvPr/>
        </p:nvSpPr>
        <p:spPr>
          <a:xfrm>
            <a:off x="914400" y="2802999"/>
            <a:ext cx="6071616"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Identify</a:t>
            </a:r>
            <a:r>
              <a:rPr lang="en-US" sz="1100" dirty="0">
                <a:solidFill>
                  <a:srgbClr val="606A79"/>
                </a:solidFill>
                <a:latin typeface="Saira" pitchFamily="34" charset="0"/>
                <a:ea typeface="Saira" pitchFamily="34" charset="-122"/>
                <a:cs typeface="Saira" pitchFamily="34" charset="-120"/>
              </a:rPr>
              <a:t> — IEEE OUI (37,000+ vendors), hostname patterns, service signatures, and an optional </a:t>
            </a:r>
            <a:r>
              <a:rPr lang="en-US" sz="1100" dirty="0">
                <a:solidFill>
                  <a:srgbClr val="141A24"/>
                </a:solidFill>
                <a:latin typeface="Saira Medium" pitchFamily="34" charset="0"/>
                <a:ea typeface="Saira Medium" pitchFamily="34" charset="-122"/>
                <a:cs typeface="Saira Medium" pitchFamily="34" charset="-120"/>
              </a:rPr>
              <a:t>Identify with AI</a:t>
            </a:r>
            <a:r>
              <a:rPr lang="en-US" sz="1100" dirty="0">
                <a:solidFill>
                  <a:srgbClr val="606A79"/>
                </a:solidFill>
                <a:latin typeface="Saira" pitchFamily="34" charset="0"/>
                <a:ea typeface="Saira" pitchFamily="34" charset="-122"/>
                <a:cs typeface="Saira" pitchFamily="34" charset="-120"/>
              </a:rPr>
              <a:t> pass.</a:t>
            </a:r>
            <a:endParaRPr lang="en-US" sz="1100" dirty="0"/>
          </a:p>
        </p:txBody>
      </p:sp>
      <p:sp>
        <p:nvSpPr>
          <p:cNvPr id="17" name="Shape 14"/>
          <p:cNvSpPr/>
          <p:nvPr/>
        </p:nvSpPr>
        <p:spPr>
          <a:xfrm>
            <a:off x="708660" y="3493270"/>
            <a:ext cx="105613" cy="105613"/>
          </a:xfrm>
          <a:prstGeom prst="ellipse">
            <a:avLst/>
          </a:prstGeom>
          <a:solidFill>
            <a:srgbClr val="D98A1F"/>
          </a:solidFill>
          <a:ln/>
        </p:spPr>
        <p:txBody>
          <a:bodyPr/>
          <a:lstStyle/>
          <a:p>
            <a:endParaRPr lang="en-TR"/>
          </a:p>
        </p:txBody>
      </p:sp>
      <p:sp>
        <p:nvSpPr>
          <p:cNvPr id="18" name="Text 15"/>
          <p:cNvSpPr txBox="1"/>
          <p:nvPr/>
        </p:nvSpPr>
        <p:spPr>
          <a:xfrm>
            <a:off x="914400" y="3382627"/>
            <a:ext cx="6071616"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Name and own</a:t>
            </a:r>
            <a:r>
              <a:rPr lang="en-US" sz="1100" dirty="0">
                <a:solidFill>
                  <a:srgbClr val="606A79"/>
                </a:solidFill>
                <a:latin typeface="Saira" pitchFamily="34" charset="0"/>
                <a:ea typeface="Saira" pitchFamily="34" charset="-122"/>
                <a:cs typeface="Saira" pitchFamily="34" charset="-120"/>
              </a:rPr>
              <a:t> — edit any device, add aliases, notes, types and trust levels; back the whole inventory up as JSON.</a:t>
            </a:r>
            <a:endParaRPr lang="en-US" sz="1100" dirty="0"/>
          </a:p>
        </p:txBody>
      </p:sp>
      <p:sp>
        <p:nvSpPr>
          <p:cNvPr id="19" name="Shape 16"/>
          <p:cNvSpPr/>
          <p:nvPr/>
        </p:nvSpPr>
        <p:spPr>
          <a:xfrm>
            <a:off x="708660" y="4072898"/>
            <a:ext cx="105613" cy="105613"/>
          </a:xfrm>
          <a:prstGeom prst="ellipse">
            <a:avLst/>
          </a:prstGeom>
          <a:solidFill>
            <a:srgbClr val="DC3F4A"/>
          </a:solidFill>
          <a:ln/>
        </p:spPr>
        <p:txBody>
          <a:bodyPr/>
          <a:lstStyle/>
          <a:p>
            <a:endParaRPr lang="en-TR"/>
          </a:p>
        </p:txBody>
      </p:sp>
      <p:sp>
        <p:nvSpPr>
          <p:cNvPr id="20" name="Text 17"/>
          <p:cNvSpPr txBox="1"/>
          <p:nvPr/>
        </p:nvSpPr>
        <p:spPr>
          <a:xfrm>
            <a:off x="914400" y="3962255"/>
            <a:ext cx="6071616"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Watch</a:t>
            </a:r>
            <a:r>
              <a:rPr lang="en-US" sz="1100" dirty="0">
                <a:solidFill>
                  <a:srgbClr val="606A79"/>
                </a:solidFill>
                <a:latin typeface="Saira" pitchFamily="34" charset="0"/>
                <a:ea typeface="Saira" pitchFamily="34" charset="-122"/>
                <a:cs typeface="Saira" pitchFamily="34" charset="-120"/>
              </a:rPr>
              <a:t> — scheduled re-scans, a diff against the last run, and alerts on what matters.</a:t>
            </a:r>
            <a:endParaRPr lang="en-US" sz="1100" dirty="0"/>
          </a:p>
        </p:txBody>
      </p:sp>
      <p:sp>
        <p:nvSpPr>
          <p:cNvPr id="21" name="Shape 18"/>
          <p:cNvSpPr/>
          <p:nvPr/>
        </p:nvSpPr>
        <p:spPr>
          <a:xfrm>
            <a:off x="708660" y="4454152"/>
            <a:ext cx="105613" cy="105613"/>
          </a:xfrm>
          <a:prstGeom prst="ellipse">
            <a:avLst/>
          </a:prstGeom>
          <a:solidFill>
            <a:srgbClr val="3D6FF5"/>
          </a:solidFill>
          <a:ln/>
        </p:spPr>
        <p:txBody>
          <a:bodyPr/>
          <a:lstStyle/>
          <a:p>
            <a:endParaRPr lang="en-TR"/>
          </a:p>
        </p:txBody>
      </p:sp>
      <p:sp>
        <p:nvSpPr>
          <p:cNvPr id="22" name="Text 19"/>
          <p:cNvSpPr txBox="1"/>
          <p:nvPr/>
        </p:nvSpPr>
        <p:spPr>
          <a:xfrm>
            <a:off x="914400" y="4343509"/>
            <a:ext cx="6071616"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Integrate</a:t>
            </a:r>
            <a:r>
              <a:rPr lang="en-US" sz="1100" dirty="0">
                <a:solidFill>
                  <a:srgbClr val="606A79"/>
                </a:solidFill>
                <a:latin typeface="Saira" pitchFamily="34" charset="0"/>
                <a:ea typeface="Saira" pitchFamily="34" charset="-122"/>
                <a:cs typeface="Saira" pitchFamily="34" charset="-120"/>
              </a:rPr>
              <a:t> — Home Assistant MQTT Discovery, InfluxDB, Prometheus, and a full documented REST API.</a:t>
            </a:r>
            <a:endParaRPr lang="en-US" sz="1100" dirty="0"/>
          </a:p>
        </p:txBody>
      </p:sp>
      <p:sp>
        <p:nvSpPr>
          <p:cNvPr id="23" name="Shape 20"/>
          <p:cNvSpPr/>
          <p:nvPr/>
        </p:nvSpPr>
        <p:spPr>
          <a:xfrm>
            <a:off x="708660" y="5033780"/>
            <a:ext cx="105613" cy="105613"/>
          </a:xfrm>
          <a:prstGeom prst="ellipse">
            <a:avLst/>
          </a:prstGeom>
          <a:solidFill>
            <a:srgbClr val="17A05C"/>
          </a:solidFill>
          <a:ln/>
        </p:spPr>
        <p:txBody>
          <a:bodyPr/>
          <a:lstStyle/>
          <a:p>
            <a:endParaRPr lang="en-TR"/>
          </a:p>
        </p:txBody>
      </p:sp>
      <p:sp>
        <p:nvSpPr>
          <p:cNvPr id="24" name="Text 21"/>
          <p:cNvSpPr txBox="1"/>
          <p:nvPr/>
        </p:nvSpPr>
        <p:spPr>
          <a:xfrm>
            <a:off x="914400" y="4923137"/>
            <a:ext cx="6071616"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Own it</a:t>
            </a:r>
            <a:r>
              <a:rPr lang="en-US" sz="1100" dirty="0">
                <a:solidFill>
                  <a:srgbClr val="606A79"/>
                </a:solidFill>
                <a:latin typeface="Saira" pitchFamily="34" charset="0"/>
                <a:ea typeface="Saira" pitchFamily="34" charset="-122"/>
                <a:cs typeface="Saira" pitchFamily="34" charset="-120"/>
              </a:rPr>
              <a:t> — AGPL-3.0, one container, runs on the Raspberry Pi you already have.</a:t>
            </a:r>
            <a:endParaRPr lang="en-US" sz="1100" dirty="0"/>
          </a:p>
        </p:txBody>
      </p:sp>
      <p:grpSp>
        <p:nvGrpSpPr>
          <p:cNvPr id="29" name="Group 28">
            <a:extLst>
              <a:ext uri="{FF2B5EF4-FFF2-40B4-BE49-F238E27FC236}">
                <a16:creationId xmlns:a16="http://schemas.microsoft.com/office/drawing/2014/main" id="{5804F428-2286-869B-4918-5A100AC6647A}"/>
              </a:ext>
            </a:extLst>
          </p:cNvPr>
          <p:cNvGrpSpPr/>
          <p:nvPr/>
        </p:nvGrpSpPr>
        <p:grpSpPr>
          <a:xfrm>
            <a:off x="7146036" y="1536156"/>
            <a:ext cx="4901184" cy="4437923"/>
            <a:chOff x="7498080" y="1670613"/>
            <a:chExt cx="4058107" cy="3804810"/>
          </a:xfrm>
        </p:grpSpPr>
        <p:sp>
          <p:nvSpPr>
            <p:cNvPr id="25" name="Shape 22"/>
            <p:cNvSpPr/>
            <p:nvPr/>
          </p:nvSpPr>
          <p:spPr>
            <a:xfrm>
              <a:off x="7539228" y="1720905"/>
              <a:ext cx="4016959" cy="3754518"/>
            </a:xfrm>
            <a:prstGeom prst="rect">
              <a:avLst/>
            </a:prstGeom>
            <a:solidFill>
              <a:srgbClr val="8894A8">
                <a:alpha val="30000"/>
              </a:srgbClr>
            </a:solidFill>
            <a:ln/>
          </p:spPr>
          <p:txBody>
            <a:bodyPr/>
            <a:lstStyle/>
            <a:p>
              <a:endParaRPr lang="en-TR"/>
            </a:p>
          </p:txBody>
        </p:sp>
        <p:pic>
          <p:nvPicPr>
            <p:cNvPr id="26" name="Image 1" descr="/home/claude/decks/products/mynes/img/hero.jpg"/>
            <p:cNvPicPr>
              <a:picLocks noChangeAspect="1"/>
            </p:cNvPicPr>
            <p:nvPr/>
          </p:nvPicPr>
          <p:blipFill>
            <a:blip r:embed="rId4"/>
            <a:stretch>
              <a:fillRect/>
            </a:stretch>
          </p:blipFill>
          <p:spPr>
            <a:xfrm>
              <a:off x="7498080" y="1670613"/>
              <a:ext cx="4016959" cy="3754518"/>
            </a:xfrm>
            <a:prstGeom prst="rect">
              <a:avLst/>
            </a:prstGeom>
          </p:spPr>
        </p:pic>
        <p:sp>
          <p:nvSpPr>
            <p:cNvPr id="27" name="Shape 23"/>
            <p:cNvSpPr/>
            <p:nvPr/>
          </p:nvSpPr>
          <p:spPr>
            <a:xfrm>
              <a:off x="7498080" y="1670613"/>
              <a:ext cx="4016959" cy="3754518"/>
            </a:xfrm>
            <a:prstGeom prst="rect">
              <a:avLst/>
            </a:prstGeom>
            <a:ln w="12700">
              <a:solidFill>
                <a:srgbClr val="E2E7EF"/>
              </a:solidFill>
              <a:prstDash val="solid"/>
            </a:ln>
          </p:spPr>
          <p:txBody>
            <a:bodyPr/>
            <a:lstStyle/>
            <a:p>
              <a:endParaRPr lang="en-T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917905"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917905"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Discovery</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868497"/>
            <a:ext cx="6419088" cy="753110"/>
          </a:xfrm>
          <a:prstGeom prst="rect">
            <a:avLst/>
          </a:prstGeom>
          <a:noFill/>
          <a:ln/>
        </p:spPr>
        <p:txBody>
          <a:bodyPr wrap="square" lIns="0" tIns="0" rIns="0" bIns="0" rtlCol="0" anchor="t"/>
          <a:lstStyle/>
          <a:p>
            <a:pPr marL="0" indent="0" algn="l">
              <a:lnSpc>
                <a:spcPts val="3410"/>
              </a:lnSpc>
              <a:buNone/>
            </a:pPr>
            <a:r>
              <a:rPr lang="en-US" sz="3100" b="1" kern="0" spc="-43" dirty="0">
                <a:solidFill>
                  <a:srgbClr val="141A24"/>
                </a:solidFill>
                <a:latin typeface="Saira Cond" pitchFamily="34" charset="0"/>
                <a:ea typeface="Saira Cond" pitchFamily="34" charset="-122"/>
                <a:cs typeface="Saira Cond" pitchFamily="34" charset="-120"/>
              </a:rPr>
              <a:t>Six protocols, not one.</a:t>
            </a:r>
            <a:endParaRPr lang="en-US" sz="3100" dirty="0"/>
          </a:p>
        </p:txBody>
      </p:sp>
      <p:sp>
        <p:nvSpPr>
          <p:cNvPr id="12" name="Text 9"/>
          <p:cNvSpPr txBox="1"/>
          <p:nvPr/>
        </p:nvSpPr>
        <p:spPr>
          <a:xfrm>
            <a:off x="676656" y="1525148"/>
            <a:ext cx="6309360" cy="412941"/>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MyNeS listens to everything that announces itself, then merges it all into one device record.</a:t>
            </a:r>
            <a:endParaRPr lang="en-US" sz="1150" dirty="0"/>
          </a:p>
        </p:txBody>
      </p:sp>
      <p:sp>
        <p:nvSpPr>
          <p:cNvPr id="13" name="Shape 10"/>
          <p:cNvSpPr/>
          <p:nvPr/>
        </p:nvSpPr>
        <p:spPr>
          <a:xfrm>
            <a:off x="708660" y="2122241"/>
            <a:ext cx="105613" cy="105613"/>
          </a:xfrm>
          <a:prstGeom prst="ellipse">
            <a:avLst/>
          </a:prstGeom>
          <a:solidFill>
            <a:srgbClr val="3D6FF5"/>
          </a:solidFill>
          <a:ln/>
        </p:spPr>
        <p:txBody>
          <a:bodyPr/>
          <a:lstStyle/>
          <a:p>
            <a:endParaRPr lang="en-TR"/>
          </a:p>
        </p:txBody>
      </p:sp>
      <p:sp>
        <p:nvSpPr>
          <p:cNvPr id="14" name="Text 11"/>
          <p:cNvSpPr txBox="1"/>
          <p:nvPr/>
        </p:nvSpPr>
        <p:spPr>
          <a:xfrm>
            <a:off x="914400" y="2011599"/>
            <a:ext cx="6071616"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ARP (layer 2)</a:t>
            </a:r>
            <a:r>
              <a:rPr lang="en-US" sz="1100" dirty="0">
                <a:solidFill>
                  <a:srgbClr val="606A79"/>
                </a:solidFill>
                <a:latin typeface="Saira" pitchFamily="34" charset="0"/>
                <a:ea typeface="Saira" pitchFamily="34" charset="-122"/>
                <a:cs typeface="Saira" pitchFamily="34" charset="-120"/>
              </a:rPr>
              <a:t> — raw frames find devices that never answer a ping. Falls back to ping sweep + OS ARP cache without privileges and tells you it did.</a:t>
            </a:r>
            <a:endParaRPr lang="en-US" sz="1100" dirty="0"/>
          </a:p>
        </p:txBody>
      </p:sp>
      <p:sp>
        <p:nvSpPr>
          <p:cNvPr id="15" name="Shape 12"/>
          <p:cNvSpPr/>
          <p:nvPr/>
        </p:nvSpPr>
        <p:spPr>
          <a:xfrm>
            <a:off x="708660" y="2701869"/>
            <a:ext cx="105613" cy="105613"/>
          </a:xfrm>
          <a:prstGeom prst="ellipse">
            <a:avLst/>
          </a:prstGeom>
          <a:solidFill>
            <a:srgbClr val="17A05C"/>
          </a:solidFill>
          <a:ln/>
        </p:spPr>
        <p:txBody>
          <a:bodyPr/>
          <a:lstStyle/>
          <a:p>
            <a:endParaRPr lang="en-TR"/>
          </a:p>
        </p:txBody>
      </p:sp>
      <p:sp>
        <p:nvSpPr>
          <p:cNvPr id="16" name="Text 13"/>
          <p:cNvSpPr txBox="1"/>
          <p:nvPr/>
        </p:nvSpPr>
        <p:spPr>
          <a:xfrm>
            <a:off x="914400" y="2591227"/>
            <a:ext cx="6071616"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mDNS / Bonjour</a:t>
            </a:r>
            <a:r>
              <a:rPr lang="en-US" sz="1100" dirty="0">
                <a:solidFill>
                  <a:srgbClr val="606A79"/>
                </a:solidFill>
                <a:latin typeface="Saira" pitchFamily="34" charset="0"/>
                <a:ea typeface="Saira" pitchFamily="34" charset="-122"/>
                <a:cs typeface="Saira" pitchFamily="34" charset="-120"/>
              </a:rPr>
              <a:t> — printers, NAS boxes, Chromecasts, HomeKit bridges.</a:t>
            </a:r>
            <a:endParaRPr lang="en-US" sz="1100" dirty="0"/>
          </a:p>
        </p:txBody>
      </p:sp>
      <p:sp>
        <p:nvSpPr>
          <p:cNvPr id="17" name="Shape 14"/>
          <p:cNvSpPr/>
          <p:nvPr/>
        </p:nvSpPr>
        <p:spPr>
          <a:xfrm>
            <a:off x="708660" y="3083123"/>
            <a:ext cx="105613" cy="105613"/>
          </a:xfrm>
          <a:prstGeom prst="ellipse">
            <a:avLst/>
          </a:prstGeom>
          <a:solidFill>
            <a:srgbClr val="D98A1F"/>
          </a:solidFill>
          <a:ln/>
        </p:spPr>
        <p:txBody>
          <a:bodyPr/>
          <a:lstStyle/>
          <a:p>
            <a:endParaRPr lang="en-TR"/>
          </a:p>
        </p:txBody>
      </p:sp>
      <p:sp>
        <p:nvSpPr>
          <p:cNvPr id="18" name="Text 15"/>
          <p:cNvSpPr txBox="1"/>
          <p:nvPr/>
        </p:nvSpPr>
        <p:spPr>
          <a:xfrm>
            <a:off x="914400" y="2972481"/>
            <a:ext cx="6071616"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Matter</a:t>
            </a:r>
            <a:r>
              <a:rPr lang="en-US" sz="1100" dirty="0">
                <a:solidFill>
                  <a:srgbClr val="606A79"/>
                </a:solidFill>
                <a:latin typeface="Saira" pitchFamily="34" charset="0"/>
                <a:ea typeface="Saira" pitchFamily="34" charset="-122"/>
                <a:cs typeface="Saira" pitchFamily="34" charset="-120"/>
              </a:rPr>
              <a:t> — </a:t>
            </a:r>
            <a:r>
              <a:rPr lang="en-US" sz="990" dirty="0">
                <a:solidFill>
                  <a:srgbClr val="141A24"/>
                </a:solidFill>
                <a:latin typeface="Sometype Mono" pitchFamily="34" charset="0"/>
                <a:ea typeface="Sometype Mono" pitchFamily="34" charset="-122"/>
                <a:cs typeface="Sometype Mono" pitchFamily="34" charset="-120"/>
              </a:rPr>
              <a:t>_matter._tcp</a:t>
            </a:r>
            <a:r>
              <a:rPr lang="en-US" sz="1100" dirty="0">
                <a:solidFill>
                  <a:srgbClr val="606A79"/>
                </a:solidFill>
                <a:latin typeface="Saira" pitchFamily="34" charset="0"/>
                <a:ea typeface="Saira" pitchFamily="34" charset="-122"/>
                <a:cs typeface="Saira" pitchFamily="34" charset="-120"/>
              </a:rPr>
              <a:t> announcements over mDNS.</a:t>
            </a:r>
            <a:endParaRPr lang="en-US" sz="1100" dirty="0"/>
          </a:p>
        </p:txBody>
      </p:sp>
      <p:sp>
        <p:nvSpPr>
          <p:cNvPr id="19" name="Shape 16"/>
          <p:cNvSpPr/>
          <p:nvPr/>
        </p:nvSpPr>
        <p:spPr>
          <a:xfrm>
            <a:off x="708660" y="3464377"/>
            <a:ext cx="105613" cy="105613"/>
          </a:xfrm>
          <a:prstGeom prst="ellipse">
            <a:avLst/>
          </a:prstGeom>
          <a:solidFill>
            <a:srgbClr val="DC3F4A"/>
          </a:solidFill>
          <a:ln/>
        </p:spPr>
        <p:txBody>
          <a:bodyPr/>
          <a:lstStyle/>
          <a:p>
            <a:endParaRPr lang="en-TR"/>
          </a:p>
        </p:txBody>
      </p:sp>
      <p:sp>
        <p:nvSpPr>
          <p:cNvPr id="20" name="Text 17"/>
          <p:cNvSpPr txBox="1"/>
          <p:nvPr/>
        </p:nvSpPr>
        <p:spPr>
          <a:xfrm>
            <a:off x="914400" y="3353735"/>
            <a:ext cx="6071616"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SSDP / UPnP</a:t>
            </a:r>
            <a:r>
              <a:rPr lang="en-US" sz="1100" dirty="0">
                <a:solidFill>
                  <a:srgbClr val="606A79"/>
                </a:solidFill>
                <a:latin typeface="Saira" pitchFamily="34" charset="0"/>
                <a:ea typeface="Saira" pitchFamily="34" charset="-122"/>
                <a:cs typeface="Saira" pitchFamily="34" charset="-120"/>
              </a:rPr>
              <a:t> — routers, smart TVs, cameras, consoles.</a:t>
            </a:r>
            <a:endParaRPr lang="en-US" sz="1100" dirty="0"/>
          </a:p>
        </p:txBody>
      </p:sp>
      <p:sp>
        <p:nvSpPr>
          <p:cNvPr id="21" name="Shape 18"/>
          <p:cNvSpPr/>
          <p:nvPr/>
        </p:nvSpPr>
        <p:spPr>
          <a:xfrm>
            <a:off x="708660" y="3845631"/>
            <a:ext cx="105613" cy="105613"/>
          </a:xfrm>
          <a:prstGeom prst="ellipse">
            <a:avLst/>
          </a:prstGeom>
          <a:solidFill>
            <a:srgbClr val="3D6FF5"/>
          </a:solidFill>
          <a:ln/>
        </p:spPr>
        <p:txBody>
          <a:bodyPr/>
          <a:lstStyle/>
          <a:p>
            <a:endParaRPr lang="en-TR"/>
          </a:p>
        </p:txBody>
      </p:sp>
      <p:sp>
        <p:nvSpPr>
          <p:cNvPr id="22" name="Text 19"/>
          <p:cNvSpPr txBox="1"/>
          <p:nvPr/>
        </p:nvSpPr>
        <p:spPr>
          <a:xfrm>
            <a:off x="914400" y="3734989"/>
            <a:ext cx="6071616"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Bluetooth LE</a:t>
            </a:r>
            <a:r>
              <a:rPr lang="en-US" sz="1100" dirty="0">
                <a:solidFill>
                  <a:srgbClr val="606A79"/>
                </a:solidFill>
                <a:latin typeface="Saira" pitchFamily="34" charset="0"/>
                <a:ea typeface="Saira" pitchFamily="34" charset="-122"/>
                <a:cs typeface="Saira" pitchFamily="34" charset="-120"/>
              </a:rPr>
              <a:t> — the devices with no IP address at all.</a:t>
            </a:r>
            <a:endParaRPr lang="en-US" sz="1100" dirty="0"/>
          </a:p>
        </p:txBody>
      </p:sp>
      <p:sp>
        <p:nvSpPr>
          <p:cNvPr id="23" name="Shape 20"/>
          <p:cNvSpPr/>
          <p:nvPr/>
        </p:nvSpPr>
        <p:spPr>
          <a:xfrm>
            <a:off x="708660" y="4226885"/>
            <a:ext cx="105613" cy="105613"/>
          </a:xfrm>
          <a:prstGeom prst="ellipse">
            <a:avLst/>
          </a:prstGeom>
          <a:solidFill>
            <a:srgbClr val="17A05C"/>
          </a:solidFill>
          <a:ln/>
        </p:spPr>
        <p:txBody>
          <a:bodyPr/>
          <a:lstStyle/>
          <a:p>
            <a:endParaRPr lang="en-TR"/>
          </a:p>
        </p:txBody>
      </p:sp>
      <p:sp>
        <p:nvSpPr>
          <p:cNvPr id="24" name="Text 21"/>
          <p:cNvSpPr txBox="1"/>
          <p:nvPr/>
        </p:nvSpPr>
        <p:spPr>
          <a:xfrm>
            <a:off x="914400" y="4116243"/>
            <a:ext cx="6071616"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MQTT</a:t>
            </a:r>
            <a:r>
              <a:rPr lang="en-US" sz="1100" dirty="0">
                <a:solidFill>
                  <a:srgbClr val="606A79"/>
                </a:solidFill>
                <a:latin typeface="Saira" pitchFamily="34" charset="0"/>
                <a:ea typeface="Saira" pitchFamily="34" charset="-122"/>
                <a:cs typeface="Saira" pitchFamily="34" charset="-120"/>
              </a:rPr>
              <a:t> — Zigbee2MQTT, Z-Wave JS and Tasmota retained topics (needs your existing broker).</a:t>
            </a:r>
            <a:endParaRPr lang="en-US" sz="1100" dirty="0"/>
          </a:p>
        </p:txBody>
      </p:sp>
      <p:sp>
        <p:nvSpPr>
          <p:cNvPr id="25" name="Shape 22"/>
          <p:cNvSpPr/>
          <p:nvPr/>
        </p:nvSpPr>
        <p:spPr>
          <a:xfrm>
            <a:off x="708660" y="4608139"/>
            <a:ext cx="105613" cy="105613"/>
          </a:xfrm>
          <a:prstGeom prst="ellipse">
            <a:avLst/>
          </a:prstGeom>
          <a:solidFill>
            <a:srgbClr val="D98A1F"/>
          </a:solidFill>
          <a:ln/>
        </p:spPr>
        <p:txBody>
          <a:bodyPr/>
          <a:lstStyle/>
          <a:p>
            <a:endParaRPr lang="en-TR"/>
          </a:p>
        </p:txBody>
      </p:sp>
      <p:sp>
        <p:nvSpPr>
          <p:cNvPr id="26" name="Text 23"/>
          <p:cNvSpPr txBox="1"/>
          <p:nvPr/>
        </p:nvSpPr>
        <p:spPr>
          <a:xfrm>
            <a:off x="914400" y="4497497"/>
            <a:ext cx="6071616"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Docker</a:t>
            </a:r>
            <a:r>
              <a:rPr lang="en-US" sz="1100" dirty="0">
                <a:solidFill>
                  <a:srgbClr val="606A79"/>
                </a:solidFill>
                <a:latin typeface="Saira" pitchFamily="34" charset="0"/>
                <a:ea typeface="Saira" pitchFamily="34" charset="-122"/>
                <a:cs typeface="Saira" pitchFamily="34" charset="-120"/>
              </a:rPr>
              <a:t> — running containers, their virtual networks and IP assignments, nested under the host that runs them.</a:t>
            </a:r>
            <a:endParaRPr lang="en-US" sz="1100" dirty="0"/>
          </a:p>
        </p:txBody>
      </p:sp>
      <p:grpSp>
        <p:nvGrpSpPr>
          <p:cNvPr id="31" name="Group 30">
            <a:extLst>
              <a:ext uri="{FF2B5EF4-FFF2-40B4-BE49-F238E27FC236}">
                <a16:creationId xmlns:a16="http://schemas.microsoft.com/office/drawing/2014/main" id="{BCFA67A0-DFFC-43C5-8B71-7A5F04253CB4}"/>
              </a:ext>
            </a:extLst>
          </p:cNvPr>
          <p:cNvGrpSpPr/>
          <p:nvPr/>
        </p:nvGrpSpPr>
        <p:grpSpPr>
          <a:xfrm>
            <a:off x="7095744" y="1525148"/>
            <a:ext cx="4881067" cy="4172901"/>
            <a:chOff x="7219493" y="863904"/>
            <a:chExt cx="4058107" cy="3550402"/>
          </a:xfrm>
        </p:grpSpPr>
        <p:sp>
          <p:nvSpPr>
            <p:cNvPr id="27" name="Shape 24"/>
            <p:cNvSpPr/>
            <p:nvPr/>
          </p:nvSpPr>
          <p:spPr>
            <a:xfrm>
              <a:off x="7260641" y="914196"/>
              <a:ext cx="4016959" cy="3500110"/>
            </a:xfrm>
            <a:prstGeom prst="rect">
              <a:avLst/>
            </a:prstGeom>
            <a:solidFill>
              <a:srgbClr val="8894A8">
                <a:alpha val="30000"/>
              </a:srgbClr>
            </a:solidFill>
            <a:ln/>
          </p:spPr>
          <p:txBody>
            <a:bodyPr/>
            <a:lstStyle/>
            <a:p>
              <a:endParaRPr lang="en-TR"/>
            </a:p>
          </p:txBody>
        </p:sp>
        <p:pic>
          <p:nvPicPr>
            <p:cNvPr id="28" name="Image 1" descr="/home/claude/decks/products/mynes/img/discovery.jpg"/>
            <p:cNvPicPr>
              <a:picLocks noChangeAspect="1"/>
            </p:cNvPicPr>
            <p:nvPr/>
          </p:nvPicPr>
          <p:blipFill>
            <a:blip r:embed="rId4"/>
            <a:stretch>
              <a:fillRect/>
            </a:stretch>
          </p:blipFill>
          <p:spPr>
            <a:xfrm>
              <a:off x="7219493" y="863904"/>
              <a:ext cx="4016959" cy="3500110"/>
            </a:xfrm>
            <a:prstGeom prst="rect">
              <a:avLst/>
            </a:prstGeom>
          </p:spPr>
        </p:pic>
        <p:sp>
          <p:nvSpPr>
            <p:cNvPr id="29" name="Shape 25"/>
            <p:cNvSpPr/>
            <p:nvPr/>
          </p:nvSpPr>
          <p:spPr>
            <a:xfrm>
              <a:off x="7219493" y="863904"/>
              <a:ext cx="4016959" cy="3500110"/>
            </a:xfrm>
            <a:prstGeom prst="rect">
              <a:avLst/>
            </a:prstGeom>
            <a:ln w="12700">
              <a:solidFill>
                <a:srgbClr val="E2E7EF"/>
              </a:solidFill>
              <a:prstDash val="solid"/>
            </a:ln>
          </p:spPr>
          <p:txBody>
            <a:bodyPr/>
            <a:lstStyle/>
            <a:p>
              <a:endParaRPr lang="en-T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931374"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931374"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The views</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868497"/>
            <a:ext cx="6419088" cy="753110"/>
          </a:xfrm>
          <a:prstGeom prst="rect">
            <a:avLst/>
          </a:prstGeom>
          <a:noFill/>
          <a:ln/>
        </p:spPr>
        <p:txBody>
          <a:bodyPr wrap="square" lIns="0" tIns="0" rIns="0" bIns="0" rtlCol="0" anchor="t"/>
          <a:lstStyle/>
          <a:p>
            <a:pPr marL="0" indent="0" algn="l">
              <a:lnSpc>
                <a:spcPts val="3410"/>
              </a:lnSpc>
              <a:buNone/>
            </a:pPr>
            <a:r>
              <a:rPr lang="en-US" sz="3100" b="1" kern="0" spc="-43" dirty="0">
                <a:solidFill>
                  <a:srgbClr val="141A24"/>
                </a:solidFill>
                <a:latin typeface="Saira Cond" pitchFamily="34" charset="0"/>
                <a:ea typeface="Saira Cond" pitchFamily="34" charset="-122"/>
                <a:cs typeface="Saira Cond" pitchFamily="34" charset="-120"/>
              </a:rPr>
              <a:t>A device list is not a network.</a:t>
            </a:r>
            <a:endParaRPr lang="en-US" sz="3100" dirty="0"/>
          </a:p>
        </p:txBody>
      </p:sp>
      <p:sp>
        <p:nvSpPr>
          <p:cNvPr id="12" name="Text 9"/>
          <p:cNvSpPr txBox="1"/>
          <p:nvPr/>
        </p:nvSpPr>
        <p:spPr>
          <a:xfrm>
            <a:off x="676656" y="1525148"/>
            <a:ext cx="6309360" cy="412941"/>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The same inventory, read five ways — switched from one control in the toolbar.</a:t>
            </a:r>
            <a:endParaRPr lang="en-US" sz="1150" dirty="0"/>
          </a:p>
        </p:txBody>
      </p:sp>
      <p:sp>
        <p:nvSpPr>
          <p:cNvPr id="13" name="Shape 10"/>
          <p:cNvSpPr/>
          <p:nvPr/>
        </p:nvSpPr>
        <p:spPr>
          <a:xfrm>
            <a:off x="708660" y="2122241"/>
            <a:ext cx="105613" cy="105613"/>
          </a:xfrm>
          <a:prstGeom prst="ellipse">
            <a:avLst/>
          </a:prstGeom>
          <a:solidFill>
            <a:srgbClr val="3D6FF5"/>
          </a:solidFill>
          <a:ln/>
        </p:spPr>
        <p:txBody>
          <a:bodyPr/>
          <a:lstStyle/>
          <a:p>
            <a:endParaRPr lang="en-TR"/>
          </a:p>
        </p:txBody>
      </p:sp>
      <p:sp>
        <p:nvSpPr>
          <p:cNvPr id="14" name="Text 11"/>
          <p:cNvSpPr txBox="1"/>
          <p:nvPr/>
        </p:nvSpPr>
        <p:spPr>
          <a:xfrm>
            <a:off x="914400" y="2011599"/>
            <a:ext cx="6071616"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Card</a:t>
            </a:r>
            <a:r>
              <a:rPr lang="en-US" sz="1100" dirty="0">
                <a:solidFill>
                  <a:srgbClr val="606A79"/>
                </a:solidFill>
                <a:latin typeface="Saira" pitchFamily="34" charset="0"/>
                <a:ea typeface="Saira" pitchFamily="34" charset="-122"/>
                <a:cs typeface="Saira" pitchFamily="34" charset="-120"/>
              </a:rPr>
              <a:t> and </a:t>
            </a:r>
            <a:r>
              <a:rPr lang="en-US" sz="1100" dirty="0">
                <a:solidFill>
                  <a:srgbClr val="141A24"/>
                </a:solidFill>
                <a:latin typeface="Saira Medium" pitchFamily="34" charset="0"/>
                <a:ea typeface="Saira Medium" pitchFamily="34" charset="-122"/>
                <a:cs typeface="Saira Medium" pitchFamily="34" charset="-120"/>
              </a:rPr>
              <a:t>Table</a:t>
            </a:r>
            <a:r>
              <a:rPr lang="en-US" sz="1100" dirty="0">
                <a:solidFill>
                  <a:srgbClr val="606A79"/>
                </a:solidFill>
                <a:latin typeface="Saira" pitchFamily="34" charset="0"/>
                <a:ea typeface="Saira" pitchFamily="34" charset="-122"/>
                <a:cs typeface="Saira" pitchFamily="34" charset="-120"/>
              </a:rPr>
              <a:t> — detail, bulk editing, sortable and reorderable columns.</a:t>
            </a:r>
            <a:endParaRPr lang="en-US" sz="1100" dirty="0"/>
          </a:p>
        </p:txBody>
      </p:sp>
      <p:sp>
        <p:nvSpPr>
          <p:cNvPr id="15" name="Shape 12"/>
          <p:cNvSpPr/>
          <p:nvPr/>
        </p:nvSpPr>
        <p:spPr>
          <a:xfrm>
            <a:off x="708660" y="2503495"/>
            <a:ext cx="105613" cy="105613"/>
          </a:xfrm>
          <a:prstGeom prst="ellipse">
            <a:avLst/>
          </a:prstGeom>
          <a:solidFill>
            <a:srgbClr val="17A05C"/>
          </a:solidFill>
          <a:ln/>
        </p:spPr>
        <p:txBody>
          <a:bodyPr/>
          <a:lstStyle/>
          <a:p>
            <a:endParaRPr lang="en-TR"/>
          </a:p>
        </p:txBody>
      </p:sp>
      <p:sp>
        <p:nvSpPr>
          <p:cNvPr id="16" name="Text 13"/>
          <p:cNvSpPr txBox="1"/>
          <p:nvPr/>
        </p:nvSpPr>
        <p:spPr>
          <a:xfrm>
            <a:off x="914400" y="2392853"/>
            <a:ext cx="4803937"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Graph</a:t>
            </a:r>
            <a:r>
              <a:rPr lang="en-US" sz="1100" dirty="0">
                <a:solidFill>
                  <a:srgbClr val="606A79"/>
                </a:solidFill>
                <a:latin typeface="Saira" pitchFamily="34" charset="0"/>
                <a:ea typeface="Saira" pitchFamily="34" charset="-122"/>
                <a:cs typeface="Saira" pitchFamily="34" charset="-120"/>
              </a:rPr>
              <a:t> — the whole network at a glance, with subnet gateways at the centre. A host's Docker bridge networks group </a:t>
            </a:r>
            <a:r>
              <a:rPr lang="en-US" sz="1100" i="1" dirty="0">
                <a:solidFill>
                  <a:srgbClr val="606A79"/>
                </a:solidFill>
                <a:latin typeface="Saira" pitchFamily="34" charset="0"/>
                <a:ea typeface="Saira" pitchFamily="34" charset="-122"/>
                <a:cs typeface="Saira" pitchFamily="34" charset="-120"/>
              </a:rPr>
              <a:t>under</a:t>
            </a:r>
            <a:r>
              <a:rPr lang="en-US" sz="1100" dirty="0">
                <a:solidFill>
                  <a:srgbClr val="606A79"/>
                </a:solidFill>
                <a:latin typeface="Saira" pitchFamily="34" charset="0"/>
                <a:ea typeface="Saira" pitchFamily="34" charset="-122"/>
                <a:cs typeface="Saira" pitchFamily="34" charset="-120"/>
              </a:rPr>
              <a:t> that host, not as peer LANs.</a:t>
            </a:r>
            <a:endParaRPr lang="en-US" sz="1100" dirty="0"/>
          </a:p>
        </p:txBody>
      </p:sp>
      <p:sp>
        <p:nvSpPr>
          <p:cNvPr id="17" name="Shape 14"/>
          <p:cNvSpPr/>
          <p:nvPr/>
        </p:nvSpPr>
        <p:spPr>
          <a:xfrm>
            <a:off x="708660" y="3083123"/>
            <a:ext cx="105613" cy="105613"/>
          </a:xfrm>
          <a:prstGeom prst="ellipse">
            <a:avLst/>
          </a:prstGeom>
          <a:solidFill>
            <a:srgbClr val="D98A1F"/>
          </a:solidFill>
          <a:ln/>
        </p:spPr>
        <p:txBody>
          <a:bodyPr/>
          <a:lstStyle/>
          <a:p>
            <a:endParaRPr lang="en-TR"/>
          </a:p>
        </p:txBody>
      </p:sp>
      <p:sp>
        <p:nvSpPr>
          <p:cNvPr id="18" name="Text 15"/>
          <p:cNvSpPr txBox="1"/>
          <p:nvPr/>
        </p:nvSpPr>
        <p:spPr>
          <a:xfrm>
            <a:off x="914400" y="2972481"/>
            <a:ext cx="6071616"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Topology</a:t>
            </a:r>
            <a:r>
              <a:rPr lang="en-US" sz="1100" dirty="0">
                <a:solidFill>
                  <a:srgbClr val="606A79"/>
                </a:solidFill>
                <a:latin typeface="Saira" pitchFamily="34" charset="0"/>
                <a:ea typeface="Saira" pitchFamily="34" charset="-122"/>
                <a:cs typeface="Saira" pitchFamily="34" charset="-120"/>
              </a:rPr>
              <a:t> — what is plugged into what: </a:t>
            </a:r>
            <a:r>
              <a:rPr lang="en-US" sz="990" dirty="0">
                <a:solidFill>
                  <a:srgbClr val="141A24"/>
                </a:solidFill>
                <a:latin typeface="Sometype Mono" pitchFamily="34" charset="0"/>
                <a:ea typeface="Sometype Mono" pitchFamily="34" charset="-122"/>
                <a:cs typeface="Sometype Mono" pitchFamily="34" charset="-120"/>
              </a:rPr>
              <a:t>Internet → router → switch/AP → group → device</a:t>
            </a:r>
            <a:r>
              <a:rPr lang="en-US" sz="1100" dirty="0">
                <a:solidFill>
                  <a:srgbClr val="606A79"/>
                </a:solidFill>
                <a:latin typeface="Saira" pitchFamily="34" charset="0"/>
                <a:ea typeface="Saira" pitchFamily="34" charset="-122"/>
                <a:cs typeface="Saira" pitchFamily="34" charset="-120"/>
              </a:rPr>
              <a:t>.</a:t>
            </a:r>
            <a:endParaRPr lang="en-US" sz="1100" dirty="0"/>
          </a:p>
        </p:txBody>
      </p:sp>
      <p:sp>
        <p:nvSpPr>
          <p:cNvPr id="19" name="Shape 16"/>
          <p:cNvSpPr/>
          <p:nvPr/>
        </p:nvSpPr>
        <p:spPr>
          <a:xfrm>
            <a:off x="708660" y="3464377"/>
            <a:ext cx="105613" cy="105613"/>
          </a:xfrm>
          <a:prstGeom prst="ellipse">
            <a:avLst/>
          </a:prstGeom>
          <a:solidFill>
            <a:srgbClr val="DC3F4A"/>
          </a:solidFill>
          <a:ln/>
        </p:spPr>
        <p:txBody>
          <a:bodyPr/>
          <a:lstStyle/>
          <a:p>
            <a:endParaRPr lang="en-TR"/>
          </a:p>
        </p:txBody>
      </p:sp>
      <p:sp>
        <p:nvSpPr>
          <p:cNvPr id="20" name="Text 17"/>
          <p:cNvSpPr txBox="1"/>
          <p:nvPr/>
        </p:nvSpPr>
        <p:spPr>
          <a:xfrm>
            <a:off x="914400" y="3353735"/>
            <a:ext cx="6071616"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Floor plan</a:t>
            </a:r>
            <a:r>
              <a:rPr lang="en-US" sz="1100" dirty="0">
                <a:solidFill>
                  <a:srgbClr val="606A79"/>
                </a:solidFill>
                <a:latin typeface="Saira" pitchFamily="34" charset="0"/>
                <a:ea typeface="Saira" pitchFamily="34" charset="-122"/>
                <a:cs typeface="Saira" pitchFamily="34" charset="-120"/>
              </a:rPr>
              <a:t> — drag each device onto a plan of your actual home.</a:t>
            </a:r>
            <a:endParaRPr lang="en-US" sz="1100" dirty="0"/>
          </a:p>
        </p:txBody>
      </p:sp>
      <p:sp>
        <p:nvSpPr>
          <p:cNvPr id="21" name="Shape 18"/>
          <p:cNvSpPr/>
          <p:nvPr/>
        </p:nvSpPr>
        <p:spPr>
          <a:xfrm>
            <a:off x="708660" y="3845631"/>
            <a:ext cx="105613" cy="105613"/>
          </a:xfrm>
          <a:prstGeom prst="ellipse">
            <a:avLst/>
          </a:prstGeom>
          <a:solidFill>
            <a:srgbClr val="3D6FF5"/>
          </a:solidFill>
          <a:ln/>
        </p:spPr>
        <p:txBody>
          <a:bodyPr/>
          <a:lstStyle/>
          <a:p>
            <a:endParaRPr lang="en-TR"/>
          </a:p>
        </p:txBody>
      </p:sp>
      <p:sp>
        <p:nvSpPr>
          <p:cNvPr id="22" name="Text 19"/>
          <p:cNvSpPr txBox="1"/>
          <p:nvPr/>
        </p:nvSpPr>
        <p:spPr>
          <a:xfrm>
            <a:off x="914400" y="3734989"/>
            <a:ext cx="6071616" cy="417830"/>
          </a:xfrm>
          <a:prstGeom prst="rect">
            <a:avLst/>
          </a:prstGeom>
          <a:noFill/>
          <a:ln/>
        </p:spPr>
        <p:txBody>
          <a:bodyPr wrap="square" lIns="0" tIns="0" rIns="0" bIns="0" rtlCol="0" anchor="t"/>
          <a:lstStyle/>
          <a:p>
            <a:pPr marL="0" indent="0" algn="l">
              <a:lnSpc>
                <a:spcPts val="1562"/>
              </a:lnSpc>
              <a:buNone/>
            </a:pPr>
            <a:r>
              <a:rPr lang="en-US" sz="1100" dirty="0">
                <a:solidFill>
                  <a:srgbClr val="606A79"/>
                </a:solidFill>
                <a:latin typeface="Saira" pitchFamily="34" charset="0"/>
                <a:ea typeface="Saira" pitchFamily="34" charset="-122"/>
                <a:cs typeface="Saira" pitchFamily="34" charset="-120"/>
              </a:rPr>
              <a:t>All five read the same store, so a rename in one is a rename everywhere.</a:t>
            </a:r>
            <a:endParaRPr lang="en-US" sz="1100" dirty="0"/>
          </a:p>
        </p:txBody>
      </p:sp>
      <p:sp>
        <p:nvSpPr>
          <p:cNvPr id="23" name="Shape 20"/>
          <p:cNvSpPr/>
          <p:nvPr/>
        </p:nvSpPr>
        <p:spPr>
          <a:xfrm>
            <a:off x="5956081" y="822229"/>
            <a:ext cx="6134321" cy="5766024"/>
          </a:xfrm>
          <a:prstGeom prst="rect">
            <a:avLst/>
          </a:prstGeom>
          <a:solidFill>
            <a:srgbClr val="8894A8">
              <a:alpha val="30000"/>
            </a:srgbClr>
          </a:solidFill>
          <a:ln/>
        </p:spPr>
        <p:txBody>
          <a:bodyPr/>
          <a:lstStyle/>
          <a:p>
            <a:endParaRPr lang="en-TR"/>
          </a:p>
        </p:txBody>
      </p:sp>
      <p:pic>
        <p:nvPicPr>
          <p:cNvPr id="24" name="Image 1" descr="/home/claude/decks/products/mynes/img/graph.jpg"/>
          <p:cNvPicPr>
            <a:picLocks noChangeAspect="1"/>
          </p:cNvPicPr>
          <p:nvPr/>
        </p:nvPicPr>
        <p:blipFill>
          <a:blip r:embed="rId4"/>
          <a:srcRect l="18464" t="3787" r="11355"/>
          <a:stretch>
            <a:fillRect/>
          </a:stretch>
        </p:blipFill>
        <p:spPr>
          <a:xfrm>
            <a:off x="5818464" y="754359"/>
            <a:ext cx="6229434" cy="5780890"/>
          </a:xfrm>
          <a:prstGeom prst="rect">
            <a:avLst/>
          </a:prstGeom>
        </p:spPr>
      </p:pic>
      <p:sp>
        <p:nvSpPr>
          <p:cNvPr id="25" name="Shape 21"/>
          <p:cNvSpPr/>
          <p:nvPr/>
        </p:nvSpPr>
        <p:spPr>
          <a:xfrm>
            <a:off x="5818464" y="754358"/>
            <a:ext cx="6229434" cy="5766024"/>
          </a:xfrm>
          <a:prstGeom prst="rect">
            <a:avLst/>
          </a:prstGeom>
          <a:ln w="12700">
            <a:solidFill>
              <a:srgbClr val="E2E7EF"/>
            </a:solidFill>
            <a:prstDash val="solid"/>
          </a:ln>
        </p:spPr>
        <p:txBody>
          <a:bodyPr/>
          <a:lstStyle/>
          <a:p>
            <a:endParaRPr lang="en-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931374"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931374"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The views</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868497"/>
            <a:ext cx="6419088" cy="753110"/>
          </a:xfrm>
          <a:prstGeom prst="rect">
            <a:avLst/>
          </a:prstGeom>
          <a:noFill/>
          <a:ln/>
        </p:spPr>
        <p:txBody>
          <a:bodyPr wrap="square" lIns="0" tIns="0" rIns="0" bIns="0" rtlCol="0" anchor="t"/>
          <a:lstStyle/>
          <a:p>
            <a:pPr marL="0" indent="0" algn="l">
              <a:lnSpc>
                <a:spcPts val="3410"/>
              </a:lnSpc>
              <a:buNone/>
            </a:pPr>
            <a:r>
              <a:rPr lang="en-US" sz="3100" b="1" kern="0" spc="-43" dirty="0">
                <a:solidFill>
                  <a:srgbClr val="141A24"/>
                </a:solidFill>
                <a:latin typeface="Saira Cond" pitchFamily="34" charset="0"/>
                <a:ea typeface="Saira Cond" pitchFamily="34" charset="-122"/>
                <a:cs typeface="Saira Cond" pitchFamily="34" charset="-120"/>
              </a:rPr>
              <a:t>From cable path to living room.</a:t>
            </a:r>
            <a:endParaRPr lang="en-US" sz="3100" dirty="0"/>
          </a:p>
        </p:txBody>
      </p:sp>
      <p:sp>
        <p:nvSpPr>
          <p:cNvPr id="12" name="Text 9"/>
          <p:cNvSpPr txBox="1"/>
          <p:nvPr/>
        </p:nvSpPr>
        <p:spPr>
          <a:xfrm>
            <a:off x="676656" y="1525148"/>
            <a:ext cx="4893555" cy="412941"/>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Two views nobody else in this category ships.</a:t>
            </a:r>
            <a:endParaRPr lang="en-US" sz="1150" dirty="0"/>
          </a:p>
        </p:txBody>
      </p:sp>
      <p:sp>
        <p:nvSpPr>
          <p:cNvPr id="13" name="Shape 10"/>
          <p:cNvSpPr/>
          <p:nvPr/>
        </p:nvSpPr>
        <p:spPr>
          <a:xfrm>
            <a:off x="708661" y="2122241"/>
            <a:ext cx="81914" cy="105613"/>
          </a:xfrm>
          <a:prstGeom prst="ellipse">
            <a:avLst/>
          </a:prstGeom>
          <a:solidFill>
            <a:srgbClr val="3D6FF5"/>
          </a:solidFill>
          <a:ln/>
        </p:spPr>
        <p:txBody>
          <a:bodyPr/>
          <a:lstStyle/>
          <a:p>
            <a:endParaRPr lang="en-TR"/>
          </a:p>
        </p:txBody>
      </p:sp>
      <p:sp>
        <p:nvSpPr>
          <p:cNvPr id="14" name="Text 11"/>
          <p:cNvSpPr txBox="1"/>
          <p:nvPr/>
        </p:nvSpPr>
        <p:spPr>
          <a:xfrm>
            <a:off x="914400" y="2011599"/>
            <a:ext cx="470916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Topology</a:t>
            </a:r>
            <a:r>
              <a:rPr lang="en-US" sz="1100" dirty="0">
                <a:solidFill>
                  <a:srgbClr val="606A79"/>
                </a:solidFill>
                <a:latin typeface="Saira" pitchFamily="34" charset="0"/>
                <a:ea typeface="Saira" pitchFamily="34" charset="-122"/>
                <a:cs typeface="Saira" pitchFamily="34" charset="-120"/>
              </a:rPr>
              <a:t> answers the question a list cannot: </a:t>
            </a:r>
            <a:r>
              <a:rPr lang="en-US" sz="1100" i="1" dirty="0">
                <a:solidFill>
                  <a:srgbClr val="606A79"/>
                </a:solidFill>
                <a:latin typeface="Saira" pitchFamily="34" charset="0"/>
                <a:ea typeface="Saira" pitchFamily="34" charset="-122"/>
                <a:cs typeface="Saira" pitchFamily="34" charset="-120"/>
              </a:rPr>
              <a:t>what is this device actually connected through?</a:t>
            </a:r>
            <a:r>
              <a:rPr lang="en-US" sz="1100" dirty="0">
                <a:solidFill>
                  <a:srgbClr val="606A79"/>
                </a:solidFill>
                <a:latin typeface="Saira" pitchFamily="34" charset="0"/>
                <a:ea typeface="Saira" pitchFamily="34" charset="-122"/>
                <a:cs typeface="Saira" pitchFamily="34" charset="-120"/>
              </a:rPr>
              <a:t> Useful the moment a switch or an access point misbehaves.</a:t>
            </a:r>
            <a:endParaRPr lang="en-US" sz="1100" dirty="0"/>
          </a:p>
        </p:txBody>
      </p:sp>
      <p:sp>
        <p:nvSpPr>
          <p:cNvPr id="15" name="Shape 12"/>
          <p:cNvSpPr/>
          <p:nvPr/>
        </p:nvSpPr>
        <p:spPr>
          <a:xfrm>
            <a:off x="708661" y="2701869"/>
            <a:ext cx="81914" cy="105613"/>
          </a:xfrm>
          <a:prstGeom prst="ellipse">
            <a:avLst/>
          </a:prstGeom>
          <a:solidFill>
            <a:srgbClr val="17A05C"/>
          </a:solidFill>
          <a:ln/>
        </p:spPr>
        <p:txBody>
          <a:bodyPr/>
          <a:lstStyle/>
          <a:p>
            <a:endParaRPr lang="en-TR"/>
          </a:p>
        </p:txBody>
      </p:sp>
      <p:sp>
        <p:nvSpPr>
          <p:cNvPr id="16" name="Text 13"/>
          <p:cNvSpPr txBox="1"/>
          <p:nvPr/>
        </p:nvSpPr>
        <p:spPr>
          <a:xfrm>
            <a:off x="914400" y="2591227"/>
            <a:ext cx="470916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Floor plan</a:t>
            </a:r>
            <a:r>
              <a:rPr lang="en-US" sz="1100" dirty="0">
                <a:solidFill>
                  <a:srgbClr val="606A79"/>
                </a:solidFill>
                <a:latin typeface="Saira" pitchFamily="34" charset="0"/>
                <a:ea typeface="Saira" pitchFamily="34" charset="-122"/>
                <a:cs typeface="Saira" pitchFamily="34" charset="-120"/>
              </a:rPr>
              <a:t> puts the inventory where you actually live — drag a camera to the hallway, a plug to the kitchen.</a:t>
            </a:r>
            <a:endParaRPr lang="en-US" sz="1100" dirty="0"/>
          </a:p>
        </p:txBody>
      </p:sp>
      <p:sp>
        <p:nvSpPr>
          <p:cNvPr id="17" name="Shape 14"/>
          <p:cNvSpPr/>
          <p:nvPr/>
        </p:nvSpPr>
        <p:spPr>
          <a:xfrm>
            <a:off x="708661" y="3281497"/>
            <a:ext cx="81914" cy="105613"/>
          </a:xfrm>
          <a:prstGeom prst="ellipse">
            <a:avLst/>
          </a:prstGeom>
          <a:solidFill>
            <a:srgbClr val="D98A1F"/>
          </a:solidFill>
          <a:ln/>
        </p:spPr>
        <p:txBody>
          <a:bodyPr/>
          <a:lstStyle/>
          <a:p>
            <a:endParaRPr lang="en-TR"/>
          </a:p>
        </p:txBody>
      </p:sp>
      <p:sp>
        <p:nvSpPr>
          <p:cNvPr id="18" name="Text 15"/>
          <p:cNvSpPr txBox="1"/>
          <p:nvPr/>
        </p:nvSpPr>
        <p:spPr>
          <a:xfrm>
            <a:off x="914400" y="3170855"/>
            <a:ext cx="4709160" cy="417830"/>
          </a:xfrm>
          <a:prstGeom prst="rect">
            <a:avLst/>
          </a:prstGeom>
          <a:noFill/>
          <a:ln/>
        </p:spPr>
        <p:txBody>
          <a:bodyPr wrap="square" lIns="0" tIns="0" rIns="0" bIns="0" rtlCol="0" anchor="t"/>
          <a:lstStyle/>
          <a:p>
            <a:pPr marL="0" indent="0" algn="l">
              <a:lnSpc>
                <a:spcPts val="1562"/>
              </a:lnSpc>
              <a:buNone/>
            </a:pPr>
            <a:r>
              <a:rPr lang="en-US" sz="1100" dirty="0">
                <a:solidFill>
                  <a:srgbClr val="606A79"/>
                </a:solidFill>
                <a:latin typeface="Saira" pitchFamily="34" charset="0"/>
                <a:ea typeface="Saira" pitchFamily="34" charset="-122"/>
                <a:cs typeface="Saira" pitchFamily="34" charset="-120"/>
              </a:rPr>
              <a:t>A device in the wrong room on the plan is usually a device you forgot you owned.</a:t>
            </a:r>
            <a:endParaRPr lang="en-US" sz="1100" dirty="0"/>
          </a:p>
        </p:txBody>
      </p:sp>
      <p:sp>
        <p:nvSpPr>
          <p:cNvPr id="19" name="Shape 16"/>
          <p:cNvSpPr/>
          <p:nvPr/>
        </p:nvSpPr>
        <p:spPr>
          <a:xfrm>
            <a:off x="708661" y="3662751"/>
            <a:ext cx="81914" cy="105613"/>
          </a:xfrm>
          <a:prstGeom prst="ellipse">
            <a:avLst/>
          </a:prstGeom>
          <a:solidFill>
            <a:srgbClr val="DC3F4A"/>
          </a:solidFill>
          <a:ln/>
        </p:spPr>
        <p:txBody>
          <a:bodyPr/>
          <a:lstStyle/>
          <a:p>
            <a:endParaRPr lang="en-TR"/>
          </a:p>
        </p:txBody>
      </p:sp>
      <p:sp>
        <p:nvSpPr>
          <p:cNvPr id="20" name="Text 17"/>
          <p:cNvSpPr txBox="1"/>
          <p:nvPr/>
        </p:nvSpPr>
        <p:spPr>
          <a:xfrm>
            <a:off x="914400" y="3552109"/>
            <a:ext cx="4709160" cy="616204"/>
          </a:xfrm>
          <a:prstGeom prst="rect">
            <a:avLst/>
          </a:prstGeom>
          <a:noFill/>
          <a:ln/>
        </p:spPr>
        <p:txBody>
          <a:bodyPr wrap="square" lIns="0" tIns="0" rIns="0" bIns="0" rtlCol="0" anchor="t"/>
          <a:lstStyle/>
          <a:p>
            <a:pPr marL="0" indent="0" algn="l">
              <a:lnSpc>
                <a:spcPts val="1562"/>
              </a:lnSpc>
              <a:buNone/>
            </a:pPr>
            <a:r>
              <a:rPr lang="en-US" sz="1100" dirty="0">
                <a:solidFill>
                  <a:srgbClr val="606A79"/>
                </a:solidFill>
                <a:latin typeface="Saira" pitchFamily="34" charset="0"/>
                <a:ea typeface="Saira" pitchFamily="34" charset="-122"/>
                <a:cs typeface="Saira" pitchFamily="34" charset="-120"/>
              </a:rPr>
              <a:t>Both views are built from the same scan data — no extra configuration, no separate diagram to maintain.</a:t>
            </a:r>
            <a:endParaRPr lang="en-US" sz="1100" dirty="0"/>
          </a:p>
        </p:txBody>
      </p:sp>
      <p:grpSp>
        <p:nvGrpSpPr>
          <p:cNvPr id="25" name="Group 24">
            <a:extLst>
              <a:ext uri="{FF2B5EF4-FFF2-40B4-BE49-F238E27FC236}">
                <a16:creationId xmlns:a16="http://schemas.microsoft.com/office/drawing/2014/main" id="{16D6424B-33D8-850A-E542-88D869F77F79}"/>
              </a:ext>
            </a:extLst>
          </p:cNvPr>
          <p:cNvGrpSpPr/>
          <p:nvPr/>
        </p:nvGrpSpPr>
        <p:grpSpPr>
          <a:xfrm>
            <a:off x="5829457" y="1525147"/>
            <a:ext cx="6278723" cy="4578465"/>
            <a:chOff x="7498080" y="2062936"/>
            <a:chExt cx="4058107" cy="3020164"/>
          </a:xfrm>
        </p:grpSpPr>
        <p:sp>
          <p:nvSpPr>
            <p:cNvPr id="21" name="Shape 18"/>
            <p:cNvSpPr/>
            <p:nvPr/>
          </p:nvSpPr>
          <p:spPr>
            <a:xfrm>
              <a:off x="7539228" y="2113228"/>
              <a:ext cx="4016959" cy="2969872"/>
            </a:xfrm>
            <a:prstGeom prst="rect">
              <a:avLst/>
            </a:prstGeom>
            <a:solidFill>
              <a:srgbClr val="8894A8">
                <a:alpha val="30000"/>
              </a:srgbClr>
            </a:solidFill>
            <a:ln/>
          </p:spPr>
          <p:txBody>
            <a:bodyPr/>
            <a:lstStyle/>
            <a:p>
              <a:endParaRPr lang="en-TR"/>
            </a:p>
          </p:txBody>
        </p:sp>
        <p:pic>
          <p:nvPicPr>
            <p:cNvPr id="22" name="Image 1" descr="/home/claude/decks/products/mynes/img/topology.jpg"/>
            <p:cNvPicPr>
              <a:picLocks noChangeAspect="1"/>
            </p:cNvPicPr>
            <p:nvPr/>
          </p:nvPicPr>
          <p:blipFill>
            <a:blip r:embed="rId4"/>
            <a:stretch>
              <a:fillRect/>
            </a:stretch>
          </p:blipFill>
          <p:spPr>
            <a:xfrm>
              <a:off x="7498080" y="2062936"/>
              <a:ext cx="4016959" cy="2969872"/>
            </a:xfrm>
            <a:prstGeom prst="rect">
              <a:avLst/>
            </a:prstGeom>
          </p:spPr>
        </p:pic>
        <p:sp>
          <p:nvSpPr>
            <p:cNvPr id="23" name="Shape 19"/>
            <p:cNvSpPr/>
            <p:nvPr/>
          </p:nvSpPr>
          <p:spPr>
            <a:xfrm>
              <a:off x="7498080" y="2062936"/>
              <a:ext cx="4016959" cy="2969872"/>
            </a:xfrm>
            <a:prstGeom prst="rect">
              <a:avLst/>
            </a:prstGeom>
            <a:ln w="12700">
              <a:solidFill>
                <a:srgbClr val="E2E7EF"/>
              </a:solidFill>
              <a:prstDash val="solid"/>
            </a:ln>
          </p:spPr>
          <p:txBody>
            <a:bodyPr/>
            <a:lstStyle/>
            <a:p>
              <a:endParaRPr lang="en-T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1132732"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1132732"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Identification</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868497"/>
            <a:ext cx="5020249" cy="753110"/>
          </a:xfrm>
          <a:prstGeom prst="rect">
            <a:avLst/>
          </a:prstGeom>
          <a:noFill/>
          <a:ln/>
        </p:spPr>
        <p:txBody>
          <a:bodyPr wrap="square" lIns="0" tIns="0" rIns="0" bIns="0" rtlCol="0" anchor="t"/>
          <a:lstStyle/>
          <a:p>
            <a:pPr marL="0" indent="0" algn="l">
              <a:lnSpc>
                <a:spcPts val="3410"/>
              </a:lnSpc>
              <a:buNone/>
            </a:pPr>
            <a:r>
              <a:rPr lang="en-US" sz="3100" b="1" kern="0" spc="-43" dirty="0">
                <a:solidFill>
                  <a:srgbClr val="141A24"/>
                </a:solidFill>
                <a:latin typeface="Saira Cond" pitchFamily="34" charset="0"/>
                <a:ea typeface="Saira Cond" pitchFamily="34" charset="-122"/>
                <a:cs typeface="Saira Cond" pitchFamily="34" charset="-120"/>
              </a:rPr>
              <a:t>From a MAC address to Device Type and Name.</a:t>
            </a:r>
            <a:endParaRPr lang="en-US" sz="3100" dirty="0"/>
          </a:p>
        </p:txBody>
      </p:sp>
      <p:sp>
        <p:nvSpPr>
          <p:cNvPr id="12" name="Text 9"/>
          <p:cNvSpPr txBox="1"/>
          <p:nvPr/>
        </p:nvSpPr>
        <p:spPr>
          <a:xfrm>
            <a:off x="676656" y="1886599"/>
            <a:ext cx="5020249" cy="624713"/>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Identification is the hard half of network scanning. MyNeS stacks every cheap signal first, and only then offers to spend an AI call.</a:t>
            </a:r>
            <a:endParaRPr lang="en-US" sz="1150" dirty="0"/>
          </a:p>
        </p:txBody>
      </p:sp>
      <p:sp>
        <p:nvSpPr>
          <p:cNvPr id="13" name="Shape 10"/>
          <p:cNvSpPr/>
          <p:nvPr/>
        </p:nvSpPr>
        <p:spPr>
          <a:xfrm>
            <a:off x="708661" y="2695465"/>
            <a:ext cx="84034" cy="105613"/>
          </a:xfrm>
          <a:prstGeom prst="ellipse">
            <a:avLst/>
          </a:prstGeom>
          <a:solidFill>
            <a:srgbClr val="3D6FF5"/>
          </a:solidFill>
          <a:ln/>
        </p:spPr>
        <p:txBody>
          <a:bodyPr/>
          <a:lstStyle/>
          <a:p>
            <a:endParaRPr lang="en-TR"/>
          </a:p>
        </p:txBody>
      </p:sp>
      <p:sp>
        <p:nvSpPr>
          <p:cNvPr id="14" name="Text 11"/>
          <p:cNvSpPr txBox="1"/>
          <p:nvPr/>
        </p:nvSpPr>
        <p:spPr>
          <a:xfrm>
            <a:off x="914400" y="2584822"/>
            <a:ext cx="483108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OUI / vendor</a:t>
            </a:r>
            <a:r>
              <a:rPr lang="en-US" sz="1100" dirty="0">
                <a:solidFill>
                  <a:srgbClr val="606A79"/>
                </a:solidFill>
                <a:latin typeface="Saira" pitchFamily="34" charset="0"/>
                <a:ea typeface="Saira" pitchFamily="34" charset="-122"/>
                <a:cs typeface="Saira" pitchFamily="34" charset="-120"/>
              </a:rPr>
              <a:t> — IEEE OUI, MA-M, OUI-36, IAB and CID records, 37,000+ organisations, refreshed from IEEE with an online API fallback.</a:t>
            </a:r>
            <a:endParaRPr lang="en-US" sz="1100" dirty="0"/>
          </a:p>
        </p:txBody>
      </p:sp>
      <p:sp>
        <p:nvSpPr>
          <p:cNvPr id="15" name="Shape 12"/>
          <p:cNvSpPr/>
          <p:nvPr/>
        </p:nvSpPr>
        <p:spPr>
          <a:xfrm>
            <a:off x="708661" y="3275093"/>
            <a:ext cx="84034" cy="105613"/>
          </a:xfrm>
          <a:prstGeom prst="ellipse">
            <a:avLst/>
          </a:prstGeom>
          <a:solidFill>
            <a:srgbClr val="17A05C"/>
          </a:solidFill>
          <a:ln/>
        </p:spPr>
        <p:txBody>
          <a:bodyPr/>
          <a:lstStyle/>
          <a:p>
            <a:endParaRPr lang="en-TR"/>
          </a:p>
        </p:txBody>
      </p:sp>
      <p:sp>
        <p:nvSpPr>
          <p:cNvPr id="16" name="Text 13"/>
          <p:cNvSpPr txBox="1"/>
          <p:nvPr/>
        </p:nvSpPr>
        <p:spPr>
          <a:xfrm>
            <a:off x="914400" y="3164450"/>
            <a:ext cx="483108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Hostname patterns</a:t>
            </a:r>
            <a:r>
              <a:rPr lang="en-US" sz="1100" dirty="0">
                <a:solidFill>
                  <a:srgbClr val="606A79"/>
                </a:solidFill>
                <a:latin typeface="Saira" pitchFamily="34" charset="0"/>
                <a:ea typeface="Saira" pitchFamily="34" charset="-122"/>
                <a:cs typeface="Saira" pitchFamily="34" charset="-120"/>
              </a:rPr>
              <a:t>, open-port and service signatures, banner grabs on ports already known to be open.</a:t>
            </a:r>
            <a:endParaRPr lang="en-US" sz="1100" dirty="0"/>
          </a:p>
        </p:txBody>
      </p:sp>
      <p:sp>
        <p:nvSpPr>
          <p:cNvPr id="17" name="Shape 14"/>
          <p:cNvSpPr/>
          <p:nvPr/>
        </p:nvSpPr>
        <p:spPr>
          <a:xfrm>
            <a:off x="708661" y="3854721"/>
            <a:ext cx="84034" cy="105613"/>
          </a:xfrm>
          <a:prstGeom prst="ellipse">
            <a:avLst/>
          </a:prstGeom>
          <a:solidFill>
            <a:srgbClr val="D98A1F"/>
          </a:solidFill>
          <a:ln/>
        </p:spPr>
        <p:txBody>
          <a:bodyPr/>
          <a:lstStyle/>
          <a:p>
            <a:endParaRPr lang="en-TR"/>
          </a:p>
        </p:txBody>
      </p:sp>
      <p:sp>
        <p:nvSpPr>
          <p:cNvPr id="18" name="Text 15"/>
          <p:cNvSpPr txBox="1"/>
          <p:nvPr/>
        </p:nvSpPr>
        <p:spPr>
          <a:xfrm>
            <a:off x="914400" y="3744078"/>
            <a:ext cx="483108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Confidence scores</a:t>
            </a:r>
            <a:r>
              <a:rPr lang="en-US" sz="1100" dirty="0">
                <a:solidFill>
                  <a:srgbClr val="606A79"/>
                </a:solidFill>
                <a:latin typeface="Saira" pitchFamily="34" charset="0"/>
                <a:ea typeface="Saira" pitchFamily="34" charset="-122"/>
                <a:cs typeface="Saira" pitchFamily="34" charset="-120"/>
              </a:rPr>
              <a:t> and automatic alias suggestions, classified into IoT / Server / Router / Phone and more.</a:t>
            </a:r>
            <a:endParaRPr lang="en-US" sz="1100" dirty="0"/>
          </a:p>
        </p:txBody>
      </p:sp>
      <p:sp>
        <p:nvSpPr>
          <p:cNvPr id="19" name="Shape 16"/>
          <p:cNvSpPr/>
          <p:nvPr/>
        </p:nvSpPr>
        <p:spPr>
          <a:xfrm>
            <a:off x="708661" y="4434349"/>
            <a:ext cx="84034" cy="105613"/>
          </a:xfrm>
          <a:prstGeom prst="ellipse">
            <a:avLst/>
          </a:prstGeom>
          <a:solidFill>
            <a:srgbClr val="DC3F4A"/>
          </a:solidFill>
          <a:ln/>
        </p:spPr>
        <p:txBody>
          <a:bodyPr/>
          <a:lstStyle/>
          <a:p>
            <a:endParaRPr lang="en-TR"/>
          </a:p>
        </p:txBody>
      </p:sp>
      <p:sp>
        <p:nvSpPr>
          <p:cNvPr id="20" name="Text 17"/>
          <p:cNvSpPr txBox="1"/>
          <p:nvPr/>
        </p:nvSpPr>
        <p:spPr>
          <a:xfrm>
            <a:off x="914400" y="4323706"/>
            <a:ext cx="4831080" cy="814578"/>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Identify with AI</a:t>
            </a:r>
            <a:r>
              <a:rPr lang="en-US" sz="1100" dirty="0">
                <a:solidFill>
                  <a:srgbClr val="606A79"/>
                </a:solidFill>
                <a:latin typeface="Saira" pitchFamily="34" charset="0"/>
                <a:ea typeface="Saira" pitchFamily="34" charset="-122"/>
                <a:cs typeface="Saira" pitchFamily="34" charset="-120"/>
              </a:rPr>
              <a:t> — send only the collected signals (vendor, OUI, hostname, open ports, banners) to Anthropic, OpenAI or OpenRouter and get ranked candidates back, each mapped to a real MyNeS device type.</a:t>
            </a:r>
            <a:endParaRPr lang="en-US" sz="1100" dirty="0"/>
          </a:p>
        </p:txBody>
      </p:sp>
      <p:sp>
        <p:nvSpPr>
          <p:cNvPr id="21" name="Shape 18"/>
          <p:cNvSpPr/>
          <p:nvPr/>
        </p:nvSpPr>
        <p:spPr>
          <a:xfrm>
            <a:off x="708661" y="5212351"/>
            <a:ext cx="84034" cy="105613"/>
          </a:xfrm>
          <a:prstGeom prst="ellipse">
            <a:avLst/>
          </a:prstGeom>
          <a:solidFill>
            <a:srgbClr val="3D6FF5"/>
          </a:solidFill>
          <a:ln/>
        </p:spPr>
        <p:txBody>
          <a:bodyPr/>
          <a:lstStyle/>
          <a:p>
            <a:endParaRPr lang="en-TR"/>
          </a:p>
        </p:txBody>
      </p:sp>
      <p:sp>
        <p:nvSpPr>
          <p:cNvPr id="22" name="Text 19"/>
          <p:cNvSpPr txBox="1"/>
          <p:nvPr/>
        </p:nvSpPr>
        <p:spPr>
          <a:xfrm>
            <a:off x="914400" y="5101708"/>
            <a:ext cx="4831080" cy="417830"/>
          </a:xfrm>
          <a:prstGeom prst="rect">
            <a:avLst/>
          </a:prstGeom>
          <a:noFill/>
          <a:ln/>
        </p:spPr>
        <p:txBody>
          <a:bodyPr wrap="square" lIns="0" tIns="0" rIns="0" bIns="0" rtlCol="0" anchor="t"/>
          <a:lstStyle/>
          <a:p>
            <a:pPr marL="0" indent="0" algn="l">
              <a:lnSpc>
                <a:spcPts val="1562"/>
              </a:lnSpc>
              <a:buNone/>
            </a:pPr>
            <a:r>
              <a:rPr lang="en-US" sz="1100" dirty="0">
                <a:solidFill>
                  <a:srgbClr val="606A79"/>
                </a:solidFill>
                <a:latin typeface="Saira" pitchFamily="34" charset="0"/>
                <a:ea typeface="Saira" pitchFamily="34" charset="-122"/>
                <a:cs typeface="Saira" pitchFamily="34" charset="-120"/>
              </a:rPr>
              <a:t>The button </a:t>
            </a:r>
            <a:r>
              <a:rPr lang="en-US" sz="1100" dirty="0">
                <a:solidFill>
                  <a:srgbClr val="141A24"/>
                </a:solidFill>
                <a:latin typeface="Saira Medium" pitchFamily="34" charset="0"/>
                <a:ea typeface="Saira Medium" pitchFamily="34" charset="-122"/>
                <a:cs typeface="Saira Medium" pitchFamily="34" charset="-120"/>
              </a:rPr>
              <a:t>does not appear at all</a:t>
            </a:r>
            <a:r>
              <a:rPr lang="en-US" sz="1100" dirty="0">
                <a:solidFill>
                  <a:srgbClr val="606A79"/>
                </a:solidFill>
                <a:latin typeface="Saira" pitchFamily="34" charset="0"/>
                <a:ea typeface="Saira" pitchFamily="34" charset="-122"/>
                <a:cs typeface="Saira" pitchFamily="34" charset="-120"/>
              </a:rPr>
              <a:t> without a key: it is opt-in, not a dependency.</a:t>
            </a:r>
            <a:endParaRPr lang="en-US" sz="1100" dirty="0"/>
          </a:p>
        </p:txBody>
      </p:sp>
      <p:sp>
        <p:nvSpPr>
          <p:cNvPr id="23" name="Shape 20"/>
          <p:cNvSpPr/>
          <p:nvPr/>
        </p:nvSpPr>
        <p:spPr>
          <a:xfrm>
            <a:off x="708661" y="5593605"/>
            <a:ext cx="84034" cy="105613"/>
          </a:xfrm>
          <a:prstGeom prst="ellipse">
            <a:avLst/>
          </a:prstGeom>
          <a:solidFill>
            <a:srgbClr val="17A05C"/>
          </a:solidFill>
          <a:ln/>
        </p:spPr>
        <p:txBody>
          <a:bodyPr/>
          <a:lstStyle/>
          <a:p>
            <a:endParaRPr lang="en-TR"/>
          </a:p>
        </p:txBody>
      </p:sp>
      <p:sp>
        <p:nvSpPr>
          <p:cNvPr id="24" name="Text 21"/>
          <p:cNvSpPr txBox="1"/>
          <p:nvPr/>
        </p:nvSpPr>
        <p:spPr>
          <a:xfrm>
            <a:off x="914400" y="5482962"/>
            <a:ext cx="483108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Honest gap:</a:t>
            </a:r>
            <a:r>
              <a:rPr lang="en-US" sz="1100" dirty="0">
                <a:solidFill>
                  <a:srgbClr val="606A79"/>
                </a:solidFill>
                <a:latin typeface="Saira" pitchFamily="34" charset="0"/>
                <a:ea typeface="Saira" pitchFamily="34" charset="-122"/>
                <a:cs typeface="Saira" pitchFamily="34" charset="-120"/>
              </a:rPr>
              <a:t> Fing's crowdsourced fingerprint database is larger. On obscure hardware MyNeS will guess where Fing knows.</a:t>
            </a:r>
            <a:endParaRPr lang="en-US" sz="1100" dirty="0"/>
          </a:p>
        </p:txBody>
      </p:sp>
      <p:grpSp>
        <p:nvGrpSpPr>
          <p:cNvPr id="29" name="Group 28">
            <a:extLst>
              <a:ext uri="{FF2B5EF4-FFF2-40B4-BE49-F238E27FC236}">
                <a16:creationId xmlns:a16="http://schemas.microsoft.com/office/drawing/2014/main" id="{75F7C54F-2ED2-1642-F7E2-D4ADE51ED4A3}"/>
              </a:ext>
            </a:extLst>
          </p:cNvPr>
          <p:cNvGrpSpPr/>
          <p:nvPr/>
        </p:nvGrpSpPr>
        <p:grpSpPr>
          <a:xfrm>
            <a:off x="6019800" y="1525015"/>
            <a:ext cx="5958840" cy="4747032"/>
            <a:chOff x="7498080" y="1899580"/>
            <a:chExt cx="4058107" cy="3346877"/>
          </a:xfrm>
        </p:grpSpPr>
        <p:sp>
          <p:nvSpPr>
            <p:cNvPr id="25" name="Shape 22"/>
            <p:cNvSpPr/>
            <p:nvPr/>
          </p:nvSpPr>
          <p:spPr>
            <a:xfrm>
              <a:off x="7539228" y="1949872"/>
              <a:ext cx="4016959" cy="3296585"/>
            </a:xfrm>
            <a:prstGeom prst="rect">
              <a:avLst/>
            </a:prstGeom>
            <a:solidFill>
              <a:srgbClr val="8894A8">
                <a:alpha val="30000"/>
              </a:srgbClr>
            </a:solidFill>
            <a:ln/>
          </p:spPr>
          <p:txBody>
            <a:bodyPr/>
            <a:lstStyle/>
            <a:p>
              <a:endParaRPr lang="en-TR"/>
            </a:p>
          </p:txBody>
        </p:sp>
        <p:pic>
          <p:nvPicPr>
            <p:cNvPr id="26" name="Image 1" descr="/home/claude/decks/products/mynes/img/identify-ai.jpg"/>
            <p:cNvPicPr>
              <a:picLocks noChangeAspect="1"/>
            </p:cNvPicPr>
            <p:nvPr/>
          </p:nvPicPr>
          <p:blipFill>
            <a:blip r:embed="rId4"/>
            <a:stretch>
              <a:fillRect/>
            </a:stretch>
          </p:blipFill>
          <p:spPr>
            <a:xfrm>
              <a:off x="7498080" y="1899580"/>
              <a:ext cx="4016959" cy="3296585"/>
            </a:xfrm>
            <a:prstGeom prst="rect">
              <a:avLst/>
            </a:prstGeom>
          </p:spPr>
        </p:pic>
        <p:sp>
          <p:nvSpPr>
            <p:cNvPr id="27" name="Shape 23"/>
            <p:cNvSpPr/>
            <p:nvPr/>
          </p:nvSpPr>
          <p:spPr>
            <a:xfrm>
              <a:off x="7498080" y="1899580"/>
              <a:ext cx="4016959" cy="3296585"/>
            </a:xfrm>
            <a:prstGeom prst="rect">
              <a:avLst/>
            </a:prstGeom>
            <a:ln w="12700">
              <a:solidFill>
                <a:srgbClr val="E2E7EF"/>
              </a:solidFill>
              <a:prstDash val="solid"/>
            </a:ln>
          </p:spPr>
          <p:txBody>
            <a:bodyPr/>
            <a:lstStyle/>
            <a:p>
              <a:endParaRPr lang="en-T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1132732"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1132732"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Identification</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868497"/>
            <a:ext cx="6327648" cy="1186180"/>
          </a:xfrm>
          <a:prstGeom prst="rect">
            <a:avLst/>
          </a:prstGeom>
          <a:noFill/>
          <a:ln/>
        </p:spPr>
        <p:txBody>
          <a:bodyPr wrap="square" lIns="0" tIns="0" rIns="0" bIns="0" rtlCol="0" anchor="t"/>
          <a:lstStyle/>
          <a:p>
            <a:pPr marL="0" indent="0" algn="l">
              <a:lnSpc>
                <a:spcPts val="3410"/>
              </a:lnSpc>
              <a:buNone/>
            </a:pPr>
            <a:r>
              <a:rPr lang="en-US" sz="3100" b="1" kern="0" spc="-43" dirty="0">
                <a:solidFill>
                  <a:srgbClr val="141A24"/>
                </a:solidFill>
                <a:latin typeface="Saira Cond" pitchFamily="34" charset="0"/>
                <a:ea typeface="Saira Cond" pitchFamily="34" charset="-122"/>
                <a:cs typeface="Saira Cond" pitchFamily="34" charset="-120"/>
              </a:rPr>
              <a:t>A knowledge base that answers before the LLM does.</a:t>
            </a:r>
            <a:endParaRPr lang="en-US" sz="3100" dirty="0"/>
          </a:p>
        </p:txBody>
      </p:sp>
      <p:sp>
        <p:nvSpPr>
          <p:cNvPr id="12" name="Text 9"/>
          <p:cNvSpPr txBox="1"/>
          <p:nvPr/>
        </p:nvSpPr>
        <p:spPr>
          <a:xfrm>
            <a:off x="676656" y="1958218"/>
            <a:ext cx="4504944" cy="836486"/>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mynes-ai is the optional hosted Identify-with-AI backend shared by the web and mobile apps. It tries local knowledge first and only spends an LLM call when that is not enough — so most answers cost nothing.</a:t>
            </a:r>
            <a:endParaRPr lang="en-US" sz="1150" dirty="0"/>
          </a:p>
        </p:txBody>
      </p:sp>
      <p:sp>
        <p:nvSpPr>
          <p:cNvPr id="13" name="Shape 10"/>
          <p:cNvSpPr/>
          <p:nvPr/>
        </p:nvSpPr>
        <p:spPr>
          <a:xfrm>
            <a:off x="676656" y="2910459"/>
            <a:ext cx="4504944" cy="310896"/>
          </a:xfrm>
          <a:prstGeom prst="roundRect">
            <a:avLst>
              <a:gd name="adj" fmla="val 14706"/>
            </a:avLst>
          </a:prstGeom>
          <a:solidFill>
            <a:srgbClr val="EDF2FF"/>
          </a:solidFill>
          <a:ln/>
        </p:spPr>
        <p:txBody>
          <a:bodyPr/>
          <a:lstStyle/>
          <a:p>
            <a:endParaRPr lang="en-TR"/>
          </a:p>
        </p:txBody>
      </p:sp>
      <p:sp>
        <p:nvSpPr>
          <p:cNvPr id="14" name="Text 11"/>
          <p:cNvSpPr txBox="1"/>
          <p:nvPr/>
        </p:nvSpPr>
        <p:spPr>
          <a:xfrm>
            <a:off x="804672" y="2987919"/>
            <a:ext cx="1069979" cy="219456"/>
          </a:xfrm>
          <a:prstGeom prst="rect">
            <a:avLst/>
          </a:prstGeom>
          <a:noFill/>
          <a:ln/>
        </p:spPr>
        <p:txBody>
          <a:bodyPr wrap="none" lIns="0" tIns="0" rIns="0" bIns="0" rtlCol="0" anchor="t"/>
          <a:lstStyle/>
          <a:p>
            <a:pPr marL="0" indent="0" algn="l">
              <a:buNone/>
            </a:pPr>
            <a:r>
              <a:rPr lang="en-US" sz="950" dirty="0">
                <a:solidFill>
                  <a:srgbClr val="141A24"/>
                </a:solidFill>
                <a:latin typeface="Saira Medium" pitchFamily="34" charset="0"/>
                <a:ea typeface="Saira Medium" pitchFamily="34" charset="-122"/>
                <a:cs typeface="Saira Medium" pitchFamily="34" charset="-120"/>
              </a:rPr>
              <a:t>Step</a:t>
            </a:r>
            <a:endParaRPr lang="en-US" sz="950" dirty="0"/>
          </a:p>
        </p:txBody>
      </p:sp>
      <p:sp>
        <p:nvSpPr>
          <p:cNvPr id="15" name="Text 12"/>
          <p:cNvSpPr txBox="1"/>
          <p:nvPr/>
        </p:nvSpPr>
        <p:spPr>
          <a:xfrm>
            <a:off x="2537536" y="2987919"/>
            <a:ext cx="3063970" cy="219456"/>
          </a:xfrm>
          <a:prstGeom prst="rect">
            <a:avLst/>
          </a:prstGeom>
          <a:noFill/>
          <a:ln/>
        </p:spPr>
        <p:txBody>
          <a:bodyPr wrap="none" lIns="0" tIns="0" rIns="0" bIns="0" rtlCol="0" anchor="t"/>
          <a:lstStyle/>
          <a:p>
            <a:pPr marL="0" indent="0" algn="l">
              <a:buNone/>
            </a:pPr>
            <a:r>
              <a:rPr lang="en-US" sz="950" dirty="0">
                <a:solidFill>
                  <a:srgbClr val="141A24"/>
                </a:solidFill>
                <a:latin typeface="Saira Medium" pitchFamily="34" charset="0"/>
                <a:ea typeface="Saira Medium" pitchFamily="34" charset="-122"/>
                <a:cs typeface="Saira Medium" pitchFamily="34" charset="-120"/>
              </a:rPr>
              <a:t>What it does</a:t>
            </a:r>
            <a:endParaRPr lang="en-US" sz="950" dirty="0"/>
          </a:p>
        </p:txBody>
      </p:sp>
      <p:sp>
        <p:nvSpPr>
          <p:cNvPr id="16" name="Shape 13"/>
          <p:cNvSpPr/>
          <p:nvPr/>
        </p:nvSpPr>
        <p:spPr>
          <a:xfrm>
            <a:off x="676656" y="3221355"/>
            <a:ext cx="4504944" cy="0"/>
          </a:xfrm>
          <a:prstGeom prst="line">
            <a:avLst/>
          </a:prstGeom>
          <a:noFill/>
          <a:ln w="7620">
            <a:solidFill>
              <a:srgbClr val="E2E7EF"/>
            </a:solidFill>
            <a:prstDash val="solid"/>
          </a:ln>
        </p:spPr>
        <p:txBody>
          <a:bodyPr/>
          <a:lstStyle/>
          <a:p>
            <a:endParaRPr lang="en-TR"/>
          </a:p>
        </p:txBody>
      </p:sp>
      <p:sp>
        <p:nvSpPr>
          <p:cNvPr id="17" name="Text 14"/>
          <p:cNvSpPr txBox="1"/>
          <p:nvPr/>
        </p:nvSpPr>
        <p:spPr>
          <a:xfrm>
            <a:off x="804672" y="3303742"/>
            <a:ext cx="1069979" cy="389763"/>
          </a:xfrm>
          <a:prstGeom prst="rect">
            <a:avLst/>
          </a:prstGeom>
          <a:noFill/>
          <a:ln/>
        </p:spPr>
        <p:txBody>
          <a:bodyPr wrap="square" lIns="0" tIns="0" rIns="0" bIns="0" rtlCol="0" anchor="t"/>
          <a:lstStyle/>
          <a:p>
            <a:pPr marL="0" indent="0" algn="l">
              <a:lnSpc>
                <a:spcPts val="1197"/>
              </a:lnSpc>
              <a:buNone/>
            </a:pPr>
            <a:r>
              <a:rPr lang="en-US" sz="950" dirty="0">
                <a:solidFill>
                  <a:srgbClr val="141A24"/>
                </a:solidFill>
                <a:latin typeface="Saira" pitchFamily="34" charset="0"/>
                <a:ea typeface="Saira" pitchFamily="34" charset="-122"/>
                <a:cs typeface="Saira" pitchFamily="34" charset="-120"/>
              </a:rPr>
              <a:t>1 · OUI DB</a:t>
            </a:r>
            <a:endParaRPr lang="en-US" sz="950" dirty="0"/>
          </a:p>
        </p:txBody>
      </p:sp>
      <p:sp>
        <p:nvSpPr>
          <p:cNvPr id="18" name="Text 15"/>
          <p:cNvSpPr txBox="1"/>
          <p:nvPr/>
        </p:nvSpPr>
        <p:spPr>
          <a:xfrm>
            <a:off x="2537536" y="3303742"/>
            <a:ext cx="3063970" cy="389763"/>
          </a:xfrm>
          <a:prstGeom prst="rect">
            <a:avLst/>
          </a:prstGeom>
          <a:noFill/>
          <a:ln/>
        </p:spPr>
        <p:txBody>
          <a:bodyPr wrap="square" lIns="0" tIns="0" rIns="0" bIns="0" rtlCol="0" anchor="t"/>
          <a:lstStyle/>
          <a:p>
            <a:pPr marL="0" indent="0" algn="l">
              <a:lnSpc>
                <a:spcPts val="1197"/>
              </a:lnSpc>
              <a:buNone/>
            </a:pPr>
            <a:r>
              <a:rPr lang="en-US" sz="950" dirty="0">
                <a:solidFill>
                  <a:srgbClr val="606A79"/>
                </a:solidFill>
                <a:latin typeface="Saira" pitchFamily="34" charset="0"/>
                <a:ea typeface="Saira" pitchFamily="34" charset="-122"/>
                <a:cs typeface="Saira" pitchFamily="34" charset="-120"/>
              </a:rPr>
              <a:t>Resolve the vendor straight from the MAC</a:t>
            </a:r>
            <a:endParaRPr lang="en-US" sz="950" dirty="0"/>
          </a:p>
        </p:txBody>
      </p:sp>
      <p:sp>
        <p:nvSpPr>
          <p:cNvPr id="19" name="Shape 16"/>
          <p:cNvSpPr/>
          <p:nvPr/>
        </p:nvSpPr>
        <p:spPr>
          <a:xfrm>
            <a:off x="676656" y="3611118"/>
            <a:ext cx="4504944" cy="389763"/>
          </a:xfrm>
          <a:prstGeom prst="rect">
            <a:avLst/>
          </a:prstGeom>
          <a:solidFill>
            <a:srgbClr val="FAFCFF"/>
          </a:solidFill>
          <a:ln/>
        </p:spPr>
        <p:txBody>
          <a:bodyPr/>
          <a:lstStyle/>
          <a:p>
            <a:endParaRPr lang="en-TR"/>
          </a:p>
        </p:txBody>
      </p:sp>
      <p:sp>
        <p:nvSpPr>
          <p:cNvPr id="20" name="Shape 17"/>
          <p:cNvSpPr/>
          <p:nvPr/>
        </p:nvSpPr>
        <p:spPr>
          <a:xfrm>
            <a:off x="676656" y="3611118"/>
            <a:ext cx="4504944" cy="0"/>
          </a:xfrm>
          <a:prstGeom prst="line">
            <a:avLst/>
          </a:prstGeom>
          <a:noFill/>
          <a:ln w="7620">
            <a:solidFill>
              <a:srgbClr val="E2E7EF"/>
            </a:solidFill>
            <a:prstDash val="solid"/>
          </a:ln>
        </p:spPr>
        <p:txBody>
          <a:bodyPr/>
          <a:lstStyle/>
          <a:p>
            <a:endParaRPr lang="en-TR"/>
          </a:p>
        </p:txBody>
      </p:sp>
      <p:sp>
        <p:nvSpPr>
          <p:cNvPr id="21" name="Text 18"/>
          <p:cNvSpPr txBox="1"/>
          <p:nvPr/>
        </p:nvSpPr>
        <p:spPr>
          <a:xfrm>
            <a:off x="804672" y="3693505"/>
            <a:ext cx="1069979" cy="389763"/>
          </a:xfrm>
          <a:prstGeom prst="rect">
            <a:avLst/>
          </a:prstGeom>
          <a:noFill/>
          <a:ln/>
        </p:spPr>
        <p:txBody>
          <a:bodyPr wrap="square" lIns="0" tIns="0" rIns="0" bIns="0" rtlCol="0" anchor="t"/>
          <a:lstStyle/>
          <a:p>
            <a:pPr marL="0" indent="0" algn="l">
              <a:lnSpc>
                <a:spcPts val="1197"/>
              </a:lnSpc>
              <a:buNone/>
            </a:pPr>
            <a:r>
              <a:rPr lang="en-US" sz="950" dirty="0">
                <a:solidFill>
                  <a:srgbClr val="141A24"/>
                </a:solidFill>
                <a:latin typeface="Saira" pitchFamily="34" charset="0"/>
                <a:ea typeface="Saira" pitchFamily="34" charset="-122"/>
                <a:cs typeface="Saira" pitchFamily="34" charset="-120"/>
              </a:rPr>
              <a:t>2 · Catalog</a:t>
            </a:r>
            <a:endParaRPr lang="en-US" sz="950" dirty="0"/>
          </a:p>
        </p:txBody>
      </p:sp>
      <p:sp>
        <p:nvSpPr>
          <p:cNvPr id="22" name="Text 19"/>
          <p:cNvSpPr txBox="1"/>
          <p:nvPr/>
        </p:nvSpPr>
        <p:spPr>
          <a:xfrm>
            <a:off x="2537536" y="3693505"/>
            <a:ext cx="3063970" cy="389763"/>
          </a:xfrm>
          <a:prstGeom prst="rect">
            <a:avLst/>
          </a:prstGeom>
          <a:noFill/>
          <a:ln/>
        </p:spPr>
        <p:txBody>
          <a:bodyPr wrap="square" lIns="0" tIns="0" rIns="0" bIns="0" rtlCol="0" anchor="t"/>
          <a:lstStyle/>
          <a:p>
            <a:pPr marL="0" indent="0" algn="l">
              <a:lnSpc>
                <a:spcPts val="1197"/>
              </a:lnSpc>
              <a:buNone/>
            </a:pPr>
            <a:r>
              <a:rPr lang="en-US" sz="950" dirty="0">
                <a:solidFill>
                  <a:srgbClr val="606A79"/>
                </a:solidFill>
                <a:latin typeface="Saira" pitchFamily="34" charset="0"/>
                <a:ea typeface="Saira" pitchFamily="34" charset="-122"/>
                <a:cs typeface="Saira" pitchFamily="34" charset="-120"/>
              </a:rPr>
              <a:t>Full-text match on any attribute (SQLite FTS5)</a:t>
            </a:r>
            <a:endParaRPr lang="en-US" sz="950" dirty="0"/>
          </a:p>
        </p:txBody>
      </p:sp>
      <p:sp>
        <p:nvSpPr>
          <p:cNvPr id="23" name="Shape 20"/>
          <p:cNvSpPr/>
          <p:nvPr/>
        </p:nvSpPr>
        <p:spPr>
          <a:xfrm>
            <a:off x="676656" y="4000881"/>
            <a:ext cx="4504944" cy="0"/>
          </a:xfrm>
          <a:prstGeom prst="line">
            <a:avLst/>
          </a:prstGeom>
          <a:noFill/>
          <a:ln w="7620">
            <a:solidFill>
              <a:srgbClr val="E2E7EF"/>
            </a:solidFill>
            <a:prstDash val="solid"/>
          </a:ln>
        </p:spPr>
        <p:txBody>
          <a:bodyPr/>
          <a:lstStyle/>
          <a:p>
            <a:endParaRPr lang="en-TR"/>
          </a:p>
        </p:txBody>
      </p:sp>
      <p:sp>
        <p:nvSpPr>
          <p:cNvPr id="24" name="Text 21"/>
          <p:cNvSpPr txBox="1"/>
          <p:nvPr/>
        </p:nvSpPr>
        <p:spPr>
          <a:xfrm>
            <a:off x="804672" y="4083268"/>
            <a:ext cx="1069979" cy="389763"/>
          </a:xfrm>
          <a:prstGeom prst="rect">
            <a:avLst/>
          </a:prstGeom>
          <a:noFill/>
          <a:ln/>
        </p:spPr>
        <p:txBody>
          <a:bodyPr wrap="square" lIns="0" tIns="0" rIns="0" bIns="0" rtlCol="0" anchor="t"/>
          <a:lstStyle/>
          <a:p>
            <a:pPr marL="0" indent="0" algn="l">
              <a:lnSpc>
                <a:spcPts val="1197"/>
              </a:lnSpc>
              <a:buNone/>
            </a:pPr>
            <a:r>
              <a:rPr lang="en-US" sz="950" dirty="0">
                <a:solidFill>
                  <a:srgbClr val="141A24"/>
                </a:solidFill>
                <a:latin typeface="Saira" pitchFamily="34" charset="0"/>
                <a:ea typeface="Saira" pitchFamily="34" charset="-122"/>
                <a:cs typeface="Saira" pitchFamily="34" charset="-120"/>
              </a:rPr>
              <a:t>3 · Doc RAG</a:t>
            </a:r>
            <a:endParaRPr lang="en-US" sz="950" dirty="0"/>
          </a:p>
        </p:txBody>
      </p:sp>
      <p:sp>
        <p:nvSpPr>
          <p:cNvPr id="25" name="Text 22"/>
          <p:cNvSpPr txBox="1"/>
          <p:nvPr/>
        </p:nvSpPr>
        <p:spPr>
          <a:xfrm>
            <a:off x="2537536" y="4083268"/>
            <a:ext cx="3063970" cy="389763"/>
          </a:xfrm>
          <a:prstGeom prst="rect">
            <a:avLst/>
          </a:prstGeom>
          <a:noFill/>
          <a:ln/>
        </p:spPr>
        <p:txBody>
          <a:bodyPr wrap="square" lIns="0" tIns="0" rIns="0" bIns="0" rtlCol="0" anchor="t"/>
          <a:lstStyle/>
          <a:p>
            <a:pPr marL="0" indent="0" algn="l">
              <a:lnSpc>
                <a:spcPts val="1197"/>
              </a:lnSpc>
              <a:buNone/>
            </a:pPr>
            <a:r>
              <a:rPr lang="en-US" sz="950" dirty="0">
                <a:solidFill>
                  <a:srgbClr val="606A79"/>
                </a:solidFill>
                <a:latin typeface="Saira" pitchFamily="34" charset="0"/>
                <a:ea typeface="Saira" pitchFamily="34" charset="-122"/>
                <a:cs typeface="Saira" pitchFamily="34" charset="-120"/>
              </a:rPr>
              <a:t>Nearest manual / troubleshooting snippets</a:t>
            </a:r>
            <a:endParaRPr lang="en-US" sz="950" dirty="0"/>
          </a:p>
        </p:txBody>
      </p:sp>
      <p:sp>
        <p:nvSpPr>
          <p:cNvPr id="26" name="Shape 23"/>
          <p:cNvSpPr/>
          <p:nvPr/>
        </p:nvSpPr>
        <p:spPr>
          <a:xfrm>
            <a:off x="676656" y="4390644"/>
            <a:ext cx="4504944" cy="389763"/>
          </a:xfrm>
          <a:prstGeom prst="rect">
            <a:avLst/>
          </a:prstGeom>
          <a:solidFill>
            <a:srgbClr val="FAFCFF"/>
          </a:solidFill>
          <a:ln/>
        </p:spPr>
        <p:txBody>
          <a:bodyPr/>
          <a:lstStyle/>
          <a:p>
            <a:endParaRPr lang="en-TR"/>
          </a:p>
        </p:txBody>
      </p:sp>
      <p:sp>
        <p:nvSpPr>
          <p:cNvPr id="27" name="Shape 24"/>
          <p:cNvSpPr/>
          <p:nvPr/>
        </p:nvSpPr>
        <p:spPr>
          <a:xfrm>
            <a:off x="676656" y="4390644"/>
            <a:ext cx="4504944" cy="0"/>
          </a:xfrm>
          <a:prstGeom prst="line">
            <a:avLst/>
          </a:prstGeom>
          <a:noFill/>
          <a:ln w="7620">
            <a:solidFill>
              <a:srgbClr val="E2E7EF"/>
            </a:solidFill>
            <a:prstDash val="solid"/>
          </a:ln>
        </p:spPr>
        <p:txBody>
          <a:bodyPr/>
          <a:lstStyle/>
          <a:p>
            <a:endParaRPr lang="en-TR"/>
          </a:p>
        </p:txBody>
      </p:sp>
      <p:sp>
        <p:nvSpPr>
          <p:cNvPr id="28" name="Text 25"/>
          <p:cNvSpPr txBox="1"/>
          <p:nvPr/>
        </p:nvSpPr>
        <p:spPr>
          <a:xfrm>
            <a:off x="804672" y="4473031"/>
            <a:ext cx="1069979" cy="389763"/>
          </a:xfrm>
          <a:prstGeom prst="rect">
            <a:avLst/>
          </a:prstGeom>
          <a:noFill/>
          <a:ln/>
        </p:spPr>
        <p:txBody>
          <a:bodyPr wrap="square" lIns="0" tIns="0" rIns="0" bIns="0" rtlCol="0" anchor="t"/>
          <a:lstStyle/>
          <a:p>
            <a:pPr marL="0" indent="0" algn="l">
              <a:lnSpc>
                <a:spcPts val="1197"/>
              </a:lnSpc>
              <a:buNone/>
            </a:pPr>
            <a:r>
              <a:rPr lang="en-US" sz="950" dirty="0">
                <a:solidFill>
                  <a:srgbClr val="141A24"/>
                </a:solidFill>
                <a:latin typeface="Saira" pitchFamily="34" charset="0"/>
                <a:ea typeface="Saira" pitchFamily="34" charset="-122"/>
                <a:cs typeface="Saira" pitchFamily="34" charset="-120"/>
              </a:rPr>
              <a:t>4 · LLM</a:t>
            </a:r>
            <a:endParaRPr lang="en-US" sz="950" dirty="0"/>
          </a:p>
        </p:txBody>
      </p:sp>
      <p:sp>
        <p:nvSpPr>
          <p:cNvPr id="29" name="Text 26"/>
          <p:cNvSpPr txBox="1"/>
          <p:nvPr/>
        </p:nvSpPr>
        <p:spPr>
          <a:xfrm>
            <a:off x="2537536" y="4473031"/>
            <a:ext cx="3063970" cy="389763"/>
          </a:xfrm>
          <a:prstGeom prst="rect">
            <a:avLst/>
          </a:prstGeom>
          <a:noFill/>
          <a:ln/>
        </p:spPr>
        <p:txBody>
          <a:bodyPr wrap="square" lIns="0" tIns="0" rIns="0" bIns="0" rtlCol="0" anchor="t"/>
          <a:lstStyle/>
          <a:p>
            <a:pPr marL="0" indent="0" algn="l">
              <a:lnSpc>
                <a:spcPts val="1197"/>
              </a:lnSpc>
              <a:buNone/>
            </a:pPr>
            <a:r>
              <a:rPr lang="en-US" sz="950" dirty="0">
                <a:solidFill>
                  <a:srgbClr val="606A79"/>
                </a:solidFill>
                <a:latin typeface="Saira" pitchFamily="34" charset="0"/>
                <a:ea typeface="Saira" pitchFamily="34" charset="-122"/>
                <a:cs typeface="Saira" pitchFamily="34" charset="-120"/>
              </a:rPr>
              <a:t>Web search over OUI, manuals and vendor sites</a:t>
            </a:r>
            <a:endParaRPr lang="en-US" sz="950" dirty="0"/>
          </a:p>
        </p:txBody>
      </p:sp>
      <p:sp>
        <p:nvSpPr>
          <p:cNvPr id="30" name="Shape 27"/>
          <p:cNvSpPr/>
          <p:nvPr/>
        </p:nvSpPr>
        <p:spPr>
          <a:xfrm>
            <a:off x="676656" y="4780407"/>
            <a:ext cx="4504944" cy="0"/>
          </a:xfrm>
          <a:prstGeom prst="line">
            <a:avLst/>
          </a:prstGeom>
          <a:noFill/>
          <a:ln w="7620">
            <a:solidFill>
              <a:srgbClr val="E2E7EF"/>
            </a:solidFill>
            <a:prstDash val="solid"/>
          </a:ln>
        </p:spPr>
        <p:txBody>
          <a:bodyPr/>
          <a:lstStyle/>
          <a:p>
            <a:endParaRPr lang="en-TR"/>
          </a:p>
        </p:txBody>
      </p:sp>
      <p:sp>
        <p:nvSpPr>
          <p:cNvPr id="31" name="Text 28"/>
          <p:cNvSpPr txBox="1"/>
          <p:nvPr/>
        </p:nvSpPr>
        <p:spPr>
          <a:xfrm>
            <a:off x="804672" y="4862794"/>
            <a:ext cx="1069979" cy="389763"/>
          </a:xfrm>
          <a:prstGeom prst="rect">
            <a:avLst/>
          </a:prstGeom>
          <a:noFill/>
          <a:ln/>
        </p:spPr>
        <p:txBody>
          <a:bodyPr wrap="square" lIns="0" tIns="0" rIns="0" bIns="0" rtlCol="0" anchor="t"/>
          <a:lstStyle/>
          <a:p>
            <a:pPr marL="0" indent="0" algn="l">
              <a:lnSpc>
                <a:spcPts val="1197"/>
              </a:lnSpc>
              <a:buNone/>
            </a:pPr>
            <a:r>
              <a:rPr lang="en-US" sz="950" dirty="0">
                <a:solidFill>
                  <a:srgbClr val="141A24"/>
                </a:solidFill>
                <a:latin typeface="Saira" pitchFamily="34" charset="0"/>
                <a:ea typeface="Saira" pitchFamily="34" charset="-122"/>
                <a:cs typeface="Saira" pitchFamily="34" charset="-120"/>
              </a:rPr>
              <a:t>5 · Crawl</a:t>
            </a:r>
            <a:endParaRPr lang="en-US" sz="950" dirty="0"/>
          </a:p>
        </p:txBody>
      </p:sp>
      <p:sp>
        <p:nvSpPr>
          <p:cNvPr id="32" name="Text 29"/>
          <p:cNvSpPr txBox="1"/>
          <p:nvPr/>
        </p:nvSpPr>
        <p:spPr>
          <a:xfrm>
            <a:off x="2537536" y="4862794"/>
            <a:ext cx="3063970" cy="389763"/>
          </a:xfrm>
          <a:prstGeom prst="rect">
            <a:avLst/>
          </a:prstGeom>
          <a:noFill/>
          <a:ln/>
        </p:spPr>
        <p:txBody>
          <a:bodyPr wrap="square" lIns="0" tIns="0" rIns="0" bIns="0" rtlCol="0" anchor="t"/>
          <a:lstStyle/>
          <a:p>
            <a:pPr marL="0" indent="0" algn="l">
              <a:lnSpc>
                <a:spcPts val="1197"/>
              </a:lnSpc>
              <a:buNone/>
            </a:pPr>
            <a:r>
              <a:rPr lang="en-US" sz="950" dirty="0">
                <a:solidFill>
                  <a:srgbClr val="606A79"/>
                </a:solidFill>
                <a:latin typeface="Saira" pitchFamily="34" charset="0"/>
                <a:ea typeface="Saira" pitchFamily="34" charset="-122"/>
                <a:cs typeface="Saira" pitchFamily="34" charset="-120"/>
              </a:rPr>
              <a:t>Headless fallback when web search is blocked</a:t>
            </a:r>
            <a:endParaRPr lang="en-US" sz="950" dirty="0"/>
          </a:p>
        </p:txBody>
      </p:sp>
      <p:sp>
        <p:nvSpPr>
          <p:cNvPr id="33" name="Shape 30"/>
          <p:cNvSpPr/>
          <p:nvPr/>
        </p:nvSpPr>
        <p:spPr>
          <a:xfrm>
            <a:off x="676656" y="2910459"/>
            <a:ext cx="4504944" cy="2259711"/>
          </a:xfrm>
          <a:prstGeom prst="rect">
            <a:avLst/>
          </a:prstGeom>
          <a:ln w="11430">
            <a:solidFill>
              <a:srgbClr val="E2E7EF"/>
            </a:solidFill>
            <a:prstDash val="solid"/>
          </a:ln>
        </p:spPr>
        <p:txBody>
          <a:bodyPr/>
          <a:lstStyle/>
          <a:p>
            <a:endParaRPr lang="en-TR"/>
          </a:p>
        </p:txBody>
      </p:sp>
      <p:sp>
        <p:nvSpPr>
          <p:cNvPr id="34" name="Shape 31"/>
          <p:cNvSpPr/>
          <p:nvPr/>
        </p:nvSpPr>
        <p:spPr>
          <a:xfrm>
            <a:off x="676656" y="5426202"/>
            <a:ext cx="4504944" cy="1025271"/>
          </a:xfrm>
          <a:prstGeom prst="roundRect">
            <a:avLst>
              <a:gd name="adj" fmla="val 6243"/>
            </a:avLst>
          </a:prstGeom>
          <a:solidFill>
            <a:srgbClr val="0F1622"/>
          </a:solidFill>
          <a:ln w="9525">
            <a:solidFill>
              <a:srgbClr val="E2E7EF"/>
            </a:solidFill>
            <a:prstDash val="solid"/>
          </a:ln>
        </p:spPr>
        <p:txBody>
          <a:bodyPr/>
          <a:lstStyle/>
          <a:p>
            <a:endParaRPr lang="en-TR"/>
          </a:p>
        </p:txBody>
      </p:sp>
      <p:sp>
        <p:nvSpPr>
          <p:cNvPr id="35" name="Text 32"/>
          <p:cNvSpPr txBox="1"/>
          <p:nvPr/>
        </p:nvSpPr>
        <p:spPr>
          <a:xfrm>
            <a:off x="877824" y="5554218"/>
            <a:ext cx="4213448" cy="236728"/>
          </a:xfrm>
          <a:prstGeom prst="rect">
            <a:avLst/>
          </a:prstGeom>
          <a:noFill/>
          <a:ln/>
        </p:spPr>
        <p:txBody>
          <a:bodyPr wrap="none" lIns="0" tIns="0" rIns="0" bIns="0" rtlCol="0" anchor="t"/>
          <a:lstStyle/>
          <a:p>
            <a:pPr marL="0" indent="0">
              <a:buNone/>
            </a:pPr>
            <a:r>
              <a:rPr lang="en-US" sz="625" dirty="0">
                <a:solidFill>
                  <a:srgbClr val="7A8798"/>
                </a:solidFill>
                <a:latin typeface="Sometype Mono" pitchFamily="34" charset="0"/>
                <a:ea typeface="Sometype Mono" pitchFamily="34" charset="-122"/>
                <a:cs typeface="Sometype Mono" pitchFamily="34" charset="-120"/>
              </a:rPr>
              <a:t># a confident catalog hit answers with no LLM and no cost</a:t>
            </a:r>
            <a:endParaRPr lang="en-US" sz="625" dirty="0"/>
          </a:p>
        </p:txBody>
      </p:sp>
      <p:sp>
        <p:nvSpPr>
          <p:cNvPr id="36" name="Text 33"/>
          <p:cNvSpPr txBox="1"/>
          <p:nvPr/>
        </p:nvSpPr>
        <p:spPr>
          <a:xfrm>
            <a:off x="877824" y="5673280"/>
            <a:ext cx="4213448" cy="236728"/>
          </a:xfrm>
          <a:prstGeom prst="rect">
            <a:avLst/>
          </a:prstGeom>
          <a:noFill/>
          <a:ln/>
        </p:spPr>
        <p:txBody>
          <a:bodyPr wrap="none" lIns="0" tIns="0" rIns="0" bIns="0" rtlCol="0" anchor="t"/>
          <a:lstStyle/>
          <a:p>
            <a:pPr marL="0" indent="0">
              <a:buNone/>
            </a:pPr>
            <a:r>
              <a:rPr lang="en-US" sz="625" dirty="0">
                <a:solidFill>
                  <a:srgbClr val="7FA8FF"/>
                </a:solidFill>
                <a:latin typeface="Sometype Mono" pitchFamily="34" charset="0"/>
                <a:ea typeface="Sometype Mono" pitchFamily="34" charset="-122"/>
                <a:cs typeface="Sometype Mono" pitchFamily="34" charset="-120"/>
              </a:rPr>
              <a:t>curl</a:t>
            </a:r>
            <a:r>
              <a:rPr lang="en-US" sz="625" dirty="0">
                <a:solidFill>
                  <a:srgbClr val="E6EDF7"/>
                </a:solidFill>
                <a:latin typeface="Sometype Mono" pitchFamily="34" charset="0"/>
                <a:ea typeface="Sometype Mono" pitchFamily="34" charset="-122"/>
                <a:cs typeface="Sometype Mono" pitchFamily="34" charset="-120"/>
              </a:rPr>
              <a:t> -X POST localhost:8182/identify -H </a:t>
            </a:r>
            <a:r>
              <a:rPr lang="en-US" sz="625" dirty="0">
                <a:solidFill>
                  <a:srgbClr val="6BD7A0"/>
                </a:solidFill>
                <a:latin typeface="Sometype Mono" pitchFamily="34" charset="0"/>
                <a:ea typeface="Sometype Mono" pitchFamily="34" charset="-122"/>
                <a:cs typeface="Sometype Mono" pitchFamily="34" charset="-120"/>
              </a:rPr>
              <a:t>'content-type: application/json'</a:t>
            </a:r>
            <a:r>
              <a:rPr lang="en-US" sz="625" dirty="0">
                <a:solidFill>
                  <a:srgbClr val="E6EDF7"/>
                </a:solidFill>
                <a:latin typeface="Sometype Mono" pitchFamily="34" charset="0"/>
                <a:ea typeface="Sometype Mono" pitchFamily="34" charset="-122"/>
                <a:cs typeface="Sometype Mono" pitchFamily="34" charset="-120"/>
              </a:rPr>
              <a:t> -d </a:t>
            </a:r>
            <a:r>
              <a:rPr lang="en-US" sz="625" dirty="0">
                <a:solidFill>
                  <a:srgbClr val="6BD7A0"/>
                </a:solidFill>
                <a:latin typeface="Sometype Mono" pitchFamily="34" charset="0"/>
                <a:ea typeface="Sometype Mono" pitchFamily="34" charset="-122"/>
                <a:cs typeface="Sometype Mono" pitchFamily="34" charset="-120"/>
              </a:rPr>
              <a:t>'{</a:t>
            </a:r>
            <a:endParaRPr lang="en-US" sz="625" dirty="0"/>
          </a:p>
        </p:txBody>
      </p:sp>
      <p:sp>
        <p:nvSpPr>
          <p:cNvPr id="37" name="Text 34"/>
          <p:cNvSpPr txBox="1"/>
          <p:nvPr/>
        </p:nvSpPr>
        <p:spPr>
          <a:xfrm>
            <a:off x="877824" y="5792343"/>
            <a:ext cx="4213448" cy="236728"/>
          </a:xfrm>
          <a:prstGeom prst="rect">
            <a:avLst/>
          </a:prstGeom>
          <a:noFill/>
          <a:ln/>
        </p:spPr>
        <p:txBody>
          <a:bodyPr wrap="none" lIns="0" tIns="0" rIns="0" bIns="0" rtlCol="0" anchor="t"/>
          <a:lstStyle/>
          <a:p>
            <a:pPr marL="0" indent="0">
              <a:buNone/>
            </a:pPr>
            <a:r>
              <a:rPr lang="en-US" sz="625" dirty="0">
                <a:solidFill>
                  <a:srgbClr val="E6EDF7"/>
                </a:solidFill>
                <a:latin typeface="Sometype Mono" pitchFamily="34" charset="0"/>
                <a:ea typeface="Sometype Mono" pitchFamily="34" charset="-122"/>
                <a:cs typeface="Sometype Mono" pitchFamily="34" charset="-120"/>
              </a:rPr>
              <a:t>  "query_type": "identify",</a:t>
            </a:r>
            <a:endParaRPr lang="en-US" sz="625" dirty="0"/>
          </a:p>
        </p:txBody>
      </p:sp>
      <p:sp>
        <p:nvSpPr>
          <p:cNvPr id="38" name="Text 35"/>
          <p:cNvSpPr txBox="1"/>
          <p:nvPr/>
        </p:nvSpPr>
        <p:spPr>
          <a:xfrm>
            <a:off x="877824" y="5911405"/>
            <a:ext cx="4213448" cy="236728"/>
          </a:xfrm>
          <a:prstGeom prst="rect">
            <a:avLst/>
          </a:prstGeom>
          <a:noFill/>
          <a:ln/>
        </p:spPr>
        <p:txBody>
          <a:bodyPr wrap="none" lIns="0" tIns="0" rIns="0" bIns="0" rtlCol="0" anchor="t"/>
          <a:lstStyle/>
          <a:p>
            <a:pPr marL="0" indent="0">
              <a:buNone/>
            </a:pPr>
            <a:r>
              <a:rPr lang="en-US" sz="625" dirty="0">
                <a:solidFill>
                  <a:srgbClr val="E6EDF7"/>
                </a:solidFill>
                <a:latin typeface="Sometype Mono" pitchFamily="34" charset="0"/>
                <a:ea typeface="Sometype Mono" pitchFamily="34" charset="-122"/>
                <a:cs typeface="Sometype Mono" pitchFamily="34" charset="-120"/>
              </a:rPr>
              <a:t>  "facts": {"mac":"a8:41:f4:…",</a:t>
            </a:r>
            <a:endParaRPr lang="en-US" sz="625" dirty="0"/>
          </a:p>
        </p:txBody>
      </p:sp>
      <p:sp>
        <p:nvSpPr>
          <p:cNvPr id="39" name="Text 36"/>
          <p:cNvSpPr txBox="1"/>
          <p:nvPr/>
        </p:nvSpPr>
        <p:spPr>
          <a:xfrm>
            <a:off x="877824" y="6030468"/>
            <a:ext cx="4213448" cy="236728"/>
          </a:xfrm>
          <a:prstGeom prst="rect">
            <a:avLst/>
          </a:prstGeom>
          <a:noFill/>
          <a:ln/>
        </p:spPr>
        <p:txBody>
          <a:bodyPr wrap="none" lIns="0" tIns="0" rIns="0" bIns="0" rtlCol="0" anchor="t"/>
          <a:lstStyle/>
          <a:p>
            <a:pPr marL="0" indent="0">
              <a:buNone/>
            </a:pPr>
            <a:r>
              <a:rPr lang="en-US" sz="625" dirty="0">
                <a:solidFill>
                  <a:srgbClr val="E6EDF7"/>
                </a:solidFill>
                <a:latin typeface="Sometype Mono" pitchFamily="34" charset="0"/>
                <a:ea typeface="Sometype Mono" pitchFamily="34" charset="-122"/>
                <a:cs typeface="Sometype Mono" pitchFamily="34" charset="-120"/>
              </a:rPr>
              <a:t>            "oui_vendor":"AzureWave", "open_ports":[80]}</a:t>
            </a:r>
            <a:endParaRPr lang="en-US" sz="625" dirty="0"/>
          </a:p>
        </p:txBody>
      </p:sp>
      <p:sp>
        <p:nvSpPr>
          <p:cNvPr id="40" name="Text 37"/>
          <p:cNvSpPr txBox="1"/>
          <p:nvPr/>
        </p:nvSpPr>
        <p:spPr>
          <a:xfrm>
            <a:off x="877824" y="6149530"/>
            <a:ext cx="4213448" cy="236728"/>
          </a:xfrm>
          <a:prstGeom prst="rect">
            <a:avLst/>
          </a:prstGeom>
          <a:noFill/>
          <a:ln/>
        </p:spPr>
        <p:txBody>
          <a:bodyPr wrap="none" lIns="0" tIns="0" rIns="0" bIns="0" rtlCol="0" anchor="t"/>
          <a:lstStyle/>
          <a:p>
            <a:pPr marL="0" indent="0">
              <a:buNone/>
            </a:pPr>
            <a:r>
              <a:rPr lang="en-US" sz="625" dirty="0">
                <a:solidFill>
                  <a:srgbClr val="E6EDF7"/>
                </a:solidFill>
                <a:latin typeface="Sometype Mono" pitchFamily="34" charset="0"/>
                <a:ea typeface="Sometype Mono" pitchFamily="34" charset="-122"/>
                <a:cs typeface="Sometype Mono" pitchFamily="34" charset="-120"/>
              </a:rPr>
              <a:t>}'</a:t>
            </a:r>
            <a:endParaRPr lang="en-US" sz="625" dirty="0"/>
          </a:p>
        </p:txBody>
      </p:sp>
      <p:grpSp>
        <p:nvGrpSpPr>
          <p:cNvPr id="45" name="Group 44">
            <a:extLst>
              <a:ext uri="{FF2B5EF4-FFF2-40B4-BE49-F238E27FC236}">
                <a16:creationId xmlns:a16="http://schemas.microsoft.com/office/drawing/2014/main" id="{55DA1701-05A2-2D91-88DA-8E9588AECB21}"/>
              </a:ext>
            </a:extLst>
          </p:cNvPr>
          <p:cNvGrpSpPr/>
          <p:nvPr/>
        </p:nvGrpSpPr>
        <p:grpSpPr>
          <a:xfrm>
            <a:off x="5601506" y="1912884"/>
            <a:ext cx="6327648" cy="4076619"/>
            <a:chOff x="7406640" y="2256465"/>
            <a:chExt cx="4149547" cy="2633106"/>
          </a:xfrm>
        </p:grpSpPr>
        <p:sp>
          <p:nvSpPr>
            <p:cNvPr id="41" name="Shape 38"/>
            <p:cNvSpPr/>
            <p:nvPr/>
          </p:nvSpPr>
          <p:spPr>
            <a:xfrm>
              <a:off x="7447788" y="2306757"/>
              <a:ext cx="4108399" cy="2582814"/>
            </a:xfrm>
            <a:prstGeom prst="rect">
              <a:avLst/>
            </a:prstGeom>
            <a:solidFill>
              <a:srgbClr val="8894A8">
                <a:alpha val="30000"/>
              </a:srgbClr>
            </a:solidFill>
            <a:ln/>
          </p:spPr>
          <p:txBody>
            <a:bodyPr/>
            <a:lstStyle/>
            <a:p>
              <a:endParaRPr lang="en-TR"/>
            </a:p>
          </p:txBody>
        </p:sp>
        <p:pic>
          <p:nvPicPr>
            <p:cNvPr id="42" name="Image 1" descr="/home/claude/decks/products/mynes/img/oui.jpg"/>
            <p:cNvPicPr>
              <a:picLocks noChangeAspect="1"/>
            </p:cNvPicPr>
            <p:nvPr/>
          </p:nvPicPr>
          <p:blipFill>
            <a:blip r:embed="rId4"/>
            <a:stretch>
              <a:fillRect/>
            </a:stretch>
          </p:blipFill>
          <p:spPr>
            <a:xfrm>
              <a:off x="7406640" y="2256465"/>
              <a:ext cx="4108399" cy="2582814"/>
            </a:xfrm>
            <a:prstGeom prst="rect">
              <a:avLst/>
            </a:prstGeom>
          </p:spPr>
        </p:pic>
        <p:sp>
          <p:nvSpPr>
            <p:cNvPr id="43" name="Shape 39"/>
            <p:cNvSpPr/>
            <p:nvPr/>
          </p:nvSpPr>
          <p:spPr>
            <a:xfrm>
              <a:off x="7406640" y="2256465"/>
              <a:ext cx="4108399" cy="2582814"/>
            </a:xfrm>
            <a:prstGeom prst="rect">
              <a:avLst/>
            </a:prstGeom>
            <a:ln w="12700">
              <a:solidFill>
                <a:srgbClr val="E2E7EF"/>
              </a:solidFill>
              <a:prstDash val="solid"/>
            </a:ln>
          </p:spPr>
          <p:txBody>
            <a:bodyPr/>
            <a:lstStyle/>
            <a:p>
              <a:endParaRPr lang="en-T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992581"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992581"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Monitoring</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868497"/>
            <a:ext cx="6419088" cy="753110"/>
          </a:xfrm>
          <a:prstGeom prst="rect">
            <a:avLst/>
          </a:prstGeom>
          <a:noFill/>
          <a:ln/>
        </p:spPr>
        <p:txBody>
          <a:bodyPr wrap="square" lIns="0" tIns="0" rIns="0" bIns="0" rtlCol="0" anchor="t"/>
          <a:lstStyle/>
          <a:p>
            <a:pPr marL="0" indent="0" algn="l">
              <a:lnSpc>
                <a:spcPts val="3410"/>
              </a:lnSpc>
              <a:buNone/>
            </a:pPr>
            <a:r>
              <a:rPr lang="en-US" sz="3100" b="1" kern="0" spc="-43" dirty="0">
                <a:solidFill>
                  <a:srgbClr val="141A24"/>
                </a:solidFill>
                <a:latin typeface="Saira Cond" pitchFamily="34" charset="0"/>
                <a:ea typeface="Saira Cond" pitchFamily="34" charset="-122"/>
                <a:cs typeface="Saira Cond" pitchFamily="34" charset="-120"/>
              </a:rPr>
              <a:t>Scan, diff, and only then interrupt me.</a:t>
            </a:r>
            <a:endParaRPr lang="en-US" sz="3100" dirty="0"/>
          </a:p>
        </p:txBody>
      </p:sp>
      <p:sp>
        <p:nvSpPr>
          <p:cNvPr id="12" name="Text 9"/>
          <p:cNvSpPr txBox="1"/>
          <p:nvPr/>
        </p:nvSpPr>
        <p:spPr>
          <a:xfrm>
            <a:off x="676656" y="1525148"/>
            <a:ext cx="4458044" cy="624713"/>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MyNeS re-scans on a schedule, diffs the result against the previous run, and raises only what changed in a way you would want to know about.</a:t>
            </a:r>
            <a:endParaRPr lang="en-US" sz="1150" dirty="0"/>
          </a:p>
        </p:txBody>
      </p:sp>
      <p:sp>
        <p:nvSpPr>
          <p:cNvPr id="13" name="Shape 10"/>
          <p:cNvSpPr/>
          <p:nvPr/>
        </p:nvSpPr>
        <p:spPr>
          <a:xfrm>
            <a:off x="708661" y="2334014"/>
            <a:ext cx="74624" cy="105613"/>
          </a:xfrm>
          <a:prstGeom prst="ellipse">
            <a:avLst/>
          </a:prstGeom>
          <a:solidFill>
            <a:srgbClr val="3D6FF5"/>
          </a:solidFill>
          <a:ln/>
        </p:spPr>
        <p:txBody>
          <a:bodyPr/>
          <a:lstStyle/>
          <a:p>
            <a:endParaRPr lang="en-TR"/>
          </a:p>
        </p:txBody>
      </p:sp>
      <p:sp>
        <p:nvSpPr>
          <p:cNvPr id="14" name="Text 11"/>
          <p:cNvSpPr txBox="1"/>
          <p:nvPr/>
        </p:nvSpPr>
        <p:spPr>
          <a:xfrm>
            <a:off x="914400" y="2223371"/>
            <a:ext cx="4290060"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New device joined</a:t>
            </a:r>
            <a:r>
              <a:rPr lang="en-US" sz="1100" dirty="0">
                <a:solidFill>
                  <a:srgbClr val="606A79"/>
                </a:solidFill>
                <a:latin typeface="Saira" pitchFamily="34" charset="0"/>
                <a:ea typeface="Saira" pitchFamily="34" charset="-122"/>
                <a:cs typeface="Saira" pitchFamily="34" charset="-120"/>
              </a:rPr>
              <a:t> · </a:t>
            </a:r>
            <a:r>
              <a:rPr lang="en-US" sz="1100" dirty="0">
                <a:solidFill>
                  <a:srgbClr val="141A24"/>
                </a:solidFill>
                <a:latin typeface="Saira Medium" pitchFamily="34" charset="0"/>
                <a:ea typeface="Saira Medium" pitchFamily="34" charset="-122"/>
                <a:cs typeface="Saira Medium" pitchFamily="34" charset="-120"/>
              </a:rPr>
              <a:t>device went offline</a:t>
            </a:r>
            <a:r>
              <a:rPr lang="en-US" sz="1100" dirty="0">
                <a:solidFill>
                  <a:srgbClr val="606A79"/>
                </a:solidFill>
                <a:latin typeface="Saira" pitchFamily="34" charset="0"/>
                <a:ea typeface="Saira" pitchFamily="34" charset="-122"/>
                <a:cs typeface="Saira" pitchFamily="34" charset="-120"/>
              </a:rPr>
              <a:t> · </a:t>
            </a:r>
            <a:r>
              <a:rPr lang="en-US" sz="1100" dirty="0">
                <a:solidFill>
                  <a:srgbClr val="141A24"/>
                </a:solidFill>
                <a:latin typeface="Saira Medium" pitchFamily="34" charset="0"/>
                <a:ea typeface="Saira Medium" pitchFamily="34" charset="-122"/>
                <a:cs typeface="Saira Medium" pitchFamily="34" charset="-120"/>
              </a:rPr>
              <a:t>IP changed</a:t>
            </a:r>
            <a:endParaRPr lang="en-US" sz="1100" dirty="0"/>
          </a:p>
        </p:txBody>
      </p:sp>
      <p:sp>
        <p:nvSpPr>
          <p:cNvPr id="15" name="Shape 12"/>
          <p:cNvSpPr/>
          <p:nvPr/>
        </p:nvSpPr>
        <p:spPr>
          <a:xfrm>
            <a:off x="708661" y="2715268"/>
            <a:ext cx="74624" cy="105613"/>
          </a:xfrm>
          <a:prstGeom prst="ellipse">
            <a:avLst/>
          </a:prstGeom>
          <a:solidFill>
            <a:srgbClr val="17A05C"/>
          </a:solidFill>
          <a:ln/>
        </p:spPr>
        <p:txBody>
          <a:bodyPr/>
          <a:lstStyle/>
          <a:p>
            <a:endParaRPr lang="en-TR"/>
          </a:p>
        </p:txBody>
      </p:sp>
      <p:sp>
        <p:nvSpPr>
          <p:cNvPr id="16" name="Text 13"/>
          <p:cNvSpPr txBox="1"/>
          <p:nvPr/>
        </p:nvSpPr>
        <p:spPr>
          <a:xfrm>
            <a:off x="914400" y="2604625"/>
            <a:ext cx="4290060"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MAC changed for a known IP</a:t>
            </a:r>
            <a:r>
              <a:rPr lang="en-US" sz="1100" dirty="0">
                <a:solidFill>
                  <a:srgbClr val="606A79"/>
                </a:solidFill>
                <a:latin typeface="Saira" pitchFamily="34" charset="0"/>
                <a:ea typeface="Saira" pitchFamily="34" charset="-122"/>
                <a:cs typeface="Saira" pitchFamily="34" charset="-120"/>
              </a:rPr>
              <a:t> — the ARP-spoofing signal.</a:t>
            </a:r>
            <a:endParaRPr lang="en-US" sz="1100" dirty="0"/>
          </a:p>
        </p:txBody>
      </p:sp>
      <p:sp>
        <p:nvSpPr>
          <p:cNvPr id="17" name="Shape 14"/>
          <p:cNvSpPr/>
          <p:nvPr/>
        </p:nvSpPr>
        <p:spPr>
          <a:xfrm>
            <a:off x="708661" y="3096522"/>
            <a:ext cx="74624" cy="105613"/>
          </a:xfrm>
          <a:prstGeom prst="ellipse">
            <a:avLst/>
          </a:prstGeom>
          <a:solidFill>
            <a:srgbClr val="D98A1F"/>
          </a:solidFill>
          <a:ln/>
        </p:spPr>
        <p:txBody>
          <a:bodyPr/>
          <a:lstStyle/>
          <a:p>
            <a:endParaRPr lang="en-TR"/>
          </a:p>
        </p:txBody>
      </p:sp>
      <p:sp>
        <p:nvSpPr>
          <p:cNvPr id="18" name="Text 15"/>
          <p:cNvSpPr txBox="1"/>
          <p:nvPr/>
        </p:nvSpPr>
        <p:spPr>
          <a:xfrm>
            <a:off x="914400" y="2985879"/>
            <a:ext cx="4290060"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A new port opened</a:t>
            </a:r>
            <a:r>
              <a:rPr lang="en-US" sz="1100" dirty="0">
                <a:solidFill>
                  <a:srgbClr val="606A79"/>
                </a:solidFill>
                <a:latin typeface="Saira" pitchFamily="34" charset="0"/>
                <a:ea typeface="Saira" pitchFamily="34" charset="-122"/>
                <a:cs typeface="Saira" pitchFamily="34" charset="-120"/>
              </a:rPr>
              <a:t> on a device that did not have it yesterday.</a:t>
            </a:r>
            <a:endParaRPr lang="en-US" sz="1100" dirty="0"/>
          </a:p>
        </p:txBody>
      </p:sp>
      <p:sp>
        <p:nvSpPr>
          <p:cNvPr id="19" name="Shape 16"/>
          <p:cNvSpPr/>
          <p:nvPr/>
        </p:nvSpPr>
        <p:spPr>
          <a:xfrm>
            <a:off x="708661" y="3477776"/>
            <a:ext cx="74624" cy="105613"/>
          </a:xfrm>
          <a:prstGeom prst="ellipse">
            <a:avLst/>
          </a:prstGeom>
          <a:solidFill>
            <a:srgbClr val="DC3F4A"/>
          </a:solidFill>
          <a:ln/>
        </p:spPr>
        <p:txBody>
          <a:bodyPr/>
          <a:lstStyle/>
          <a:p>
            <a:endParaRPr lang="en-TR"/>
          </a:p>
        </p:txBody>
      </p:sp>
      <p:sp>
        <p:nvSpPr>
          <p:cNvPr id="20" name="Text 17"/>
          <p:cNvSpPr txBox="1"/>
          <p:nvPr/>
        </p:nvSpPr>
        <p:spPr>
          <a:xfrm>
            <a:off x="914400" y="3367133"/>
            <a:ext cx="4290060"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Low voltage</a:t>
            </a:r>
            <a:r>
              <a:rPr lang="en-US" sz="1100" dirty="0">
                <a:solidFill>
                  <a:srgbClr val="606A79"/>
                </a:solidFill>
                <a:latin typeface="Saira" pitchFamily="34" charset="0"/>
                <a:ea typeface="Saira" pitchFamily="34" charset="-122"/>
                <a:cs typeface="Saira" pitchFamily="34" charset="-120"/>
              </a:rPr>
              <a:t> (Raspberry Pi power problems), </a:t>
            </a:r>
            <a:r>
              <a:rPr lang="en-US" sz="1100" dirty="0">
                <a:solidFill>
                  <a:srgbClr val="141A24"/>
                </a:solidFill>
                <a:latin typeface="Saira Medium" pitchFamily="34" charset="0"/>
                <a:ea typeface="Saira Medium" pitchFamily="34" charset="-122"/>
                <a:cs typeface="Saira Medium" pitchFamily="34" charset="-120"/>
              </a:rPr>
              <a:t>low battery</a:t>
            </a:r>
            <a:r>
              <a:rPr lang="en-US" sz="1100" dirty="0">
                <a:solidFill>
                  <a:srgbClr val="606A79"/>
                </a:solidFill>
                <a:latin typeface="Saira" pitchFamily="34" charset="0"/>
                <a:ea typeface="Saira" pitchFamily="34" charset="-122"/>
                <a:cs typeface="Saira" pitchFamily="34" charset="-120"/>
              </a:rPr>
              <a:t>, </a:t>
            </a:r>
            <a:r>
              <a:rPr lang="en-US" sz="1100" dirty="0">
                <a:solidFill>
                  <a:srgbClr val="141A24"/>
                </a:solidFill>
                <a:latin typeface="Saira Medium" pitchFamily="34" charset="0"/>
                <a:ea typeface="Saira Medium" pitchFamily="34" charset="-122"/>
                <a:cs typeface="Saira Medium" pitchFamily="34" charset="-120"/>
              </a:rPr>
              <a:t>high latency</a:t>
            </a:r>
            <a:r>
              <a:rPr lang="en-US" sz="1100" dirty="0">
                <a:solidFill>
                  <a:srgbClr val="606A79"/>
                </a:solidFill>
                <a:latin typeface="Saira" pitchFamily="34" charset="0"/>
                <a:ea typeface="Saira" pitchFamily="34" charset="-122"/>
                <a:cs typeface="Saira" pitchFamily="34" charset="-120"/>
              </a:rPr>
              <a:t>, </a:t>
            </a:r>
            <a:r>
              <a:rPr lang="en-US" sz="1100" dirty="0">
                <a:solidFill>
                  <a:srgbClr val="141A24"/>
                </a:solidFill>
                <a:latin typeface="Saira Medium" pitchFamily="34" charset="0"/>
                <a:ea typeface="Saira Medium" pitchFamily="34" charset="-122"/>
                <a:cs typeface="Saira Medium" pitchFamily="34" charset="-120"/>
              </a:rPr>
              <a:t>weak signal</a:t>
            </a:r>
            <a:r>
              <a:rPr lang="en-US" sz="1100" dirty="0">
                <a:solidFill>
                  <a:srgbClr val="606A79"/>
                </a:solidFill>
                <a:latin typeface="Saira" pitchFamily="34" charset="0"/>
                <a:ea typeface="Saira" pitchFamily="34" charset="-122"/>
                <a:cs typeface="Saira" pitchFamily="34" charset="-120"/>
              </a:rPr>
              <a:t>.</a:t>
            </a:r>
            <a:endParaRPr lang="en-US" sz="1100" dirty="0"/>
          </a:p>
        </p:txBody>
      </p:sp>
      <p:sp>
        <p:nvSpPr>
          <p:cNvPr id="21" name="Shape 18"/>
          <p:cNvSpPr/>
          <p:nvPr/>
        </p:nvSpPr>
        <p:spPr>
          <a:xfrm>
            <a:off x="708661" y="3859030"/>
            <a:ext cx="74624" cy="105613"/>
          </a:xfrm>
          <a:prstGeom prst="ellipse">
            <a:avLst/>
          </a:prstGeom>
          <a:solidFill>
            <a:srgbClr val="3D6FF5"/>
          </a:solidFill>
          <a:ln/>
        </p:spPr>
        <p:txBody>
          <a:bodyPr/>
          <a:lstStyle/>
          <a:p>
            <a:endParaRPr lang="en-TR"/>
          </a:p>
        </p:txBody>
      </p:sp>
      <p:sp>
        <p:nvSpPr>
          <p:cNvPr id="22" name="Text 19"/>
          <p:cNvSpPr txBox="1"/>
          <p:nvPr/>
        </p:nvSpPr>
        <p:spPr>
          <a:xfrm>
            <a:off x="914400" y="3748387"/>
            <a:ext cx="4290060" cy="616204"/>
          </a:xfrm>
          <a:prstGeom prst="rect">
            <a:avLst/>
          </a:prstGeom>
          <a:noFill/>
          <a:ln/>
        </p:spPr>
        <p:txBody>
          <a:bodyPr wrap="square" lIns="0" tIns="0" rIns="0" bIns="0" rtlCol="0" anchor="t"/>
          <a:lstStyle/>
          <a:p>
            <a:pPr marL="0" indent="0" algn="l">
              <a:lnSpc>
                <a:spcPts val="1562"/>
              </a:lnSpc>
              <a:buNone/>
            </a:pPr>
            <a:r>
              <a:rPr lang="en-US" sz="1100" dirty="0">
                <a:solidFill>
                  <a:srgbClr val="606A79"/>
                </a:solidFill>
                <a:latin typeface="Saira" pitchFamily="34" charset="0"/>
                <a:ea typeface="Saira" pitchFamily="34" charset="-122"/>
                <a:cs typeface="Saira" pitchFamily="34" charset="-120"/>
              </a:rPr>
              <a:t>Channels: </a:t>
            </a:r>
            <a:r>
              <a:rPr lang="en-US" sz="1100" dirty="0">
                <a:solidFill>
                  <a:srgbClr val="141A24"/>
                </a:solidFill>
                <a:latin typeface="Saira Medium" pitchFamily="34" charset="0"/>
                <a:ea typeface="Saira Medium" pitchFamily="34" charset="-122"/>
                <a:cs typeface="Saira Medium" pitchFamily="34" charset="-120"/>
              </a:rPr>
              <a:t>MyNeS's own Web Push</a:t>
            </a:r>
            <a:r>
              <a:rPr lang="en-US" sz="1100" dirty="0">
                <a:solidFill>
                  <a:srgbClr val="606A79"/>
                </a:solidFill>
                <a:latin typeface="Saira" pitchFamily="34" charset="0"/>
                <a:ea typeface="Saira" pitchFamily="34" charset="-122"/>
                <a:cs typeface="Saira" pitchFamily="34" charset="-120"/>
              </a:rPr>
              <a:t> (no Home Assistant and no third-party service needed), Home Assistant </a:t>
            </a:r>
            <a:r>
              <a:rPr lang="en-US" sz="990" dirty="0">
                <a:solidFill>
                  <a:srgbClr val="141A24"/>
                </a:solidFill>
                <a:latin typeface="Sometype Mono" pitchFamily="34" charset="0"/>
                <a:ea typeface="Sometype Mono" pitchFamily="34" charset="-122"/>
                <a:cs typeface="Sometype Mono" pitchFamily="34" charset="-120"/>
              </a:rPr>
              <a:t>notify</a:t>
            </a:r>
            <a:r>
              <a:rPr lang="en-US" sz="1100" dirty="0">
                <a:solidFill>
                  <a:srgbClr val="606A79"/>
                </a:solidFill>
                <a:latin typeface="Saira" pitchFamily="34" charset="0"/>
                <a:ea typeface="Saira" pitchFamily="34" charset="-122"/>
                <a:cs typeface="Saira" pitchFamily="34" charset="-120"/>
              </a:rPr>
              <a:t>, ntfy, Telegram, Webhook, Slack, Discord and e-mail.</a:t>
            </a:r>
            <a:endParaRPr lang="en-US" sz="1100" dirty="0"/>
          </a:p>
        </p:txBody>
      </p:sp>
      <p:sp>
        <p:nvSpPr>
          <p:cNvPr id="23" name="Shape 20"/>
          <p:cNvSpPr/>
          <p:nvPr/>
        </p:nvSpPr>
        <p:spPr>
          <a:xfrm>
            <a:off x="708661" y="4438658"/>
            <a:ext cx="74624" cy="105613"/>
          </a:xfrm>
          <a:prstGeom prst="ellipse">
            <a:avLst/>
          </a:prstGeom>
          <a:solidFill>
            <a:srgbClr val="17A05C"/>
          </a:solidFill>
          <a:ln/>
        </p:spPr>
        <p:txBody>
          <a:bodyPr/>
          <a:lstStyle/>
          <a:p>
            <a:endParaRPr lang="en-TR"/>
          </a:p>
        </p:txBody>
      </p:sp>
      <p:sp>
        <p:nvSpPr>
          <p:cNvPr id="24" name="Text 21"/>
          <p:cNvSpPr txBox="1"/>
          <p:nvPr/>
        </p:nvSpPr>
        <p:spPr>
          <a:xfrm>
            <a:off x="914400" y="4328015"/>
            <a:ext cx="4290060" cy="616204"/>
          </a:xfrm>
          <a:prstGeom prst="rect">
            <a:avLst/>
          </a:prstGeom>
          <a:noFill/>
          <a:ln/>
        </p:spPr>
        <p:txBody>
          <a:bodyPr wrap="square" lIns="0" tIns="0" rIns="0" bIns="0" rtlCol="0" anchor="t"/>
          <a:lstStyle/>
          <a:p>
            <a:pPr marL="0" indent="0" algn="l">
              <a:lnSpc>
                <a:spcPts val="1562"/>
              </a:lnSpc>
              <a:buNone/>
            </a:pPr>
            <a:r>
              <a:rPr lang="en-US" sz="1100" dirty="0">
                <a:solidFill>
                  <a:srgbClr val="606A79"/>
                </a:solidFill>
                <a:latin typeface="Saira" pitchFamily="34" charset="0"/>
                <a:ea typeface="Saira" pitchFamily="34" charset="-122"/>
                <a:cs typeface="Saira" pitchFamily="34" charset="-120"/>
              </a:rPr>
              <a:t>Rotating daily logs with a day picker survive a restart, so “what happened at 03:00” is answerable.</a:t>
            </a:r>
            <a:endParaRPr lang="en-US" sz="1100" dirty="0"/>
          </a:p>
        </p:txBody>
      </p:sp>
      <p:grpSp>
        <p:nvGrpSpPr>
          <p:cNvPr id="29" name="Group 28">
            <a:extLst>
              <a:ext uri="{FF2B5EF4-FFF2-40B4-BE49-F238E27FC236}">
                <a16:creationId xmlns:a16="http://schemas.microsoft.com/office/drawing/2014/main" id="{D9AF2E83-4FB1-5754-EAF3-4EB276D58499}"/>
              </a:ext>
            </a:extLst>
          </p:cNvPr>
          <p:cNvGrpSpPr/>
          <p:nvPr/>
        </p:nvGrpSpPr>
        <p:grpSpPr>
          <a:xfrm>
            <a:off x="5676900" y="1525148"/>
            <a:ext cx="6263640" cy="4951841"/>
            <a:chOff x="7498080" y="1815224"/>
            <a:chExt cx="4058107" cy="3515589"/>
          </a:xfrm>
        </p:grpSpPr>
        <p:sp>
          <p:nvSpPr>
            <p:cNvPr id="25" name="Shape 22"/>
            <p:cNvSpPr/>
            <p:nvPr/>
          </p:nvSpPr>
          <p:spPr>
            <a:xfrm>
              <a:off x="7539228" y="1865516"/>
              <a:ext cx="4016959" cy="3465297"/>
            </a:xfrm>
            <a:prstGeom prst="rect">
              <a:avLst/>
            </a:prstGeom>
            <a:solidFill>
              <a:srgbClr val="8894A8">
                <a:alpha val="30000"/>
              </a:srgbClr>
            </a:solidFill>
            <a:ln/>
          </p:spPr>
          <p:txBody>
            <a:bodyPr/>
            <a:lstStyle/>
            <a:p>
              <a:endParaRPr lang="en-TR"/>
            </a:p>
          </p:txBody>
        </p:sp>
        <p:pic>
          <p:nvPicPr>
            <p:cNvPr id="26" name="Image 1" descr="/home/claude/decks/products/mynes/img/alerts.jpg"/>
            <p:cNvPicPr>
              <a:picLocks noChangeAspect="1"/>
            </p:cNvPicPr>
            <p:nvPr/>
          </p:nvPicPr>
          <p:blipFill>
            <a:blip r:embed="rId4"/>
            <a:stretch>
              <a:fillRect/>
            </a:stretch>
          </p:blipFill>
          <p:spPr>
            <a:xfrm>
              <a:off x="7498080" y="1815224"/>
              <a:ext cx="4016959" cy="3465297"/>
            </a:xfrm>
            <a:prstGeom prst="rect">
              <a:avLst/>
            </a:prstGeom>
          </p:spPr>
        </p:pic>
        <p:sp>
          <p:nvSpPr>
            <p:cNvPr id="27" name="Shape 23"/>
            <p:cNvSpPr/>
            <p:nvPr/>
          </p:nvSpPr>
          <p:spPr>
            <a:xfrm>
              <a:off x="7498080" y="1815224"/>
              <a:ext cx="4016959" cy="3465297"/>
            </a:xfrm>
            <a:prstGeom prst="rect">
              <a:avLst/>
            </a:prstGeom>
            <a:ln w="12700">
              <a:solidFill>
                <a:srgbClr val="E2E7EF"/>
              </a:solidFill>
              <a:prstDash val="solid"/>
            </a:ln>
          </p:spPr>
          <p:txBody>
            <a:bodyPr/>
            <a:lstStyle/>
            <a:p>
              <a:endParaRPr lang="en-T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824694"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824694"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Security</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868497"/>
            <a:ext cx="6419088" cy="753110"/>
          </a:xfrm>
          <a:prstGeom prst="rect">
            <a:avLst/>
          </a:prstGeom>
          <a:noFill/>
          <a:ln/>
        </p:spPr>
        <p:txBody>
          <a:bodyPr wrap="square" lIns="0" tIns="0" rIns="0" bIns="0" rtlCol="0" anchor="t"/>
          <a:lstStyle/>
          <a:p>
            <a:pPr marL="0" indent="0" algn="l">
              <a:lnSpc>
                <a:spcPts val="3410"/>
              </a:lnSpc>
              <a:buNone/>
            </a:pPr>
            <a:r>
              <a:rPr lang="en-US" sz="3100" b="1" kern="0" spc="-43" dirty="0">
                <a:solidFill>
                  <a:srgbClr val="141A24"/>
                </a:solidFill>
                <a:latin typeface="Saira Cond" pitchFamily="34" charset="0"/>
                <a:ea typeface="Saira Cond" pitchFamily="34" charset="-122"/>
                <a:cs typeface="Saira Cond" pitchFamily="34" charset="-120"/>
              </a:rPr>
              <a:t>The whole LAN's exposure, worst first.</a:t>
            </a:r>
            <a:endParaRPr lang="en-US" sz="3100" dirty="0"/>
          </a:p>
        </p:txBody>
      </p:sp>
      <p:sp>
        <p:nvSpPr>
          <p:cNvPr id="12" name="Text 9"/>
          <p:cNvSpPr txBox="1"/>
          <p:nvPr/>
        </p:nvSpPr>
        <p:spPr>
          <a:xfrm>
            <a:off x="676656" y="1525148"/>
            <a:ext cx="4252167" cy="624713"/>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One screen for fleet risk and known-CVE exposure, built from a curated offline mapping rather than a live feed.</a:t>
            </a:r>
            <a:endParaRPr lang="en-US" sz="1150" dirty="0"/>
          </a:p>
        </p:txBody>
      </p:sp>
      <p:sp>
        <p:nvSpPr>
          <p:cNvPr id="13" name="Shape 10"/>
          <p:cNvSpPr/>
          <p:nvPr/>
        </p:nvSpPr>
        <p:spPr>
          <a:xfrm>
            <a:off x="708660" y="2334014"/>
            <a:ext cx="71177" cy="105613"/>
          </a:xfrm>
          <a:prstGeom prst="ellipse">
            <a:avLst/>
          </a:prstGeom>
          <a:solidFill>
            <a:srgbClr val="3D6FF5"/>
          </a:solidFill>
          <a:ln/>
        </p:spPr>
        <p:txBody>
          <a:bodyPr/>
          <a:lstStyle/>
          <a:p>
            <a:endParaRPr lang="en-TR"/>
          </a:p>
        </p:txBody>
      </p:sp>
      <p:sp>
        <p:nvSpPr>
          <p:cNvPr id="14" name="Text 11"/>
          <p:cNvSpPr txBox="1"/>
          <p:nvPr/>
        </p:nvSpPr>
        <p:spPr>
          <a:xfrm>
            <a:off x="914400" y="2223371"/>
            <a:ext cx="4091940"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Fleet risk score</a:t>
            </a:r>
            <a:r>
              <a:rPr lang="en-US" sz="1100" dirty="0">
                <a:solidFill>
                  <a:srgbClr val="606A79"/>
                </a:solidFill>
                <a:latin typeface="Saira" pitchFamily="34" charset="0"/>
                <a:ea typeface="Saira" pitchFamily="34" charset="-122"/>
                <a:cs typeface="Saira" pitchFamily="34" charset="-120"/>
              </a:rPr>
              <a:t> with a severity split — Critical / High / Medium / Low.</a:t>
            </a:r>
            <a:endParaRPr lang="en-US" sz="1100" dirty="0"/>
          </a:p>
        </p:txBody>
      </p:sp>
      <p:sp>
        <p:nvSpPr>
          <p:cNvPr id="15" name="Shape 12"/>
          <p:cNvSpPr/>
          <p:nvPr/>
        </p:nvSpPr>
        <p:spPr>
          <a:xfrm>
            <a:off x="708660" y="2715268"/>
            <a:ext cx="71177" cy="105613"/>
          </a:xfrm>
          <a:prstGeom prst="ellipse">
            <a:avLst/>
          </a:prstGeom>
          <a:solidFill>
            <a:srgbClr val="17A05C"/>
          </a:solidFill>
          <a:ln/>
        </p:spPr>
        <p:txBody>
          <a:bodyPr/>
          <a:lstStyle/>
          <a:p>
            <a:endParaRPr lang="en-TR"/>
          </a:p>
        </p:txBody>
      </p:sp>
      <p:sp>
        <p:nvSpPr>
          <p:cNvPr id="16" name="Text 13"/>
          <p:cNvSpPr txBox="1"/>
          <p:nvPr/>
        </p:nvSpPr>
        <p:spPr>
          <a:xfrm>
            <a:off x="914400" y="2604625"/>
            <a:ext cx="409194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What to fix first</a:t>
            </a:r>
            <a:r>
              <a:rPr lang="en-US" sz="1100" dirty="0">
                <a:solidFill>
                  <a:srgbClr val="606A79"/>
                </a:solidFill>
                <a:latin typeface="Saira" pitchFamily="34" charset="0"/>
                <a:ea typeface="Saira" pitchFamily="34" charset="-122"/>
                <a:cs typeface="Saira" pitchFamily="34" charset="-120"/>
              </a:rPr>
              <a:t> — exposed Telnet, SMB/NetBIOS (EternalBlue), VNC and friends, each with the number of devices affected.</a:t>
            </a:r>
            <a:endParaRPr lang="en-US" sz="1100" dirty="0"/>
          </a:p>
        </p:txBody>
      </p:sp>
      <p:sp>
        <p:nvSpPr>
          <p:cNvPr id="17" name="Shape 14"/>
          <p:cNvSpPr/>
          <p:nvPr/>
        </p:nvSpPr>
        <p:spPr>
          <a:xfrm>
            <a:off x="708660" y="3294896"/>
            <a:ext cx="71177" cy="105613"/>
          </a:xfrm>
          <a:prstGeom prst="ellipse">
            <a:avLst/>
          </a:prstGeom>
          <a:solidFill>
            <a:srgbClr val="D98A1F"/>
          </a:solidFill>
          <a:ln/>
        </p:spPr>
        <p:txBody>
          <a:bodyPr/>
          <a:lstStyle/>
          <a:p>
            <a:endParaRPr lang="en-TR"/>
          </a:p>
        </p:txBody>
      </p:sp>
      <p:sp>
        <p:nvSpPr>
          <p:cNvPr id="18" name="Text 15"/>
          <p:cNvSpPr txBox="1"/>
          <p:nvPr/>
        </p:nvSpPr>
        <p:spPr>
          <a:xfrm>
            <a:off x="914400" y="3184253"/>
            <a:ext cx="4091940"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Per device</a:t>
            </a:r>
            <a:r>
              <a:rPr lang="en-US" sz="1100" dirty="0">
                <a:solidFill>
                  <a:srgbClr val="606A79"/>
                </a:solidFill>
                <a:latin typeface="Saira" pitchFamily="34" charset="0"/>
                <a:ea typeface="Saira" pitchFamily="34" charset="-122"/>
                <a:cs typeface="Saira" pitchFamily="34" charset="-120"/>
              </a:rPr>
              <a:t> — scan, acknowledge, watch &amp; alert, export.</a:t>
            </a:r>
            <a:endParaRPr lang="en-US" sz="1100" dirty="0"/>
          </a:p>
        </p:txBody>
      </p:sp>
      <p:sp>
        <p:nvSpPr>
          <p:cNvPr id="19" name="Shape 16"/>
          <p:cNvSpPr/>
          <p:nvPr/>
        </p:nvSpPr>
        <p:spPr>
          <a:xfrm>
            <a:off x="708660" y="3676150"/>
            <a:ext cx="71177" cy="105613"/>
          </a:xfrm>
          <a:prstGeom prst="ellipse">
            <a:avLst/>
          </a:prstGeom>
          <a:solidFill>
            <a:srgbClr val="DC3F4A"/>
          </a:solidFill>
          <a:ln/>
        </p:spPr>
        <p:txBody>
          <a:bodyPr/>
          <a:lstStyle/>
          <a:p>
            <a:endParaRPr lang="en-TR"/>
          </a:p>
        </p:txBody>
      </p:sp>
      <p:sp>
        <p:nvSpPr>
          <p:cNvPr id="20" name="Text 17"/>
          <p:cNvSpPr txBox="1"/>
          <p:nvPr/>
        </p:nvSpPr>
        <p:spPr>
          <a:xfrm>
            <a:off x="914400" y="3565507"/>
            <a:ext cx="409194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Encrypted credential storage</a:t>
            </a:r>
            <a:r>
              <a:rPr lang="en-US" sz="1100" dirty="0">
                <a:solidFill>
                  <a:srgbClr val="606A79"/>
                </a:solidFill>
                <a:latin typeface="Saira" pitchFamily="34" charset="0"/>
                <a:ea typeface="Saira" pitchFamily="34" charset="-122"/>
                <a:cs typeface="Saira" pitchFamily="34" charset="-120"/>
              </a:rPr>
              <a:t> (Fernet / AES-256) for SSH, FTP, HTTP and SNMP, with restricted file permissions.</a:t>
            </a:r>
            <a:endParaRPr lang="en-US" sz="1100" dirty="0"/>
          </a:p>
        </p:txBody>
      </p:sp>
      <p:sp>
        <p:nvSpPr>
          <p:cNvPr id="21" name="Shape 18"/>
          <p:cNvSpPr/>
          <p:nvPr/>
        </p:nvSpPr>
        <p:spPr>
          <a:xfrm>
            <a:off x="708660" y="4255778"/>
            <a:ext cx="71177" cy="105613"/>
          </a:xfrm>
          <a:prstGeom prst="ellipse">
            <a:avLst/>
          </a:prstGeom>
          <a:solidFill>
            <a:srgbClr val="3D6FF5"/>
          </a:solidFill>
          <a:ln/>
        </p:spPr>
        <p:txBody>
          <a:bodyPr/>
          <a:lstStyle/>
          <a:p>
            <a:endParaRPr lang="en-TR"/>
          </a:p>
        </p:txBody>
      </p:sp>
      <p:sp>
        <p:nvSpPr>
          <p:cNvPr id="22" name="Text 19"/>
          <p:cNvSpPr txBox="1"/>
          <p:nvPr/>
        </p:nvSpPr>
        <p:spPr>
          <a:xfrm>
            <a:off x="914400" y="4145135"/>
            <a:ext cx="4091940"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Sensitive data is stripped on export</a:t>
            </a:r>
            <a:r>
              <a:rPr lang="en-US" sz="1100" dirty="0">
                <a:solidFill>
                  <a:srgbClr val="606A79"/>
                </a:solidFill>
                <a:latin typeface="Saira" pitchFamily="34" charset="0"/>
                <a:ea typeface="Saira" pitchFamily="34" charset="-122"/>
                <a:cs typeface="Saira" pitchFamily="34" charset="-120"/>
              </a:rPr>
              <a:t>, so a shared inventory file is safe to share.</a:t>
            </a:r>
            <a:endParaRPr lang="en-US" sz="1100" dirty="0"/>
          </a:p>
        </p:txBody>
      </p:sp>
      <p:sp>
        <p:nvSpPr>
          <p:cNvPr id="23" name="Shape 20"/>
          <p:cNvSpPr/>
          <p:nvPr/>
        </p:nvSpPr>
        <p:spPr>
          <a:xfrm>
            <a:off x="708660" y="4637032"/>
            <a:ext cx="71177" cy="105613"/>
          </a:xfrm>
          <a:prstGeom prst="ellipse">
            <a:avLst/>
          </a:prstGeom>
          <a:solidFill>
            <a:srgbClr val="17A05C"/>
          </a:solidFill>
          <a:ln/>
        </p:spPr>
        <p:txBody>
          <a:bodyPr/>
          <a:lstStyle/>
          <a:p>
            <a:endParaRPr lang="en-TR"/>
          </a:p>
        </p:txBody>
      </p:sp>
      <p:sp>
        <p:nvSpPr>
          <p:cNvPr id="24" name="Text 21"/>
          <p:cNvSpPr txBox="1"/>
          <p:nvPr/>
        </p:nvSpPr>
        <p:spPr>
          <a:xfrm>
            <a:off x="914400" y="4526389"/>
            <a:ext cx="409194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The container is hardened</a:t>
            </a:r>
            <a:r>
              <a:rPr lang="en-US" sz="1100" dirty="0">
                <a:solidFill>
                  <a:srgbClr val="606A79"/>
                </a:solidFill>
                <a:latin typeface="Saira" pitchFamily="34" charset="0"/>
                <a:ea typeface="Saira" pitchFamily="34" charset="-122"/>
                <a:cs typeface="Saira" pitchFamily="34" charset="-120"/>
              </a:rPr>
              <a:t>: no </a:t>
            </a:r>
            <a:r>
              <a:rPr lang="en-US" sz="990" dirty="0">
                <a:solidFill>
                  <a:srgbClr val="141A24"/>
                </a:solidFill>
                <a:latin typeface="Sometype Mono" pitchFamily="34" charset="0"/>
                <a:ea typeface="Sometype Mono" pitchFamily="34" charset="-122"/>
                <a:cs typeface="Sometype Mono" pitchFamily="34" charset="-120"/>
              </a:rPr>
              <a:t>perl-base</a:t>
            </a:r>
            <a:r>
              <a:rPr lang="en-US" sz="1100" dirty="0">
                <a:solidFill>
                  <a:srgbClr val="606A79"/>
                </a:solidFill>
                <a:latin typeface="Saira" pitchFamily="34" charset="0"/>
                <a:ea typeface="Saira" pitchFamily="34" charset="-122"/>
                <a:cs typeface="Saira" pitchFamily="34" charset="-120"/>
              </a:rPr>
              <a:t>, </a:t>
            </a:r>
            <a:r>
              <a:rPr lang="en-US" sz="990" dirty="0">
                <a:solidFill>
                  <a:srgbClr val="141A24"/>
                </a:solidFill>
                <a:latin typeface="Sometype Mono" pitchFamily="34" charset="0"/>
                <a:ea typeface="Sometype Mono" pitchFamily="34" charset="-122"/>
                <a:cs typeface="Sometype Mono" pitchFamily="34" charset="-120"/>
              </a:rPr>
              <a:t>debconf</a:t>
            </a:r>
            <a:r>
              <a:rPr lang="en-US" sz="1100" dirty="0">
                <a:solidFill>
                  <a:srgbClr val="606A79"/>
                </a:solidFill>
                <a:latin typeface="Saira" pitchFamily="34" charset="0"/>
                <a:ea typeface="Saira" pitchFamily="34" charset="-122"/>
                <a:cs typeface="Saira" pitchFamily="34" charset="-120"/>
              </a:rPr>
              <a:t>, </a:t>
            </a:r>
            <a:r>
              <a:rPr lang="en-US" sz="990" dirty="0">
                <a:solidFill>
                  <a:srgbClr val="141A24"/>
                </a:solidFill>
                <a:latin typeface="Sometype Mono" pitchFamily="34" charset="0"/>
                <a:ea typeface="Sometype Mono" pitchFamily="34" charset="-122"/>
                <a:cs typeface="Sometype Mono" pitchFamily="34" charset="-120"/>
              </a:rPr>
              <a:t>gosu</a:t>
            </a:r>
            <a:r>
              <a:rPr lang="en-US" sz="1100" dirty="0">
                <a:solidFill>
                  <a:srgbClr val="606A79"/>
                </a:solidFill>
                <a:latin typeface="Saira" pitchFamily="34" charset="0"/>
                <a:ea typeface="Saira" pitchFamily="34" charset="-122"/>
                <a:cs typeface="Saira" pitchFamily="34" charset="-120"/>
              </a:rPr>
              <a:t>, </a:t>
            </a:r>
            <a:r>
              <a:rPr lang="en-US" sz="990" dirty="0">
                <a:solidFill>
                  <a:srgbClr val="141A24"/>
                </a:solidFill>
                <a:latin typeface="Sometype Mono" pitchFamily="34" charset="0"/>
                <a:ea typeface="Sometype Mono" pitchFamily="34" charset="-122"/>
                <a:cs typeface="Sometype Mono" pitchFamily="34" charset="-120"/>
              </a:rPr>
              <a:t>curl</a:t>
            </a:r>
            <a:r>
              <a:rPr lang="en-US" sz="1100" dirty="0">
                <a:solidFill>
                  <a:srgbClr val="606A79"/>
                </a:solidFill>
                <a:latin typeface="Saira" pitchFamily="34" charset="0"/>
                <a:ea typeface="Saira" pitchFamily="34" charset="-122"/>
                <a:cs typeface="Saira" pitchFamily="34" charset="-120"/>
              </a:rPr>
              <a:t>, </a:t>
            </a:r>
            <a:r>
              <a:rPr lang="en-US" sz="990" dirty="0">
                <a:solidFill>
                  <a:srgbClr val="141A24"/>
                </a:solidFill>
                <a:latin typeface="Sometype Mono" pitchFamily="34" charset="0"/>
                <a:ea typeface="Sometype Mono" pitchFamily="34" charset="-122"/>
                <a:cs typeface="Sometype Mono" pitchFamily="34" charset="-120"/>
              </a:rPr>
              <a:t>pip</a:t>
            </a:r>
            <a:r>
              <a:rPr lang="en-US" sz="1100" dirty="0">
                <a:solidFill>
                  <a:srgbClr val="606A79"/>
                </a:solidFill>
                <a:latin typeface="Saira" pitchFamily="34" charset="0"/>
                <a:ea typeface="Saira" pitchFamily="34" charset="-122"/>
                <a:cs typeface="Saira" pitchFamily="34" charset="-120"/>
              </a:rPr>
              <a:t> or </a:t>
            </a:r>
            <a:r>
              <a:rPr lang="en-US" sz="990" dirty="0">
                <a:solidFill>
                  <a:srgbClr val="141A24"/>
                </a:solidFill>
                <a:latin typeface="Sometype Mono" pitchFamily="34" charset="0"/>
                <a:ea typeface="Sometype Mono" pitchFamily="34" charset="-122"/>
                <a:cs typeface="Sometype Mono" pitchFamily="34" charset="-120"/>
              </a:rPr>
              <a:t>setuptools</a:t>
            </a:r>
            <a:r>
              <a:rPr lang="en-US" sz="1100" dirty="0">
                <a:solidFill>
                  <a:srgbClr val="606A79"/>
                </a:solidFill>
                <a:latin typeface="Saira" pitchFamily="34" charset="0"/>
                <a:ea typeface="Saira" pitchFamily="34" charset="-122"/>
                <a:cs typeface="Saira" pitchFamily="34" charset="-120"/>
              </a:rPr>
              <a:t> — 70 CVEs Debian had not patched, removed by deletion. Runs as uid 1000, never privileged.</a:t>
            </a:r>
            <a:endParaRPr lang="en-US" sz="1100" dirty="0"/>
          </a:p>
        </p:txBody>
      </p:sp>
      <p:grpSp>
        <p:nvGrpSpPr>
          <p:cNvPr id="29" name="Group 28">
            <a:extLst>
              <a:ext uri="{FF2B5EF4-FFF2-40B4-BE49-F238E27FC236}">
                <a16:creationId xmlns:a16="http://schemas.microsoft.com/office/drawing/2014/main" id="{E6BAE5D1-161A-B7B0-21F7-278AA33738E3}"/>
              </a:ext>
            </a:extLst>
          </p:cNvPr>
          <p:cNvGrpSpPr/>
          <p:nvPr/>
        </p:nvGrpSpPr>
        <p:grpSpPr>
          <a:xfrm>
            <a:off x="5681472" y="1435414"/>
            <a:ext cx="5964631" cy="5152838"/>
            <a:chOff x="7498080" y="1630443"/>
            <a:chExt cx="4058107" cy="3885149"/>
          </a:xfrm>
        </p:grpSpPr>
        <p:sp>
          <p:nvSpPr>
            <p:cNvPr id="25" name="Shape 22"/>
            <p:cNvSpPr/>
            <p:nvPr/>
          </p:nvSpPr>
          <p:spPr>
            <a:xfrm>
              <a:off x="7539228" y="1680735"/>
              <a:ext cx="4016959" cy="3834857"/>
            </a:xfrm>
            <a:prstGeom prst="rect">
              <a:avLst/>
            </a:prstGeom>
            <a:solidFill>
              <a:srgbClr val="8894A8">
                <a:alpha val="30000"/>
              </a:srgbClr>
            </a:solidFill>
            <a:ln/>
          </p:spPr>
          <p:txBody>
            <a:bodyPr/>
            <a:lstStyle/>
            <a:p>
              <a:endParaRPr lang="en-TR"/>
            </a:p>
          </p:txBody>
        </p:sp>
        <p:pic>
          <p:nvPicPr>
            <p:cNvPr id="26" name="Image 1" descr="/home/claude/decks/products/mynes/img/security.jpg"/>
            <p:cNvPicPr>
              <a:picLocks noChangeAspect="1"/>
            </p:cNvPicPr>
            <p:nvPr/>
          </p:nvPicPr>
          <p:blipFill>
            <a:blip r:embed="rId4"/>
            <a:stretch>
              <a:fillRect/>
            </a:stretch>
          </p:blipFill>
          <p:spPr>
            <a:xfrm>
              <a:off x="7498080" y="1630443"/>
              <a:ext cx="4016959" cy="3834857"/>
            </a:xfrm>
            <a:prstGeom prst="rect">
              <a:avLst/>
            </a:prstGeom>
          </p:spPr>
        </p:pic>
        <p:sp>
          <p:nvSpPr>
            <p:cNvPr id="27" name="Shape 23"/>
            <p:cNvSpPr/>
            <p:nvPr/>
          </p:nvSpPr>
          <p:spPr>
            <a:xfrm>
              <a:off x="7498080" y="1630443"/>
              <a:ext cx="4016959" cy="3834857"/>
            </a:xfrm>
            <a:prstGeom prst="rect">
              <a:avLst/>
            </a:prstGeom>
            <a:ln w="12700">
              <a:solidFill>
                <a:srgbClr val="E2E7EF"/>
              </a:solidFill>
              <a:prstDash val="solid"/>
            </a:ln>
          </p:spPr>
          <p:txBody>
            <a:bodyPr/>
            <a:lstStyle/>
            <a:p>
              <a:endParaRPr lang="en-T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766286"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766286"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History</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868497"/>
            <a:ext cx="6419088" cy="753110"/>
          </a:xfrm>
          <a:prstGeom prst="rect">
            <a:avLst/>
          </a:prstGeom>
          <a:noFill/>
          <a:ln/>
        </p:spPr>
        <p:txBody>
          <a:bodyPr wrap="square" lIns="0" tIns="0" rIns="0" bIns="0" rtlCol="0" anchor="t"/>
          <a:lstStyle/>
          <a:p>
            <a:pPr marL="0" indent="0" algn="l">
              <a:lnSpc>
                <a:spcPts val="3410"/>
              </a:lnSpc>
              <a:buNone/>
            </a:pPr>
            <a:r>
              <a:rPr lang="en-US" sz="3100" b="1" kern="0" spc="-43" dirty="0">
                <a:solidFill>
                  <a:srgbClr val="141A24"/>
                </a:solidFill>
                <a:latin typeface="Saira Cond" pitchFamily="34" charset="0"/>
                <a:ea typeface="Saira Cond" pitchFamily="34" charset="-122"/>
                <a:cs typeface="Saira Cond" pitchFamily="34" charset="-120"/>
              </a:rPr>
              <a:t>Your network, over time.</a:t>
            </a:r>
            <a:endParaRPr lang="en-US" sz="3100" dirty="0"/>
          </a:p>
        </p:txBody>
      </p:sp>
      <p:sp>
        <p:nvSpPr>
          <p:cNvPr id="12" name="Text 9"/>
          <p:cNvSpPr txBox="1"/>
          <p:nvPr/>
        </p:nvSpPr>
        <p:spPr>
          <a:xfrm>
            <a:off x="676656" y="1525148"/>
            <a:ext cx="6309360" cy="412941"/>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Every scan is kept, so the inventory is a history rather than a snapshot.</a:t>
            </a:r>
            <a:endParaRPr lang="en-US" sz="1150" dirty="0"/>
          </a:p>
        </p:txBody>
      </p:sp>
      <p:sp>
        <p:nvSpPr>
          <p:cNvPr id="13" name="Shape 10"/>
          <p:cNvSpPr/>
          <p:nvPr/>
        </p:nvSpPr>
        <p:spPr>
          <a:xfrm>
            <a:off x="708660" y="2122241"/>
            <a:ext cx="105613" cy="105613"/>
          </a:xfrm>
          <a:prstGeom prst="ellipse">
            <a:avLst/>
          </a:prstGeom>
          <a:solidFill>
            <a:srgbClr val="3D6FF5"/>
          </a:solidFill>
          <a:ln/>
        </p:spPr>
        <p:txBody>
          <a:bodyPr/>
          <a:lstStyle/>
          <a:p>
            <a:endParaRPr lang="en-TR"/>
          </a:p>
        </p:txBody>
      </p:sp>
      <p:sp>
        <p:nvSpPr>
          <p:cNvPr id="14" name="Text 11"/>
          <p:cNvSpPr txBox="1"/>
          <p:nvPr/>
        </p:nvSpPr>
        <p:spPr>
          <a:xfrm>
            <a:off x="914400" y="2011599"/>
            <a:ext cx="6071616" cy="417830"/>
          </a:xfrm>
          <a:prstGeom prst="rect">
            <a:avLst/>
          </a:prstGeom>
          <a:noFill/>
          <a:ln/>
        </p:spPr>
        <p:txBody>
          <a:bodyPr wrap="square" lIns="0" tIns="0" rIns="0" bIns="0" rtlCol="0" anchor="t"/>
          <a:lstStyle/>
          <a:p>
            <a:pPr marL="0" indent="0" algn="l">
              <a:lnSpc>
                <a:spcPts val="1562"/>
              </a:lnSpc>
              <a:buNone/>
            </a:pPr>
            <a:r>
              <a:rPr lang="en-US" sz="1100" dirty="0">
                <a:solidFill>
                  <a:srgbClr val="606A79"/>
                </a:solidFill>
                <a:latin typeface="Saira" pitchFamily="34" charset="0"/>
                <a:ea typeface="Saira" pitchFamily="34" charset="-122"/>
                <a:cs typeface="Saira" pitchFamily="34" charset="-120"/>
              </a:rPr>
              <a:t>Per-scan results, device counts and statistics you can page back through.</a:t>
            </a:r>
            <a:endParaRPr lang="en-US" sz="1100" dirty="0"/>
          </a:p>
        </p:txBody>
      </p:sp>
      <p:sp>
        <p:nvSpPr>
          <p:cNvPr id="15" name="Shape 12"/>
          <p:cNvSpPr/>
          <p:nvPr/>
        </p:nvSpPr>
        <p:spPr>
          <a:xfrm>
            <a:off x="708660" y="2503495"/>
            <a:ext cx="105613" cy="105613"/>
          </a:xfrm>
          <a:prstGeom prst="ellipse">
            <a:avLst/>
          </a:prstGeom>
          <a:solidFill>
            <a:srgbClr val="17A05C"/>
          </a:solidFill>
          <a:ln/>
        </p:spPr>
        <p:txBody>
          <a:bodyPr/>
          <a:lstStyle/>
          <a:p>
            <a:endParaRPr lang="en-TR"/>
          </a:p>
        </p:txBody>
      </p:sp>
      <p:sp>
        <p:nvSpPr>
          <p:cNvPr id="16" name="Text 13"/>
          <p:cNvSpPr txBox="1"/>
          <p:nvPr/>
        </p:nvSpPr>
        <p:spPr>
          <a:xfrm>
            <a:off x="914400" y="2392853"/>
            <a:ext cx="6071616"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When did this device first appear?</a:t>
            </a:r>
            <a:r>
              <a:rPr lang="en-US" sz="1100" dirty="0">
                <a:solidFill>
                  <a:srgbClr val="606A79"/>
                </a:solidFill>
                <a:latin typeface="Saira" pitchFamily="34" charset="0"/>
                <a:ea typeface="Saira" pitchFamily="34" charset="-122"/>
                <a:cs typeface="Saira" pitchFamily="34" charset="-120"/>
              </a:rPr>
              <a:t> — the question that turns an unknown MAC into a story.</a:t>
            </a:r>
            <a:endParaRPr lang="en-US" sz="1100" dirty="0"/>
          </a:p>
        </p:txBody>
      </p:sp>
      <p:sp>
        <p:nvSpPr>
          <p:cNvPr id="17" name="Shape 14"/>
          <p:cNvSpPr/>
          <p:nvPr/>
        </p:nvSpPr>
        <p:spPr>
          <a:xfrm>
            <a:off x="708660" y="2884749"/>
            <a:ext cx="105613" cy="105613"/>
          </a:xfrm>
          <a:prstGeom prst="ellipse">
            <a:avLst/>
          </a:prstGeom>
          <a:solidFill>
            <a:srgbClr val="D98A1F"/>
          </a:solidFill>
          <a:ln/>
        </p:spPr>
        <p:txBody>
          <a:bodyPr/>
          <a:lstStyle/>
          <a:p>
            <a:endParaRPr lang="en-TR"/>
          </a:p>
        </p:txBody>
      </p:sp>
      <p:sp>
        <p:nvSpPr>
          <p:cNvPr id="18" name="Text 15"/>
          <p:cNvSpPr txBox="1"/>
          <p:nvPr/>
        </p:nvSpPr>
        <p:spPr>
          <a:xfrm>
            <a:off x="914400" y="2774107"/>
            <a:ext cx="6071616" cy="417830"/>
          </a:xfrm>
          <a:prstGeom prst="rect">
            <a:avLst/>
          </a:prstGeom>
          <a:noFill/>
          <a:ln/>
        </p:spPr>
        <p:txBody>
          <a:bodyPr wrap="square" lIns="0" tIns="0" rIns="0" bIns="0" rtlCol="0" anchor="t"/>
          <a:lstStyle/>
          <a:p>
            <a:pPr marL="0" indent="0" algn="l">
              <a:lnSpc>
                <a:spcPts val="1562"/>
              </a:lnSpc>
              <a:buNone/>
            </a:pPr>
            <a:r>
              <a:rPr lang="en-US" sz="1100" dirty="0">
                <a:solidFill>
                  <a:srgbClr val="606A79"/>
                </a:solidFill>
                <a:latin typeface="Saira" pitchFamily="34" charset="0"/>
                <a:ea typeface="Saira" pitchFamily="34" charset="-122"/>
                <a:cs typeface="Saira" pitchFamily="34" charset="-120"/>
              </a:rPr>
              <a:t>JSON backup and restore for the whole inventory: aliases, notes, custom types, trust levels.</a:t>
            </a:r>
            <a:endParaRPr lang="en-US" sz="1100" dirty="0"/>
          </a:p>
        </p:txBody>
      </p:sp>
      <p:sp>
        <p:nvSpPr>
          <p:cNvPr id="19" name="Shape 16"/>
          <p:cNvSpPr/>
          <p:nvPr/>
        </p:nvSpPr>
        <p:spPr>
          <a:xfrm>
            <a:off x="708660" y="3266003"/>
            <a:ext cx="105613" cy="105613"/>
          </a:xfrm>
          <a:prstGeom prst="ellipse">
            <a:avLst/>
          </a:prstGeom>
          <a:solidFill>
            <a:srgbClr val="DC3F4A"/>
          </a:solidFill>
          <a:ln/>
        </p:spPr>
        <p:txBody>
          <a:bodyPr/>
          <a:lstStyle/>
          <a:p>
            <a:endParaRPr lang="en-TR"/>
          </a:p>
        </p:txBody>
      </p:sp>
      <p:sp>
        <p:nvSpPr>
          <p:cNvPr id="20" name="Text 17"/>
          <p:cNvSpPr txBox="1"/>
          <p:nvPr/>
        </p:nvSpPr>
        <p:spPr>
          <a:xfrm>
            <a:off x="914400" y="3155361"/>
            <a:ext cx="524256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Every save snapshots the previous store first</a:t>
            </a:r>
            <a:r>
              <a:rPr lang="en-US" sz="1100" dirty="0">
                <a:solidFill>
                  <a:srgbClr val="606A79"/>
                </a:solidFill>
                <a:latin typeface="Saira" pitchFamily="34" charset="0"/>
                <a:ea typeface="Saira" pitchFamily="34" charset="-122"/>
                <a:cs typeface="Saira" pitchFamily="34" charset="-120"/>
              </a:rPr>
              <a:t> (v1.8.1) — a degraded scan can no longer quietly wipe a year of device edits.</a:t>
            </a:r>
            <a:endParaRPr lang="en-US" sz="1100" dirty="0"/>
          </a:p>
        </p:txBody>
      </p:sp>
      <p:sp>
        <p:nvSpPr>
          <p:cNvPr id="21" name="Shape 18"/>
          <p:cNvSpPr/>
          <p:nvPr/>
        </p:nvSpPr>
        <p:spPr>
          <a:xfrm>
            <a:off x="7539228" y="909479"/>
            <a:ext cx="4016959" cy="5377369"/>
          </a:xfrm>
          <a:prstGeom prst="rect">
            <a:avLst/>
          </a:prstGeom>
          <a:solidFill>
            <a:srgbClr val="8894A8">
              <a:alpha val="30000"/>
            </a:srgbClr>
          </a:solidFill>
          <a:ln/>
        </p:spPr>
        <p:txBody>
          <a:bodyPr/>
          <a:lstStyle/>
          <a:p>
            <a:endParaRPr lang="en-TR"/>
          </a:p>
        </p:txBody>
      </p:sp>
      <p:pic>
        <p:nvPicPr>
          <p:cNvPr id="22" name="Image 1" descr="/home/claude/decks/products/mynes/img/history.jpg"/>
          <p:cNvPicPr>
            <a:picLocks noChangeAspect="1"/>
          </p:cNvPicPr>
          <p:nvPr/>
        </p:nvPicPr>
        <p:blipFill>
          <a:blip r:embed="rId4"/>
          <a:stretch>
            <a:fillRect/>
          </a:stretch>
        </p:blipFill>
        <p:spPr>
          <a:xfrm>
            <a:off x="7498080" y="859187"/>
            <a:ext cx="4016959" cy="5377369"/>
          </a:xfrm>
          <a:prstGeom prst="rect">
            <a:avLst/>
          </a:prstGeom>
        </p:spPr>
      </p:pic>
      <p:sp>
        <p:nvSpPr>
          <p:cNvPr id="23" name="Shape 19"/>
          <p:cNvSpPr/>
          <p:nvPr/>
        </p:nvSpPr>
        <p:spPr>
          <a:xfrm>
            <a:off x="7498080" y="859187"/>
            <a:ext cx="4016959" cy="5377369"/>
          </a:xfrm>
          <a:prstGeom prst="rect">
            <a:avLst/>
          </a:prstGeom>
          <a:ln w="12700">
            <a:solidFill>
              <a:srgbClr val="E2E7EF"/>
            </a:solidFill>
            <a:prstDash val="solid"/>
          </a:ln>
        </p:spPr>
        <p:txBody>
          <a:bodyPr/>
          <a:lstStyle/>
          <a:p>
            <a:endParaRPr lang="en-T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1066190"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1066190"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Integrations</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868497"/>
            <a:ext cx="6419088" cy="753110"/>
          </a:xfrm>
          <a:prstGeom prst="rect">
            <a:avLst/>
          </a:prstGeom>
          <a:noFill/>
          <a:ln/>
        </p:spPr>
        <p:txBody>
          <a:bodyPr wrap="square" lIns="0" tIns="0" rIns="0" bIns="0" rtlCol="0" anchor="t"/>
          <a:lstStyle/>
          <a:p>
            <a:pPr marL="0" indent="0" algn="l">
              <a:lnSpc>
                <a:spcPts val="3410"/>
              </a:lnSpc>
              <a:buNone/>
            </a:pPr>
            <a:r>
              <a:rPr lang="en-US" sz="3100" b="1" kern="0" spc="-43" dirty="0">
                <a:solidFill>
                  <a:srgbClr val="141A24"/>
                </a:solidFill>
                <a:latin typeface="Saira Cond" pitchFamily="34" charset="0"/>
                <a:ea typeface="Saira Cond" pitchFamily="34" charset="-122"/>
                <a:cs typeface="Saira Cond" pitchFamily="34" charset="-120"/>
              </a:rPr>
              <a:t>A first-class target, not an afterthought.</a:t>
            </a:r>
            <a:endParaRPr lang="en-US" sz="3100" dirty="0"/>
          </a:p>
        </p:txBody>
      </p:sp>
      <p:sp>
        <p:nvSpPr>
          <p:cNvPr id="12" name="Text 9"/>
          <p:cNvSpPr txBox="1"/>
          <p:nvPr/>
        </p:nvSpPr>
        <p:spPr>
          <a:xfrm>
            <a:off x="676656" y="1525148"/>
            <a:ext cx="4505555" cy="624713"/>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Home Assistant is where most of this inventory wants to end up — so MyNeS speaks its native language.</a:t>
            </a:r>
            <a:endParaRPr lang="en-US" sz="1150" dirty="0"/>
          </a:p>
        </p:txBody>
      </p:sp>
      <p:sp>
        <p:nvSpPr>
          <p:cNvPr id="13" name="Shape 10"/>
          <p:cNvSpPr/>
          <p:nvPr/>
        </p:nvSpPr>
        <p:spPr>
          <a:xfrm>
            <a:off x="708660" y="2334014"/>
            <a:ext cx="75419" cy="105613"/>
          </a:xfrm>
          <a:prstGeom prst="ellipse">
            <a:avLst/>
          </a:prstGeom>
          <a:solidFill>
            <a:srgbClr val="3D6FF5"/>
          </a:solidFill>
          <a:ln/>
        </p:spPr>
        <p:txBody>
          <a:bodyPr/>
          <a:lstStyle/>
          <a:p>
            <a:endParaRPr lang="en-TR"/>
          </a:p>
        </p:txBody>
      </p:sp>
      <p:sp>
        <p:nvSpPr>
          <p:cNvPr id="14" name="Text 11"/>
          <p:cNvSpPr txBox="1"/>
          <p:nvPr/>
        </p:nvSpPr>
        <p:spPr>
          <a:xfrm>
            <a:off x="914400" y="2223371"/>
            <a:ext cx="433578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MQTT Discovery push</a:t>
            </a:r>
            <a:r>
              <a:rPr lang="en-US" sz="1100" dirty="0">
                <a:solidFill>
                  <a:srgbClr val="606A79"/>
                </a:solidFill>
                <a:latin typeface="Saira" pitchFamily="34" charset="0"/>
                <a:ea typeface="Saira" pitchFamily="34" charset="-122"/>
                <a:cs typeface="Saira" pitchFamily="34" charset="-120"/>
              </a:rPr>
              <a:t> — every discovered device becomes an HA entity with no glue code and no template YAML.</a:t>
            </a:r>
            <a:endParaRPr lang="en-US" sz="1100" dirty="0"/>
          </a:p>
        </p:txBody>
      </p:sp>
      <p:sp>
        <p:nvSpPr>
          <p:cNvPr id="15" name="Shape 12"/>
          <p:cNvSpPr/>
          <p:nvPr/>
        </p:nvSpPr>
        <p:spPr>
          <a:xfrm>
            <a:off x="708660" y="2913642"/>
            <a:ext cx="75419" cy="105613"/>
          </a:xfrm>
          <a:prstGeom prst="ellipse">
            <a:avLst/>
          </a:prstGeom>
          <a:solidFill>
            <a:srgbClr val="17A05C"/>
          </a:solidFill>
          <a:ln/>
        </p:spPr>
        <p:txBody>
          <a:bodyPr/>
          <a:lstStyle/>
          <a:p>
            <a:endParaRPr lang="en-TR"/>
          </a:p>
        </p:txBody>
      </p:sp>
      <p:sp>
        <p:nvSpPr>
          <p:cNvPr id="16" name="Text 13"/>
          <p:cNvSpPr txBox="1"/>
          <p:nvPr/>
        </p:nvSpPr>
        <p:spPr>
          <a:xfrm>
            <a:off x="914400" y="2802999"/>
            <a:ext cx="433578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REST / WebSocket pull</a:t>
            </a:r>
            <a:r>
              <a:rPr lang="en-US" sz="1100" dirty="0">
                <a:solidFill>
                  <a:srgbClr val="606A79"/>
                </a:solidFill>
                <a:latin typeface="Saira" pitchFamily="34" charset="0"/>
                <a:ea typeface="Saira" pitchFamily="34" charset="-122"/>
                <a:cs typeface="Saira" pitchFamily="34" charset="-120"/>
              </a:rPr>
              <a:t> from HA, so MyNeS can compare what it found against HA's own device registry and flag the ones that quietly unplugged.</a:t>
            </a:r>
            <a:endParaRPr lang="en-US" sz="1100" dirty="0"/>
          </a:p>
        </p:txBody>
      </p:sp>
      <p:sp>
        <p:nvSpPr>
          <p:cNvPr id="17" name="Shape 14"/>
          <p:cNvSpPr/>
          <p:nvPr/>
        </p:nvSpPr>
        <p:spPr>
          <a:xfrm>
            <a:off x="708660" y="3493270"/>
            <a:ext cx="75419" cy="105613"/>
          </a:xfrm>
          <a:prstGeom prst="ellipse">
            <a:avLst/>
          </a:prstGeom>
          <a:solidFill>
            <a:srgbClr val="D98A1F"/>
          </a:solidFill>
          <a:ln/>
        </p:spPr>
        <p:txBody>
          <a:bodyPr/>
          <a:lstStyle/>
          <a:p>
            <a:endParaRPr lang="en-TR"/>
          </a:p>
        </p:txBody>
      </p:sp>
      <p:sp>
        <p:nvSpPr>
          <p:cNvPr id="18" name="Text 15"/>
          <p:cNvSpPr txBox="1"/>
          <p:nvPr/>
        </p:nvSpPr>
        <p:spPr>
          <a:xfrm>
            <a:off x="914400" y="3382627"/>
            <a:ext cx="433578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A Home Assistant add-on</a:t>
            </a:r>
            <a:r>
              <a:rPr lang="en-US" sz="1100" dirty="0">
                <a:solidFill>
                  <a:srgbClr val="606A79"/>
                </a:solidFill>
                <a:latin typeface="Saira" pitchFamily="34" charset="0"/>
                <a:ea typeface="Saira" pitchFamily="34" charset="-122"/>
                <a:cs typeface="Saira" pitchFamily="34" charset="-120"/>
              </a:rPr>
              <a:t> (</a:t>
            </a:r>
            <a:r>
              <a:rPr lang="en-US" sz="990" dirty="0">
                <a:solidFill>
                  <a:srgbClr val="141A24"/>
                </a:solidFill>
                <a:latin typeface="Sometype Mono" pitchFamily="34" charset="0"/>
                <a:ea typeface="Sometype Mono" pitchFamily="34" charset="-122"/>
                <a:cs typeface="Sometype Mono" pitchFamily="34" charset="-120"/>
              </a:rPr>
              <a:t>mynes-addon</a:t>
            </a:r>
            <a:r>
              <a:rPr lang="en-US" sz="1100" dirty="0">
                <a:solidFill>
                  <a:srgbClr val="606A79"/>
                </a:solidFill>
                <a:latin typeface="Saira" pitchFamily="34" charset="0"/>
                <a:ea typeface="Saira" pitchFamily="34" charset="-122"/>
                <a:cs typeface="Saira" pitchFamily="34" charset="-120"/>
              </a:rPr>
              <a:t>, aarch64 + amd64) installs it from the Add-on Store like any other.</a:t>
            </a:r>
            <a:endParaRPr lang="en-US" sz="1100" dirty="0"/>
          </a:p>
        </p:txBody>
      </p:sp>
      <p:sp>
        <p:nvSpPr>
          <p:cNvPr id="19" name="Shape 16"/>
          <p:cNvSpPr/>
          <p:nvPr/>
        </p:nvSpPr>
        <p:spPr>
          <a:xfrm>
            <a:off x="708660" y="4072898"/>
            <a:ext cx="75419" cy="105613"/>
          </a:xfrm>
          <a:prstGeom prst="ellipse">
            <a:avLst/>
          </a:prstGeom>
          <a:solidFill>
            <a:srgbClr val="DC3F4A"/>
          </a:solidFill>
          <a:ln/>
        </p:spPr>
        <p:txBody>
          <a:bodyPr/>
          <a:lstStyle/>
          <a:p>
            <a:endParaRPr lang="en-TR"/>
          </a:p>
        </p:txBody>
      </p:sp>
      <p:sp>
        <p:nvSpPr>
          <p:cNvPr id="20" name="Text 17"/>
          <p:cNvSpPr txBox="1"/>
          <p:nvPr/>
        </p:nvSpPr>
        <p:spPr>
          <a:xfrm>
            <a:off x="914400" y="3962255"/>
            <a:ext cx="4335780"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InfluxDB 2</a:t>
            </a:r>
            <a:r>
              <a:rPr lang="en-US" sz="1100" dirty="0">
                <a:solidFill>
                  <a:srgbClr val="606A79"/>
                </a:solidFill>
                <a:latin typeface="Saira" pitchFamily="34" charset="0"/>
                <a:ea typeface="Saira" pitchFamily="34" charset="-122"/>
                <a:cs typeface="Saira" pitchFamily="34" charset="-120"/>
              </a:rPr>
              <a:t> push and </a:t>
            </a:r>
            <a:r>
              <a:rPr lang="en-US" sz="1100" dirty="0">
                <a:solidFill>
                  <a:srgbClr val="141A24"/>
                </a:solidFill>
                <a:latin typeface="Saira Medium" pitchFamily="34" charset="0"/>
                <a:ea typeface="Saira Medium" pitchFamily="34" charset="-122"/>
                <a:cs typeface="Saira Medium" pitchFamily="34" charset="-120"/>
              </a:rPr>
              <a:t>Prometheus</a:t>
            </a:r>
            <a:r>
              <a:rPr lang="en-US" sz="1100" dirty="0">
                <a:solidFill>
                  <a:srgbClr val="606A79"/>
                </a:solidFill>
                <a:latin typeface="Saira" pitchFamily="34" charset="0"/>
                <a:ea typeface="Saira" pitchFamily="34" charset="-122"/>
                <a:cs typeface="Saira" pitchFamily="34" charset="-120"/>
              </a:rPr>
              <a:t> scrape for Grafana dashboards.</a:t>
            </a:r>
            <a:endParaRPr lang="en-US" sz="1100" dirty="0"/>
          </a:p>
        </p:txBody>
      </p:sp>
      <p:sp>
        <p:nvSpPr>
          <p:cNvPr id="21" name="Shape 18"/>
          <p:cNvSpPr/>
          <p:nvPr/>
        </p:nvSpPr>
        <p:spPr>
          <a:xfrm>
            <a:off x="708660" y="4454152"/>
            <a:ext cx="75419" cy="105613"/>
          </a:xfrm>
          <a:prstGeom prst="ellipse">
            <a:avLst/>
          </a:prstGeom>
          <a:solidFill>
            <a:srgbClr val="3D6FF5"/>
          </a:solidFill>
          <a:ln/>
        </p:spPr>
        <p:txBody>
          <a:bodyPr/>
          <a:lstStyle/>
          <a:p>
            <a:endParaRPr lang="en-TR"/>
          </a:p>
        </p:txBody>
      </p:sp>
      <p:sp>
        <p:nvSpPr>
          <p:cNvPr id="22" name="Text 19"/>
          <p:cNvSpPr txBox="1"/>
          <p:nvPr/>
        </p:nvSpPr>
        <p:spPr>
          <a:xfrm>
            <a:off x="914400" y="4343509"/>
            <a:ext cx="433578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A live REST API catalogue</a:t>
            </a:r>
            <a:r>
              <a:rPr lang="en-US" sz="1100" dirty="0">
                <a:solidFill>
                  <a:srgbClr val="606A79"/>
                </a:solidFill>
                <a:latin typeface="Saira" pitchFamily="34" charset="0"/>
                <a:ea typeface="Saira" pitchFamily="34" charset="-122"/>
                <a:cs typeface="Saira" pitchFamily="34" charset="-120"/>
              </a:rPr>
              <a:t> read from the running app and downloadable as OpenAPI (</a:t>
            </a:r>
            <a:r>
              <a:rPr lang="en-US" sz="990" dirty="0">
                <a:solidFill>
                  <a:srgbClr val="141A24"/>
                </a:solidFill>
                <a:latin typeface="Sometype Mono" pitchFamily="34" charset="0"/>
                <a:ea typeface="Sometype Mono" pitchFamily="34" charset="-122"/>
                <a:cs typeface="Sometype Mono" pitchFamily="34" charset="-120"/>
              </a:rPr>
              <a:t>swagger.json</a:t>
            </a:r>
            <a:r>
              <a:rPr lang="en-US" sz="1100" dirty="0">
                <a:solidFill>
                  <a:srgbClr val="606A79"/>
                </a:solidFill>
                <a:latin typeface="Saira" pitchFamily="34" charset="0"/>
                <a:ea typeface="Saira" pitchFamily="34" charset="-122"/>
                <a:cs typeface="Saira" pitchFamily="34" charset="-120"/>
              </a:rPr>
              <a:t>).</a:t>
            </a:r>
            <a:endParaRPr lang="en-US" sz="1100" dirty="0"/>
          </a:p>
        </p:txBody>
      </p:sp>
      <p:sp>
        <p:nvSpPr>
          <p:cNvPr id="23" name="Shape 20"/>
          <p:cNvSpPr/>
          <p:nvPr/>
        </p:nvSpPr>
        <p:spPr>
          <a:xfrm>
            <a:off x="708660" y="5033780"/>
            <a:ext cx="75419" cy="105613"/>
          </a:xfrm>
          <a:prstGeom prst="ellipse">
            <a:avLst/>
          </a:prstGeom>
          <a:solidFill>
            <a:srgbClr val="17A05C"/>
          </a:solidFill>
          <a:ln/>
        </p:spPr>
        <p:txBody>
          <a:bodyPr/>
          <a:lstStyle/>
          <a:p>
            <a:endParaRPr lang="en-TR"/>
          </a:p>
        </p:txBody>
      </p:sp>
      <p:sp>
        <p:nvSpPr>
          <p:cNvPr id="24" name="Text 21"/>
          <p:cNvSpPr txBox="1"/>
          <p:nvPr/>
        </p:nvSpPr>
        <p:spPr>
          <a:xfrm>
            <a:off x="914400" y="4923137"/>
            <a:ext cx="4335780" cy="616204"/>
          </a:xfrm>
          <a:prstGeom prst="rect">
            <a:avLst/>
          </a:prstGeom>
          <a:noFill/>
          <a:ln/>
        </p:spPr>
        <p:txBody>
          <a:bodyPr wrap="square" lIns="0" tIns="0" rIns="0" bIns="0" rtlCol="0" anchor="t"/>
          <a:lstStyle/>
          <a:p>
            <a:pPr marL="0" indent="0" algn="l">
              <a:lnSpc>
                <a:spcPts val="1562"/>
              </a:lnSpc>
              <a:buNone/>
            </a:pPr>
            <a:r>
              <a:rPr lang="en-US" sz="990" dirty="0">
                <a:solidFill>
                  <a:srgbClr val="141A24"/>
                </a:solidFill>
                <a:latin typeface="Sometype Mono" pitchFamily="34" charset="0"/>
                <a:ea typeface="Sometype Mono" pitchFamily="34" charset="-122"/>
                <a:cs typeface="Sometype Mono" pitchFamily="34" charset="-120"/>
              </a:rPr>
              <a:t>GET /api/capabilities</a:t>
            </a:r>
            <a:r>
              <a:rPr lang="en-US" sz="1100" dirty="0">
                <a:solidFill>
                  <a:srgbClr val="606A79"/>
                </a:solidFill>
                <a:latin typeface="Saira" pitchFamily="34" charset="0"/>
                <a:ea typeface="Saira" pitchFamily="34" charset="-122"/>
                <a:cs typeface="Saira" pitchFamily="34" charset="-120"/>
              </a:rPr>
              <a:t> tells you exactly which discovery methods are working and why the others are not.</a:t>
            </a:r>
            <a:endParaRPr lang="en-US" sz="1100" dirty="0"/>
          </a:p>
        </p:txBody>
      </p:sp>
      <p:grpSp>
        <p:nvGrpSpPr>
          <p:cNvPr id="29" name="Group 28">
            <a:extLst>
              <a:ext uri="{FF2B5EF4-FFF2-40B4-BE49-F238E27FC236}">
                <a16:creationId xmlns:a16="http://schemas.microsoft.com/office/drawing/2014/main" id="{BCAC1AAE-446E-E4B9-233D-EB40A9A107F5}"/>
              </a:ext>
            </a:extLst>
          </p:cNvPr>
          <p:cNvGrpSpPr/>
          <p:nvPr/>
        </p:nvGrpSpPr>
        <p:grpSpPr>
          <a:xfrm>
            <a:off x="5699760" y="1463920"/>
            <a:ext cx="5815584" cy="5124305"/>
            <a:chOff x="7498080" y="1689359"/>
            <a:chExt cx="4058107" cy="3767318"/>
          </a:xfrm>
        </p:grpSpPr>
        <p:sp>
          <p:nvSpPr>
            <p:cNvPr id="25" name="Shape 22"/>
            <p:cNvSpPr/>
            <p:nvPr/>
          </p:nvSpPr>
          <p:spPr>
            <a:xfrm>
              <a:off x="7539228" y="1739651"/>
              <a:ext cx="4016959" cy="3717026"/>
            </a:xfrm>
            <a:prstGeom prst="rect">
              <a:avLst/>
            </a:prstGeom>
            <a:solidFill>
              <a:srgbClr val="8894A8">
                <a:alpha val="30000"/>
              </a:srgbClr>
            </a:solidFill>
            <a:ln/>
          </p:spPr>
          <p:txBody>
            <a:bodyPr/>
            <a:lstStyle/>
            <a:p>
              <a:endParaRPr lang="en-TR"/>
            </a:p>
          </p:txBody>
        </p:sp>
        <p:pic>
          <p:nvPicPr>
            <p:cNvPr id="26" name="Image 1" descr="/home/claude/decks/products/mynes/img/integrations.jpg"/>
            <p:cNvPicPr>
              <a:picLocks noChangeAspect="1"/>
            </p:cNvPicPr>
            <p:nvPr/>
          </p:nvPicPr>
          <p:blipFill>
            <a:blip r:embed="rId4"/>
            <a:stretch>
              <a:fillRect/>
            </a:stretch>
          </p:blipFill>
          <p:spPr>
            <a:xfrm>
              <a:off x="7498080" y="1689359"/>
              <a:ext cx="4016959" cy="3717026"/>
            </a:xfrm>
            <a:prstGeom prst="rect">
              <a:avLst/>
            </a:prstGeom>
          </p:spPr>
        </p:pic>
        <p:sp>
          <p:nvSpPr>
            <p:cNvPr id="27" name="Shape 23"/>
            <p:cNvSpPr/>
            <p:nvPr/>
          </p:nvSpPr>
          <p:spPr>
            <a:xfrm>
              <a:off x="7498080" y="1689359"/>
              <a:ext cx="4016959" cy="3717026"/>
            </a:xfrm>
            <a:prstGeom prst="rect">
              <a:avLst/>
            </a:prstGeom>
            <a:ln w="12700">
              <a:solidFill>
                <a:srgbClr val="E2E7EF"/>
              </a:solidFill>
              <a:prstDash val="solid"/>
            </a:ln>
          </p:spPr>
          <p:txBody>
            <a:bodyPr/>
            <a:lstStyle/>
            <a:p>
              <a:endParaRPr lang="en-T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730815"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730815"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Mobile</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780694"/>
            <a:ext cx="6053328" cy="725170"/>
          </a:xfrm>
          <a:prstGeom prst="rect">
            <a:avLst/>
          </a:prstGeom>
          <a:noFill/>
          <a:ln/>
        </p:spPr>
        <p:txBody>
          <a:bodyPr wrap="square" lIns="0" tIns="0" rIns="0" bIns="0" rtlCol="0" anchor="t"/>
          <a:lstStyle/>
          <a:p>
            <a:pPr marL="0" indent="0" algn="l">
              <a:lnSpc>
                <a:spcPts val="3190"/>
              </a:lnSpc>
              <a:buNone/>
            </a:pPr>
            <a:r>
              <a:rPr lang="en-US" sz="2900" b="1" kern="0" spc="-41" dirty="0">
                <a:solidFill>
                  <a:srgbClr val="141A24"/>
                </a:solidFill>
                <a:latin typeface="Saira Cond" pitchFamily="34" charset="0"/>
                <a:ea typeface="Saira Cond" pitchFamily="34" charset="-122"/>
                <a:cs typeface="Saira Cond" pitchFamily="34" charset="-120"/>
              </a:rPr>
              <a:t>The phone is the scanner.</a:t>
            </a:r>
            <a:endParaRPr lang="en-US" sz="2900" dirty="0"/>
          </a:p>
        </p:txBody>
      </p:sp>
      <p:sp>
        <p:nvSpPr>
          <p:cNvPr id="12" name="Text 9"/>
          <p:cNvSpPr txBox="1"/>
          <p:nvPr/>
        </p:nvSpPr>
        <p:spPr>
          <a:xfrm>
            <a:off x="676656" y="1412189"/>
            <a:ext cx="5223628" cy="624713"/>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Not a remote control for a server — a standalone app that runs the whole scanning engine on-device. No server to run, no Docker, no pairing.</a:t>
            </a:r>
            <a:endParaRPr lang="en-US" sz="1150" dirty="0"/>
          </a:p>
        </p:txBody>
      </p:sp>
      <p:sp>
        <p:nvSpPr>
          <p:cNvPr id="13" name="Shape 10"/>
          <p:cNvSpPr/>
          <p:nvPr/>
        </p:nvSpPr>
        <p:spPr>
          <a:xfrm>
            <a:off x="708661" y="2221054"/>
            <a:ext cx="92820" cy="105613"/>
          </a:xfrm>
          <a:prstGeom prst="ellipse">
            <a:avLst/>
          </a:prstGeom>
          <a:solidFill>
            <a:srgbClr val="3D6FF5"/>
          </a:solidFill>
          <a:ln/>
        </p:spPr>
        <p:txBody>
          <a:bodyPr/>
          <a:lstStyle/>
          <a:p>
            <a:endParaRPr lang="en-TR"/>
          </a:p>
        </p:txBody>
      </p:sp>
      <p:sp>
        <p:nvSpPr>
          <p:cNvPr id="14" name="Text 11"/>
          <p:cNvSpPr txBox="1"/>
          <p:nvPr/>
        </p:nvSpPr>
        <p:spPr>
          <a:xfrm>
            <a:off x="914400" y="2110412"/>
            <a:ext cx="5014683"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React Native + Expo + TypeScript</a:t>
            </a:r>
            <a:r>
              <a:rPr lang="en-US" sz="1100" dirty="0">
                <a:solidFill>
                  <a:srgbClr val="606A79"/>
                </a:solidFill>
                <a:latin typeface="Saira" pitchFamily="34" charset="0"/>
                <a:ea typeface="Saira" pitchFamily="34" charset="-122"/>
                <a:cs typeface="Saira" pitchFamily="34" charset="-120"/>
              </a:rPr>
              <a:t> — one codebase, Android and iOS, captured here on a real iPhone and a Pixel 10 Pro XL scanning a live home network.</a:t>
            </a:r>
            <a:endParaRPr lang="en-US" sz="1100" dirty="0"/>
          </a:p>
        </p:txBody>
      </p:sp>
      <p:sp>
        <p:nvSpPr>
          <p:cNvPr id="15" name="Shape 12"/>
          <p:cNvSpPr/>
          <p:nvPr/>
        </p:nvSpPr>
        <p:spPr>
          <a:xfrm>
            <a:off x="708661" y="2800682"/>
            <a:ext cx="92820" cy="105613"/>
          </a:xfrm>
          <a:prstGeom prst="ellipse">
            <a:avLst/>
          </a:prstGeom>
          <a:solidFill>
            <a:srgbClr val="17A05C"/>
          </a:solidFill>
          <a:ln/>
        </p:spPr>
        <p:txBody>
          <a:bodyPr/>
          <a:lstStyle/>
          <a:p>
            <a:endParaRPr lang="en-TR"/>
          </a:p>
        </p:txBody>
      </p:sp>
      <p:sp>
        <p:nvSpPr>
          <p:cNvPr id="16" name="Text 13"/>
          <p:cNvSpPr txBox="1"/>
          <p:nvPr/>
        </p:nvSpPr>
        <p:spPr>
          <a:xfrm>
            <a:off x="914400" y="2690040"/>
            <a:ext cx="5014683" cy="814578"/>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Ping / TCP-connect sweep</a:t>
            </a:r>
            <a:r>
              <a:rPr lang="en-US" sz="1100" dirty="0">
                <a:solidFill>
                  <a:srgbClr val="606A79"/>
                </a:solidFill>
                <a:latin typeface="Saira" pitchFamily="34" charset="0"/>
                <a:ea typeface="Saira" pitchFamily="34" charset="-122"/>
                <a:cs typeface="Saira" pitchFamily="34" charset="-120"/>
              </a:rPr>
              <a:t> primes the kernel ARP cache, then the bundled </a:t>
            </a:r>
            <a:r>
              <a:rPr lang="en-US" sz="990" dirty="0">
                <a:solidFill>
                  <a:srgbClr val="141A24"/>
                </a:solidFill>
                <a:latin typeface="Sometype Mono" pitchFamily="34" charset="0"/>
                <a:ea typeface="Sometype Mono" pitchFamily="34" charset="-122"/>
                <a:cs typeface="Sometype Mono" pitchFamily="34" charset="-120"/>
              </a:rPr>
              <a:t>mynes-ping</a:t>
            </a:r>
            <a:r>
              <a:rPr lang="en-US" sz="1100" dirty="0">
                <a:solidFill>
                  <a:srgbClr val="606A79"/>
                </a:solidFill>
                <a:latin typeface="Saira" pitchFamily="34" charset="0"/>
                <a:ea typeface="Saira" pitchFamily="34" charset="-122"/>
                <a:cs typeface="Saira" pitchFamily="34" charset="-120"/>
              </a:rPr>
              <a:t> native module reads MAC addresses out of it — </a:t>
            </a:r>
            <a:r>
              <a:rPr lang="en-US" sz="1100" dirty="0">
                <a:solidFill>
                  <a:srgbClr val="141A24"/>
                </a:solidFill>
                <a:latin typeface="Saira Medium" pitchFamily="34" charset="0"/>
                <a:ea typeface="Saira Medium" pitchFamily="34" charset="-122"/>
                <a:cs typeface="Saira Medium" pitchFamily="34" charset="-120"/>
              </a:rPr>
              <a:t>without root</a:t>
            </a:r>
            <a:r>
              <a:rPr lang="en-US" sz="1100" dirty="0">
                <a:solidFill>
                  <a:srgbClr val="606A79"/>
                </a:solidFill>
                <a:latin typeface="Saira" pitchFamily="34" charset="0"/>
                <a:ea typeface="Saira" pitchFamily="34" charset="-122"/>
                <a:cs typeface="Saira" pitchFamily="34" charset="-120"/>
              </a:rPr>
              <a:t>. On iOS it reads the route buffer directly (</a:t>
            </a:r>
            <a:r>
              <a:rPr lang="en-US" sz="990" dirty="0">
                <a:solidFill>
                  <a:srgbClr val="141A24"/>
                </a:solidFill>
                <a:latin typeface="Sometype Mono" pitchFamily="34" charset="0"/>
                <a:ea typeface="Sometype Mono" pitchFamily="34" charset="-122"/>
                <a:cs typeface="Sometype Mono" pitchFamily="34" charset="-120"/>
              </a:rPr>
              <a:t>NET_RT_FLAGS</a:t>
            </a:r>
            <a:r>
              <a:rPr lang="en-US" sz="1100" dirty="0">
                <a:solidFill>
                  <a:srgbClr val="606A79"/>
                </a:solidFill>
                <a:latin typeface="Saira" pitchFamily="34" charset="0"/>
                <a:ea typeface="Saira" pitchFamily="34" charset="-122"/>
                <a:cs typeface="Saira" pitchFamily="34" charset="-120"/>
              </a:rPr>
              <a:t>).</a:t>
            </a:r>
            <a:endParaRPr lang="en-US" sz="1100" dirty="0"/>
          </a:p>
        </p:txBody>
      </p:sp>
      <p:sp>
        <p:nvSpPr>
          <p:cNvPr id="17" name="Shape 14"/>
          <p:cNvSpPr/>
          <p:nvPr/>
        </p:nvSpPr>
        <p:spPr>
          <a:xfrm>
            <a:off x="708661" y="3578684"/>
            <a:ext cx="92820" cy="105613"/>
          </a:xfrm>
          <a:prstGeom prst="ellipse">
            <a:avLst/>
          </a:prstGeom>
          <a:solidFill>
            <a:srgbClr val="D98A1F"/>
          </a:solidFill>
          <a:ln/>
        </p:spPr>
        <p:txBody>
          <a:bodyPr/>
          <a:lstStyle/>
          <a:p>
            <a:endParaRPr lang="en-TR"/>
          </a:p>
        </p:txBody>
      </p:sp>
      <p:sp>
        <p:nvSpPr>
          <p:cNvPr id="18" name="Text 15"/>
          <p:cNvSpPr txBox="1"/>
          <p:nvPr/>
        </p:nvSpPr>
        <p:spPr>
          <a:xfrm>
            <a:off x="914400" y="3468042"/>
            <a:ext cx="5014683"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Vendor offline</a:t>
            </a:r>
            <a:r>
              <a:rPr lang="en-US" sz="1100" dirty="0">
                <a:solidFill>
                  <a:srgbClr val="606A79"/>
                </a:solidFill>
                <a:latin typeface="Saira" pitchFamily="34" charset="0"/>
                <a:ea typeface="Saira" pitchFamily="34" charset="-122"/>
                <a:cs typeface="Saira" pitchFamily="34" charset="-120"/>
              </a:rPr>
              <a:t> from the bundled IEEE table; names from reverse-DNS, then mDNS, SSDP and NetBIOS; type from ports refined by banner grabs.</a:t>
            </a:r>
            <a:endParaRPr lang="en-US" sz="1100" dirty="0"/>
          </a:p>
        </p:txBody>
      </p:sp>
      <p:sp>
        <p:nvSpPr>
          <p:cNvPr id="19" name="Shape 16"/>
          <p:cNvSpPr/>
          <p:nvPr/>
        </p:nvSpPr>
        <p:spPr>
          <a:xfrm>
            <a:off x="708661" y="4158312"/>
            <a:ext cx="92820" cy="105613"/>
          </a:xfrm>
          <a:prstGeom prst="ellipse">
            <a:avLst/>
          </a:prstGeom>
          <a:solidFill>
            <a:srgbClr val="DC3F4A"/>
          </a:solidFill>
          <a:ln/>
        </p:spPr>
        <p:txBody>
          <a:bodyPr/>
          <a:lstStyle/>
          <a:p>
            <a:endParaRPr lang="en-TR"/>
          </a:p>
        </p:txBody>
      </p:sp>
      <p:sp>
        <p:nvSpPr>
          <p:cNvPr id="20" name="Text 17"/>
          <p:cNvSpPr txBox="1"/>
          <p:nvPr/>
        </p:nvSpPr>
        <p:spPr>
          <a:xfrm>
            <a:off x="914400" y="4047670"/>
            <a:ext cx="5014683"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Design parity is generated, not copied</a:t>
            </a:r>
            <a:r>
              <a:rPr lang="en-US" sz="1100" dirty="0">
                <a:solidFill>
                  <a:srgbClr val="606A79"/>
                </a:solidFill>
                <a:latin typeface="Saira" pitchFamily="34" charset="0"/>
                <a:ea typeface="Saira" pitchFamily="34" charset="-122"/>
                <a:cs typeface="Saira" pitchFamily="34" charset="-120"/>
              </a:rPr>
              <a:t> — the web app's </a:t>
            </a:r>
            <a:r>
              <a:rPr lang="en-US" sz="990" dirty="0">
                <a:solidFill>
                  <a:srgbClr val="141A24"/>
                </a:solidFill>
                <a:latin typeface="Sometype Mono" pitchFamily="34" charset="0"/>
                <a:ea typeface="Sometype Mono" pitchFamily="34" charset="-122"/>
                <a:cs typeface="Sometype Mono" pitchFamily="34" charset="-120"/>
              </a:rPr>
              <a:t>design-system.css</a:t>
            </a:r>
            <a:r>
              <a:rPr lang="en-US" sz="1100" dirty="0">
                <a:solidFill>
                  <a:srgbClr val="606A79"/>
                </a:solidFill>
                <a:latin typeface="Saira" pitchFamily="34" charset="0"/>
                <a:ea typeface="Saira" pitchFamily="34" charset="-122"/>
                <a:cs typeface="Saira" pitchFamily="34" charset="-120"/>
              </a:rPr>
              <a:t> and icon set compile into the mobile theme, so the two never drift.</a:t>
            </a:r>
            <a:endParaRPr lang="en-US" sz="1100" dirty="0"/>
          </a:p>
        </p:txBody>
      </p:sp>
      <p:sp>
        <p:nvSpPr>
          <p:cNvPr id="21" name="Shape 18"/>
          <p:cNvSpPr/>
          <p:nvPr/>
        </p:nvSpPr>
        <p:spPr>
          <a:xfrm>
            <a:off x="708661" y="4737940"/>
            <a:ext cx="92820" cy="105613"/>
          </a:xfrm>
          <a:prstGeom prst="ellipse">
            <a:avLst/>
          </a:prstGeom>
          <a:solidFill>
            <a:srgbClr val="3D6FF5"/>
          </a:solidFill>
          <a:ln/>
        </p:spPr>
        <p:txBody>
          <a:bodyPr/>
          <a:lstStyle/>
          <a:p>
            <a:endParaRPr lang="en-TR"/>
          </a:p>
        </p:txBody>
      </p:sp>
      <p:sp>
        <p:nvSpPr>
          <p:cNvPr id="22" name="Text 19"/>
          <p:cNvSpPr txBox="1"/>
          <p:nvPr/>
        </p:nvSpPr>
        <p:spPr>
          <a:xfrm>
            <a:off x="914400" y="4627298"/>
            <a:ext cx="5014683"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The honest constraint:</a:t>
            </a:r>
            <a:r>
              <a:rPr lang="en-US" sz="1100" dirty="0">
                <a:solidFill>
                  <a:srgbClr val="606A79"/>
                </a:solidFill>
                <a:latin typeface="Saira" pitchFamily="34" charset="0"/>
                <a:ea typeface="Saira" pitchFamily="34" charset="-122"/>
                <a:cs typeface="Saira" pitchFamily="34" charset="-120"/>
              </a:rPr>
              <a:t> an unrooted phone cannot send raw ARP, so some pure-IP devices keep an unknown MAC. The capabilities screen says so rather than hiding it.</a:t>
            </a:r>
            <a:endParaRPr lang="en-US" sz="1100" dirty="0"/>
          </a:p>
        </p:txBody>
      </p:sp>
      <p:grpSp>
        <p:nvGrpSpPr>
          <p:cNvPr id="33" name="Group 32">
            <a:extLst>
              <a:ext uri="{FF2B5EF4-FFF2-40B4-BE49-F238E27FC236}">
                <a16:creationId xmlns:a16="http://schemas.microsoft.com/office/drawing/2014/main" id="{AC2C94E5-191E-8A17-E700-2ED1CBF45465}"/>
              </a:ext>
            </a:extLst>
          </p:cNvPr>
          <p:cNvGrpSpPr/>
          <p:nvPr/>
        </p:nvGrpSpPr>
        <p:grpSpPr>
          <a:xfrm>
            <a:off x="6720383" y="1268350"/>
            <a:ext cx="2063496" cy="4472535"/>
            <a:chOff x="297359" y="1156400"/>
            <a:chExt cx="1113381" cy="2436876"/>
          </a:xfrm>
        </p:grpSpPr>
        <p:sp>
          <p:nvSpPr>
            <p:cNvPr id="23" name="Shape 20"/>
            <p:cNvSpPr/>
            <p:nvPr/>
          </p:nvSpPr>
          <p:spPr>
            <a:xfrm>
              <a:off x="338507" y="1206692"/>
              <a:ext cx="1072233" cy="2386584"/>
            </a:xfrm>
            <a:prstGeom prst="rect">
              <a:avLst/>
            </a:prstGeom>
            <a:solidFill>
              <a:srgbClr val="8894A8">
                <a:alpha val="30000"/>
              </a:srgbClr>
            </a:solidFill>
            <a:ln/>
          </p:spPr>
          <p:txBody>
            <a:bodyPr/>
            <a:lstStyle/>
            <a:p>
              <a:endParaRPr lang="en-TR"/>
            </a:p>
          </p:txBody>
        </p:sp>
        <p:pic>
          <p:nvPicPr>
            <p:cNvPr id="24" name="Image 1" descr="/home/claude/decks/products/mynes/img/ph-devices.jpg"/>
            <p:cNvPicPr>
              <a:picLocks noChangeAspect="1"/>
            </p:cNvPicPr>
            <p:nvPr/>
          </p:nvPicPr>
          <p:blipFill>
            <a:blip r:embed="rId4"/>
            <a:stretch>
              <a:fillRect/>
            </a:stretch>
          </p:blipFill>
          <p:spPr>
            <a:xfrm>
              <a:off x="297359" y="1156400"/>
              <a:ext cx="1072233" cy="2386584"/>
            </a:xfrm>
            <a:prstGeom prst="rect">
              <a:avLst/>
            </a:prstGeom>
          </p:spPr>
        </p:pic>
        <p:sp>
          <p:nvSpPr>
            <p:cNvPr id="25" name="Shape 21"/>
            <p:cNvSpPr/>
            <p:nvPr/>
          </p:nvSpPr>
          <p:spPr>
            <a:xfrm>
              <a:off x="297359" y="1156400"/>
              <a:ext cx="1072233" cy="2386584"/>
            </a:xfrm>
            <a:prstGeom prst="rect">
              <a:avLst/>
            </a:prstGeom>
            <a:ln w="12700">
              <a:solidFill>
                <a:srgbClr val="E2E7EF"/>
              </a:solidFill>
              <a:prstDash val="solid"/>
            </a:ln>
          </p:spPr>
          <p:txBody>
            <a:bodyPr/>
            <a:lstStyle/>
            <a:p>
              <a:endParaRPr lang="en-TR"/>
            </a:p>
          </p:txBody>
        </p:sp>
      </p:grpSp>
      <p:sp>
        <p:nvSpPr>
          <p:cNvPr id="26" name="Text 22"/>
          <p:cNvSpPr txBox="1"/>
          <p:nvPr/>
        </p:nvSpPr>
        <p:spPr>
          <a:xfrm>
            <a:off x="7177883" y="5803365"/>
            <a:ext cx="1072233" cy="201168"/>
          </a:xfrm>
          <a:prstGeom prst="rect">
            <a:avLst/>
          </a:prstGeom>
          <a:noFill/>
          <a:ln/>
        </p:spPr>
        <p:txBody>
          <a:bodyPr wrap="none" lIns="0" tIns="0" rIns="0" bIns="0" rtlCol="0" anchor="t"/>
          <a:lstStyle/>
          <a:p>
            <a:pPr marL="0" indent="0" algn="ctr">
              <a:buNone/>
            </a:pPr>
            <a:r>
              <a:rPr lang="en-US" sz="850" dirty="0">
                <a:solidFill>
                  <a:srgbClr val="8C95A3"/>
                </a:solidFill>
                <a:latin typeface="Sometype Mono" pitchFamily="34" charset="0"/>
                <a:ea typeface="Sometype Mono" pitchFamily="34" charset="-122"/>
                <a:cs typeface="Sometype Mono" pitchFamily="34" charset="-120"/>
              </a:rPr>
              <a:t>Devices</a:t>
            </a:r>
            <a:endParaRPr lang="en-US" sz="850" dirty="0"/>
          </a:p>
        </p:txBody>
      </p:sp>
      <p:grpSp>
        <p:nvGrpSpPr>
          <p:cNvPr id="32" name="Group 31">
            <a:extLst>
              <a:ext uri="{FF2B5EF4-FFF2-40B4-BE49-F238E27FC236}">
                <a16:creationId xmlns:a16="http://schemas.microsoft.com/office/drawing/2014/main" id="{09F3B407-3547-FD0E-2B00-EC6C18D76F0B}"/>
              </a:ext>
            </a:extLst>
          </p:cNvPr>
          <p:cNvGrpSpPr/>
          <p:nvPr/>
        </p:nvGrpSpPr>
        <p:grpSpPr>
          <a:xfrm>
            <a:off x="9651441" y="1268351"/>
            <a:ext cx="2053895" cy="4472534"/>
            <a:chOff x="3510718" y="1213518"/>
            <a:chExt cx="1113381" cy="2436876"/>
          </a:xfrm>
        </p:grpSpPr>
        <p:sp>
          <p:nvSpPr>
            <p:cNvPr id="27" name="Shape 23"/>
            <p:cNvSpPr/>
            <p:nvPr/>
          </p:nvSpPr>
          <p:spPr>
            <a:xfrm>
              <a:off x="3551866" y="1263810"/>
              <a:ext cx="1072233" cy="2386584"/>
            </a:xfrm>
            <a:prstGeom prst="rect">
              <a:avLst/>
            </a:prstGeom>
            <a:solidFill>
              <a:srgbClr val="8894A8">
                <a:alpha val="30000"/>
              </a:srgbClr>
            </a:solidFill>
            <a:ln/>
          </p:spPr>
          <p:txBody>
            <a:bodyPr/>
            <a:lstStyle/>
            <a:p>
              <a:endParaRPr lang="en-TR"/>
            </a:p>
          </p:txBody>
        </p:sp>
        <p:pic>
          <p:nvPicPr>
            <p:cNvPr id="28" name="Image 2" descr="/home/claude/decks/products/mynes/img/ph-capabilities.jpg"/>
            <p:cNvPicPr>
              <a:picLocks noChangeAspect="1"/>
            </p:cNvPicPr>
            <p:nvPr/>
          </p:nvPicPr>
          <p:blipFill>
            <a:blip r:embed="rId5"/>
            <a:stretch>
              <a:fillRect/>
            </a:stretch>
          </p:blipFill>
          <p:spPr>
            <a:xfrm>
              <a:off x="3510718" y="1213518"/>
              <a:ext cx="1072233" cy="2386584"/>
            </a:xfrm>
            <a:prstGeom prst="rect">
              <a:avLst/>
            </a:prstGeom>
          </p:spPr>
        </p:pic>
        <p:sp>
          <p:nvSpPr>
            <p:cNvPr id="29" name="Shape 24"/>
            <p:cNvSpPr/>
            <p:nvPr/>
          </p:nvSpPr>
          <p:spPr>
            <a:xfrm>
              <a:off x="3510718" y="1213518"/>
              <a:ext cx="1072233" cy="2386584"/>
            </a:xfrm>
            <a:prstGeom prst="rect">
              <a:avLst/>
            </a:prstGeom>
            <a:ln w="12700">
              <a:solidFill>
                <a:srgbClr val="E2E7EF"/>
              </a:solidFill>
              <a:prstDash val="solid"/>
            </a:ln>
          </p:spPr>
          <p:txBody>
            <a:bodyPr/>
            <a:lstStyle/>
            <a:p>
              <a:endParaRPr lang="en-TR"/>
            </a:p>
          </p:txBody>
        </p:sp>
      </p:grpSp>
      <p:sp>
        <p:nvSpPr>
          <p:cNvPr id="30" name="Text 25"/>
          <p:cNvSpPr txBox="1"/>
          <p:nvPr/>
        </p:nvSpPr>
        <p:spPr>
          <a:xfrm>
            <a:off x="10104318" y="5803365"/>
            <a:ext cx="1072233" cy="201168"/>
          </a:xfrm>
          <a:prstGeom prst="rect">
            <a:avLst/>
          </a:prstGeom>
          <a:noFill/>
          <a:ln/>
        </p:spPr>
        <p:txBody>
          <a:bodyPr wrap="none" lIns="0" tIns="0" rIns="0" bIns="0" rtlCol="0" anchor="t"/>
          <a:lstStyle/>
          <a:p>
            <a:pPr marL="0" indent="0" algn="ctr">
              <a:buNone/>
            </a:pPr>
            <a:r>
              <a:rPr lang="en-US" sz="850" dirty="0">
                <a:solidFill>
                  <a:srgbClr val="8C95A3"/>
                </a:solidFill>
                <a:latin typeface="Sometype Mono" pitchFamily="34" charset="0"/>
                <a:ea typeface="Sometype Mono" pitchFamily="34" charset="-122"/>
                <a:cs typeface="Sometype Mono" pitchFamily="34" charset="-120"/>
              </a:rPr>
              <a:t>Capabilities</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a:effectLst/>
      </p:bgPr>
    </p:bg>
    <p:spTree>
      <p:nvGrpSpPr>
        <p:cNvPr id="1" name=""/>
        <p:cNvGrpSpPr/>
        <p:nvPr/>
      </p:nvGrpSpPr>
      <p:grpSpPr>
        <a:xfrm>
          <a:off x="0" y="0"/>
          <a:ext cx="0" cy="0"/>
          <a:chOff x="0" y="0"/>
          <a:chExt cx="0" cy="0"/>
        </a:xfrm>
      </p:grpSpPr>
      <p:sp>
        <p:nvSpPr>
          <p:cNvPr id="36" name="Shape 20">
            <a:extLst>
              <a:ext uri="{FF2B5EF4-FFF2-40B4-BE49-F238E27FC236}">
                <a16:creationId xmlns:a16="http://schemas.microsoft.com/office/drawing/2014/main" id="{2819C843-4D62-3D76-0B39-205F50AD4C53}"/>
              </a:ext>
            </a:extLst>
          </p:cNvPr>
          <p:cNvSpPr/>
          <p:nvPr/>
        </p:nvSpPr>
        <p:spPr>
          <a:xfrm>
            <a:off x="9983684" y="1706067"/>
            <a:ext cx="1423952" cy="3095549"/>
          </a:xfrm>
          <a:prstGeom prst="rect">
            <a:avLst/>
          </a:prstGeom>
          <a:solidFill>
            <a:srgbClr val="8894A8">
              <a:alpha val="30000"/>
            </a:srgbClr>
          </a:solidFill>
          <a:ln/>
        </p:spPr>
        <p:txBody>
          <a:bodyPr/>
          <a:lstStyle/>
          <a:p>
            <a:endParaRPr lang="en-TR"/>
          </a:p>
        </p:txBody>
      </p:sp>
      <p:sp>
        <p:nvSpPr>
          <p:cNvPr id="35" name="Shape 20">
            <a:extLst>
              <a:ext uri="{FF2B5EF4-FFF2-40B4-BE49-F238E27FC236}">
                <a16:creationId xmlns:a16="http://schemas.microsoft.com/office/drawing/2014/main" id="{B5C7F9F3-52CB-8315-C496-750127441DA7}"/>
              </a:ext>
            </a:extLst>
          </p:cNvPr>
          <p:cNvSpPr/>
          <p:nvPr/>
        </p:nvSpPr>
        <p:spPr>
          <a:xfrm>
            <a:off x="8123144" y="1706067"/>
            <a:ext cx="1423952" cy="3095549"/>
          </a:xfrm>
          <a:prstGeom prst="rect">
            <a:avLst/>
          </a:prstGeom>
          <a:solidFill>
            <a:srgbClr val="8894A8">
              <a:alpha val="30000"/>
            </a:srgbClr>
          </a:solidFill>
          <a:ln/>
        </p:spPr>
        <p:txBody>
          <a:bodyPr/>
          <a:lstStyle/>
          <a:p>
            <a:endParaRPr lang="en-TR"/>
          </a:p>
        </p:txBody>
      </p:sp>
      <p:sp>
        <p:nvSpPr>
          <p:cNvPr id="34" name="Shape 20">
            <a:extLst>
              <a:ext uri="{FF2B5EF4-FFF2-40B4-BE49-F238E27FC236}">
                <a16:creationId xmlns:a16="http://schemas.microsoft.com/office/drawing/2014/main" id="{BD1DA0B0-C871-02B0-6F5D-260D00BED04C}"/>
              </a:ext>
            </a:extLst>
          </p:cNvPr>
          <p:cNvSpPr/>
          <p:nvPr/>
        </p:nvSpPr>
        <p:spPr>
          <a:xfrm>
            <a:off x="6283219" y="1706067"/>
            <a:ext cx="1423952" cy="3095549"/>
          </a:xfrm>
          <a:prstGeom prst="rect">
            <a:avLst/>
          </a:prstGeom>
          <a:solidFill>
            <a:srgbClr val="8894A8">
              <a:alpha val="30000"/>
            </a:srgbClr>
          </a:solidFill>
          <a:ln/>
        </p:spPr>
        <p:txBody>
          <a:bodyPr/>
          <a:lstStyle/>
          <a:p>
            <a:endParaRPr lang="en-TR"/>
          </a:p>
        </p:txBody>
      </p:sp>
      <p:sp>
        <p:nvSpPr>
          <p:cNvPr id="33" name="Shape 20">
            <a:extLst>
              <a:ext uri="{FF2B5EF4-FFF2-40B4-BE49-F238E27FC236}">
                <a16:creationId xmlns:a16="http://schemas.microsoft.com/office/drawing/2014/main" id="{9FE5AECD-4B9B-DFEE-526A-395FEEBFD5AA}"/>
              </a:ext>
            </a:extLst>
          </p:cNvPr>
          <p:cNvSpPr/>
          <p:nvPr/>
        </p:nvSpPr>
        <p:spPr>
          <a:xfrm>
            <a:off x="4443294" y="1706067"/>
            <a:ext cx="1423952" cy="3095549"/>
          </a:xfrm>
          <a:prstGeom prst="rect">
            <a:avLst/>
          </a:prstGeom>
          <a:solidFill>
            <a:srgbClr val="8894A8">
              <a:alpha val="30000"/>
            </a:srgbClr>
          </a:solidFill>
          <a:ln/>
        </p:spPr>
        <p:txBody>
          <a:bodyPr/>
          <a:lstStyle/>
          <a:p>
            <a:endParaRPr lang="en-TR"/>
          </a:p>
        </p:txBody>
      </p:sp>
      <p:sp>
        <p:nvSpPr>
          <p:cNvPr id="32" name="Shape 20">
            <a:extLst>
              <a:ext uri="{FF2B5EF4-FFF2-40B4-BE49-F238E27FC236}">
                <a16:creationId xmlns:a16="http://schemas.microsoft.com/office/drawing/2014/main" id="{6A663601-CCD2-DDDA-2EEF-BD2984DE4E3B}"/>
              </a:ext>
            </a:extLst>
          </p:cNvPr>
          <p:cNvSpPr/>
          <p:nvPr/>
        </p:nvSpPr>
        <p:spPr>
          <a:xfrm>
            <a:off x="2623983" y="1678635"/>
            <a:ext cx="1423952" cy="3095549"/>
          </a:xfrm>
          <a:prstGeom prst="rect">
            <a:avLst/>
          </a:prstGeom>
          <a:solidFill>
            <a:srgbClr val="8894A8">
              <a:alpha val="30000"/>
            </a:srgbClr>
          </a:solidFill>
          <a:ln/>
        </p:spPr>
        <p:txBody>
          <a:bodyPr/>
          <a:lstStyle/>
          <a:p>
            <a:endParaRPr lang="en-TR"/>
          </a:p>
        </p:txBody>
      </p:sp>
      <p:sp>
        <p:nvSpPr>
          <p:cNvPr id="31" name="Shape 20">
            <a:extLst>
              <a:ext uri="{FF2B5EF4-FFF2-40B4-BE49-F238E27FC236}">
                <a16:creationId xmlns:a16="http://schemas.microsoft.com/office/drawing/2014/main" id="{44AEA0C3-8DCA-3602-5C5B-C65B56C536D8}"/>
              </a:ext>
            </a:extLst>
          </p:cNvPr>
          <p:cNvSpPr/>
          <p:nvPr/>
        </p:nvSpPr>
        <p:spPr>
          <a:xfrm>
            <a:off x="804672" y="1651203"/>
            <a:ext cx="1423952" cy="3095549"/>
          </a:xfrm>
          <a:prstGeom prst="rect">
            <a:avLst/>
          </a:prstGeom>
          <a:solidFill>
            <a:srgbClr val="8894A8">
              <a:alpha val="30000"/>
            </a:srgbClr>
          </a:solidFill>
          <a:ln/>
        </p:spPr>
        <p:txBody>
          <a:bodyPr/>
          <a:lstStyle/>
          <a:p>
            <a:endParaRPr lang="en-TR"/>
          </a:p>
        </p:txBody>
      </p:sp>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730815"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730815"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Mobile</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864657"/>
            <a:ext cx="10808208" cy="767080"/>
          </a:xfrm>
          <a:prstGeom prst="rect">
            <a:avLst/>
          </a:prstGeom>
          <a:noFill/>
          <a:ln/>
        </p:spPr>
        <p:txBody>
          <a:bodyPr wrap="square" lIns="0" tIns="0" rIns="0" bIns="0" rtlCol="0" anchor="t"/>
          <a:lstStyle/>
          <a:p>
            <a:pPr marL="0" indent="0" algn="l">
              <a:lnSpc>
                <a:spcPts val="3520"/>
              </a:lnSpc>
              <a:buNone/>
            </a:pPr>
            <a:r>
              <a:rPr lang="en-US" sz="3200" b="1" kern="0" spc="-45" dirty="0">
                <a:solidFill>
                  <a:srgbClr val="141A24"/>
                </a:solidFill>
                <a:latin typeface="Saira Cond" pitchFamily="34" charset="0"/>
                <a:ea typeface="Saira Cond" pitchFamily="34" charset="-122"/>
                <a:cs typeface="Saira Cond" pitchFamily="34" charset="-120"/>
              </a:rPr>
              <a:t>Everything the web app does, in your pocket.</a:t>
            </a:r>
            <a:endParaRPr lang="en-US" sz="3200" dirty="0"/>
          </a:p>
        </p:txBody>
      </p:sp>
      <p:pic>
        <p:nvPicPr>
          <p:cNvPr id="12" name="Image 1" descr="/home/claude/decks/products/mynes/img/s-devices.jpg"/>
          <p:cNvPicPr>
            <a:picLocks noChangeAspect="1"/>
          </p:cNvPicPr>
          <p:nvPr/>
        </p:nvPicPr>
        <p:blipFill>
          <a:blip r:embed="rId4"/>
          <a:stretch>
            <a:fillRect/>
          </a:stretch>
        </p:blipFill>
        <p:spPr>
          <a:xfrm>
            <a:off x="756666" y="1596339"/>
            <a:ext cx="1423952" cy="3095549"/>
          </a:xfrm>
          <a:prstGeom prst="rect">
            <a:avLst/>
          </a:prstGeom>
        </p:spPr>
      </p:pic>
      <p:sp>
        <p:nvSpPr>
          <p:cNvPr id="13" name="Text 9"/>
          <p:cNvSpPr txBox="1"/>
          <p:nvPr/>
        </p:nvSpPr>
        <p:spPr>
          <a:xfrm>
            <a:off x="676656" y="4872939"/>
            <a:ext cx="1638757" cy="219456"/>
          </a:xfrm>
          <a:prstGeom prst="rect">
            <a:avLst/>
          </a:prstGeom>
          <a:noFill/>
          <a:ln/>
        </p:spPr>
        <p:txBody>
          <a:bodyPr wrap="none" lIns="0" tIns="0" rIns="0" bIns="0" rtlCol="0" anchor="t"/>
          <a:lstStyle/>
          <a:p>
            <a:pPr marL="0" indent="0" algn="ctr">
              <a:buNone/>
            </a:pPr>
            <a:r>
              <a:rPr lang="en-US" sz="1000" dirty="0">
                <a:solidFill>
                  <a:srgbClr val="606A79"/>
                </a:solidFill>
                <a:latin typeface="Saira Medium" pitchFamily="34" charset="0"/>
                <a:ea typeface="Saira Medium" pitchFamily="34" charset="-122"/>
                <a:cs typeface="Saira Medium" pitchFamily="34" charset="-120"/>
              </a:rPr>
              <a:t>Devices</a:t>
            </a:r>
            <a:endParaRPr lang="en-US" sz="1000" dirty="0"/>
          </a:p>
        </p:txBody>
      </p:sp>
      <p:pic>
        <p:nvPicPr>
          <p:cNvPr id="14" name="Image 2" descr="/home/claude/decks/products/mynes/img/s-discovery.jpg"/>
          <p:cNvPicPr>
            <a:picLocks noChangeAspect="1"/>
          </p:cNvPicPr>
          <p:nvPr/>
        </p:nvPicPr>
        <p:blipFill>
          <a:blip r:embed="rId5"/>
          <a:stretch>
            <a:fillRect/>
          </a:stretch>
        </p:blipFill>
        <p:spPr>
          <a:xfrm>
            <a:off x="2575976" y="1613997"/>
            <a:ext cx="1423952" cy="3095549"/>
          </a:xfrm>
          <a:prstGeom prst="rect">
            <a:avLst/>
          </a:prstGeom>
        </p:spPr>
      </p:pic>
      <p:sp>
        <p:nvSpPr>
          <p:cNvPr id="15" name="Text 10"/>
          <p:cNvSpPr txBox="1"/>
          <p:nvPr/>
        </p:nvSpPr>
        <p:spPr>
          <a:xfrm>
            <a:off x="2516581" y="4872939"/>
            <a:ext cx="1638757" cy="219456"/>
          </a:xfrm>
          <a:prstGeom prst="rect">
            <a:avLst/>
          </a:prstGeom>
          <a:noFill/>
          <a:ln/>
        </p:spPr>
        <p:txBody>
          <a:bodyPr wrap="none" lIns="0" tIns="0" rIns="0" bIns="0" rtlCol="0" anchor="t"/>
          <a:lstStyle/>
          <a:p>
            <a:pPr marL="0" indent="0" algn="ctr">
              <a:buNone/>
            </a:pPr>
            <a:r>
              <a:rPr lang="en-US" sz="1000" dirty="0">
                <a:solidFill>
                  <a:srgbClr val="606A79"/>
                </a:solidFill>
                <a:latin typeface="Saira Medium" pitchFamily="34" charset="0"/>
                <a:ea typeface="Saira Medium" pitchFamily="34" charset="-122"/>
                <a:cs typeface="Saira Medium" pitchFamily="34" charset="-120"/>
              </a:rPr>
              <a:t>Discovery</a:t>
            </a:r>
            <a:endParaRPr lang="en-US" sz="1000" dirty="0"/>
          </a:p>
        </p:txBody>
      </p:sp>
      <p:pic>
        <p:nvPicPr>
          <p:cNvPr id="16" name="Image 3" descr="/home/claude/decks/products/mynes/img/s-alerts.jpg"/>
          <p:cNvPicPr>
            <a:picLocks noChangeAspect="1"/>
          </p:cNvPicPr>
          <p:nvPr/>
        </p:nvPicPr>
        <p:blipFill>
          <a:blip r:embed="rId6"/>
          <a:srcRect t="1324"/>
          <a:stretch>
            <a:fillRect/>
          </a:stretch>
        </p:blipFill>
        <p:spPr>
          <a:xfrm>
            <a:off x="4395286" y="1686601"/>
            <a:ext cx="1423952" cy="3054562"/>
          </a:xfrm>
          <a:prstGeom prst="rect">
            <a:avLst/>
          </a:prstGeom>
        </p:spPr>
      </p:pic>
      <p:sp>
        <p:nvSpPr>
          <p:cNvPr id="17" name="Text 11"/>
          <p:cNvSpPr txBox="1"/>
          <p:nvPr/>
        </p:nvSpPr>
        <p:spPr>
          <a:xfrm>
            <a:off x="4356506" y="4872939"/>
            <a:ext cx="1638757" cy="219456"/>
          </a:xfrm>
          <a:prstGeom prst="rect">
            <a:avLst/>
          </a:prstGeom>
          <a:noFill/>
          <a:ln/>
        </p:spPr>
        <p:txBody>
          <a:bodyPr wrap="none" lIns="0" tIns="0" rIns="0" bIns="0" rtlCol="0" anchor="t"/>
          <a:lstStyle/>
          <a:p>
            <a:pPr marL="0" indent="0" algn="ctr">
              <a:buNone/>
            </a:pPr>
            <a:r>
              <a:rPr lang="en-US" sz="1000" dirty="0">
                <a:solidFill>
                  <a:srgbClr val="606A79"/>
                </a:solidFill>
                <a:latin typeface="Saira Medium" pitchFamily="34" charset="0"/>
                <a:ea typeface="Saira Medium" pitchFamily="34" charset="-122"/>
                <a:cs typeface="Saira Medium" pitchFamily="34" charset="-120"/>
              </a:rPr>
              <a:t>Alerts</a:t>
            </a:r>
            <a:endParaRPr lang="en-US" sz="1000" dirty="0"/>
          </a:p>
        </p:txBody>
      </p:sp>
      <p:pic>
        <p:nvPicPr>
          <p:cNvPr id="18" name="Image 4" descr="/home/claude/decks/products/mynes/img/s-security.jpg"/>
          <p:cNvPicPr>
            <a:picLocks noChangeAspect="1"/>
          </p:cNvPicPr>
          <p:nvPr/>
        </p:nvPicPr>
        <p:blipFill>
          <a:blip r:embed="rId7"/>
          <a:stretch>
            <a:fillRect/>
          </a:stretch>
        </p:blipFill>
        <p:spPr>
          <a:xfrm>
            <a:off x="6229914" y="1645614"/>
            <a:ext cx="1423952" cy="3095549"/>
          </a:xfrm>
          <a:prstGeom prst="rect">
            <a:avLst/>
          </a:prstGeom>
        </p:spPr>
      </p:pic>
      <p:sp>
        <p:nvSpPr>
          <p:cNvPr id="19" name="Text 12"/>
          <p:cNvSpPr txBox="1"/>
          <p:nvPr/>
        </p:nvSpPr>
        <p:spPr>
          <a:xfrm>
            <a:off x="6196432" y="4872939"/>
            <a:ext cx="1638757" cy="219456"/>
          </a:xfrm>
          <a:prstGeom prst="rect">
            <a:avLst/>
          </a:prstGeom>
          <a:noFill/>
          <a:ln/>
        </p:spPr>
        <p:txBody>
          <a:bodyPr wrap="none" lIns="0" tIns="0" rIns="0" bIns="0" rtlCol="0" anchor="t"/>
          <a:lstStyle/>
          <a:p>
            <a:pPr marL="0" indent="0" algn="ctr">
              <a:buNone/>
            </a:pPr>
            <a:r>
              <a:rPr lang="en-US" sz="1000" dirty="0">
                <a:solidFill>
                  <a:srgbClr val="606A79"/>
                </a:solidFill>
                <a:latin typeface="Saira Medium" pitchFamily="34" charset="0"/>
                <a:ea typeface="Saira Medium" pitchFamily="34" charset="-122"/>
                <a:cs typeface="Saira Medium" pitchFamily="34" charset="-120"/>
              </a:rPr>
              <a:t>Security</a:t>
            </a:r>
            <a:endParaRPr lang="en-US" sz="1000" dirty="0"/>
          </a:p>
        </p:txBody>
      </p:sp>
      <p:pic>
        <p:nvPicPr>
          <p:cNvPr id="20" name="Image 5" descr="/home/claude/decks/products/mynes/img/s-history.jpg"/>
          <p:cNvPicPr>
            <a:picLocks noChangeAspect="1"/>
          </p:cNvPicPr>
          <p:nvPr/>
        </p:nvPicPr>
        <p:blipFill>
          <a:blip r:embed="rId8"/>
          <a:stretch>
            <a:fillRect/>
          </a:stretch>
        </p:blipFill>
        <p:spPr>
          <a:xfrm>
            <a:off x="8036357" y="1651202"/>
            <a:ext cx="1423952" cy="3095549"/>
          </a:xfrm>
          <a:prstGeom prst="rect">
            <a:avLst/>
          </a:prstGeom>
        </p:spPr>
      </p:pic>
      <p:sp>
        <p:nvSpPr>
          <p:cNvPr id="21" name="Text 13"/>
          <p:cNvSpPr txBox="1"/>
          <p:nvPr/>
        </p:nvSpPr>
        <p:spPr>
          <a:xfrm>
            <a:off x="8036357" y="4872939"/>
            <a:ext cx="1638757" cy="219456"/>
          </a:xfrm>
          <a:prstGeom prst="rect">
            <a:avLst/>
          </a:prstGeom>
          <a:noFill/>
          <a:ln/>
        </p:spPr>
        <p:txBody>
          <a:bodyPr wrap="none" lIns="0" tIns="0" rIns="0" bIns="0" rtlCol="0" anchor="t"/>
          <a:lstStyle/>
          <a:p>
            <a:pPr marL="0" indent="0" algn="ctr">
              <a:buNone/>
            </a:pPr>
            <a:r>
              <a:rPr lang="en-US" sz="1000" dirty="0">
                <a:solidFill>
                  <a:srgbClr val="606A79"/>
                </a:solidFill>
                <a:latin typeface="Saira Medium" pitchFamily="34" charset="0"/>
                <a:ea typeface="Saira Medium" pitchFamily="34" charset="-122"/>
                <a:cs typeface="Saira Medium" pitchFamily="34" charset="-120"/>
              </a:rPr>
              <a:t>History</a:t>
            </a:r>
            <a:endParaRPr lang="en-US" sz="1000" dirty="0"/>
          </a:p>
        </p:txBody>
      </p:sp>
      <p:pic>
        <p:nvPicPr>
          <p:cNvPr id="22" name="Image 6" descr="/home/claude/decks/products/mynes/img/s-settings.jpg"/>
          <p:cNvPicPr>
            <a:picLocks noChangeAspect="1"/>
          </p:cNvPicPr>
          <p:nvPr/>
        </p:nvPicPr>
        <p:blipFill>
          <a:blip r:embed="rId9"/>
          <a:stretch>
            <a:fillRect/>
          </a:stretch>
        </p:blipFill>
        <p:spPr>
          <a:xfrm>
            <a:off x="9914529" y="1645614"/>
            <a:ext cx="1423952" cy="3095549"/>
          </a:xfrm>
          <a:prstGeom prst="rect">
            <a:avLst/>
          </a:prstGeom>
        </p:spPr>
      </p:pic>
      <p:sp>
        <p:nvSpPr>
          <p:cNvPr id="23" name="Text 14"/>
          <p:cNvSpPr txBox="1"/>
          <p:nvPr/>
        </p:nvSpPr>
        <p:spPr>
          <a:xfrm>
            <a:off x="9876282" y="4872939"/>
            <a:ext cx="1638757" cy="219456"/>
          </a:xfrm>
          <a:prstGeom prst="rect">
            <a:avLst/>
          </a:prstGeom>
          <a:noFill/>
          <a:ln/>
        </p:spPr>
        <p:txBody>
          <a:bodyPr wrap="none" lIns="0" tIns="0" rIns="0" bIns="0" rtlCol="0" anchor="t"/>
          <a:lstStyle/>
          <a:p>
            <a:pPr marL="0" indent="0" algn="ctr">
              <a:buNone/>
            </a:pPr>
            <a:r>
              <a:rPr lang="en-US" sz="1000" dirty="0">
                <a:solidFill>
                  <a:srgbClr val="606A79"/>
                </a:solidFill>
                <a:latin typeface="Saira Medium" pitchFamily="34" charset="0"/>
                <a:ea typeface="Saira Medium" pitchFamily="34" charset="-122"/>
                <a:cs typeface="Saira Medium" pitchFamily="34" charset="-120"/>
              </a:rPr>
              <a:t>Settings</a:t>
            </a:r>
            <a:endParaRPr lang="en-US" sz="1000" dirty="0"/>
          </a:p>
        </p:txBody>
      </p:sp>
      <p:sp>
        <p:nvSpPr>
          <p:cNvPr id="24" name="Shape 15"/>
          <p:cNvSpPr/>
          <p:nvPr/>
        </p:nvSpPr>
        <p:spPr>
          <a:xfrm>
            <a:off x="708660" y="5247843"/>
            <a:ext cx="96012" cy="96012"/>
          </a:xfrm>
          <a:prstGeom prst="ellipse">
            <a:avLst/>
          </a:prstGeom>
          <a:solidFill>
            <a:srgbClr val="3D6FF5"/>
          </a:solidFill>
          <a:ln/>
        </p:spPr>
        <p:txBody>
          <a:bodyPr/>
          <a:lstStyle/>
          <a:p>
            <a:endParaRPr lang="en-TR"/>
          </a:p>
        </p:txBody>
      </p:sp>
      <p:sp>
        <p:nvSpPr>
          <p:cNvPr id="25" name="Text 16"/>
          <p:cNvSpPr txBox="1"/>
          <p:nvPr/>
        </p:nvSpPr>
        <p:spPr>
          <a:xfrm>
            <a:off x="914400" y="5147259"/>
            <a:ext cx="4925416" cy="580136"/>
          </a:xfrm>
          <a:prstGeom prst="rect">
            <a:avLst/>
          </a:prstGeom>
          <a:noFill/>
          <a:ln/>
        </p:spPr>
        <p:txBody>
          <a:bodyPr wrap="square" lIns="0" tIns="0" rIns="0" bIns="0" rtlCol="0" anchor="t"/>
          <a:lstStyle/>
          <a:p>
            <a:pPr marL="0" indent="0" algn="l">
              <a:lnSpc>
                <a:spcPts val="1420"/>
              </a:lnSpc>
              <a:buNone/>
            </a:pPr>
            <a:r>
              <a:rPr lang="en-US" sz="1000" dirty="0">
                <a:solidFill>
                  <a:srgbClr val="141A24"/>
                </a:solidFill>
                <a:latin typeface="Saira Medium" pitchFamily="34" charset="0"/>
                <a:ea typeface="Saira Medium" pitchFamily="34" charset="-122"/>
                <a:cs typeface="Saira Medium" pitchFamily="34" charset="-120"/>
              </a:rPr>
              <a:t>Devices</a:t>
            </a:r>
            <a:r>
              <a:rPr lang="en-US" sz="1000" dirty="0">
                <a:solidFill>
                  <a:srgbClr val="606A79"/>
                </a:solidFill>
                <a:latin typeface="Saira" pitchFamily="34" charset="0"/>
                <a:ea typeface="Saira" pitchFamily="34" charset="-122"/>
                <a:cs typeface="Saira" pitchFamily="34" charset="-120"/>
              </a:rPr>
              <a:t> — live counters (total / online / types / vendors), search, and the same card, table, graph, topology and floor-plan switches as the web app.</a:t>
            </a:r>
            <a:endParaRPr lang="en-US" sz="1000" dirty="0"/>
          </a:p>
        </p:txBody>
      </p:sp>
      <p:sp>
        <p:nvSpPr>
          <p:cNvPr id="26" name="Shape 17"/>
          <p:cNvSpPr/>
          <p:nvPr/>
        </p:nvSpPr>
        <p:spPr>
          <a:xfrm>
            <a:off x="708660" y="5754827"/>
            <a:ext cx="96012" cy="96012"/>
          </a:xfrm>
          <a:prstGeom prst="ellipse">
            <a:avLst/>
          </a:prstGeom>
          <a:solidFill>
            <a:srgbClr val="17A05C"/>
          </a:solidFill>
          <a:ln/>
        </p:spPr>
        <p:txBody>
          <a:bodyPr/>
          <a:lstStyle/>
          <a:p>
            <a:endParaRPr lang="en-TR"/>
          </a:p>
        </p:txBody>
      </p:sp>
      <p:sp>
        <p:nvSpPr>
          <p:cNvPr id="27" name="Text 18"/>
          <p:cNvSpPr txBox="1"/>
          <p:nvPr/>
        </p:nvSpPr>
        <p:spPr>
          <a:xfrm>
            <a:off x="914400" y="5654243"/>
            <a:ext cx="4925416" cy="580136"/>
          </a:xfrm>
          <a:prstGeom prst="rect">
            <a:avLst/>
          </a:prstGeom>
          <a:noFill/>
          <a:ln/>
        </p:spPr>
        <p:txBody>
          <a:bodyPr wrap="square" lIns="0" tIns="0" rIns="0" bIns="0" rtlCol="0" anchor="t"/>
          <a:lstStyle/>
          <a:p>
            <a:pPr marL="0" indent="0" algn="l">
              <a:lnSpc>
                <a:spcPts val="1420"/>
              </a:lnSpc>
              <a:buNone/>
            </a:pPr>
            <a:r>
              <a:rPr lang="en-US" sz="1000" dirty="0">
                <a:solidFill>
                  <a:srgbClr val="141A24"/>
                </a:solidFill>
                <a:latin typeface="Saira Medium" pitchFamily="34" charset="0"/>
                <a:ea typeface="Saira Medium" pitchFamily="34" charset="-122"/>
                <a:cs typeface="Saira Medium" pitchFamily="34" charset="-120"/>
              </a:rPr>
              <a:t>Discovery · Alerts · Security · History · Settings</a:t>
            </a:r>
            <a:r>
              <a:rPr lang="en-US" sz="1000" dirty="0">
                <a:solidFill>
                  <a:srgbClr val="606A79"/>
                </a:solidFill>
                <a:latin typeface="Saira" pitchFamily="34" charset="0"/>
                <a:ea typeface="Saira" pitchFamily="34" charset="-122"/>
                <a:cs typeface="Saira" pitchFamily="34" charset="-120"/>
              </a:rPr>
              <a:t> — the same five pillars, laid out for a thumb.</a:t>
            </a:r>
            <a:endParaRPr lang="en-US" sz="1000" dirty="0"/>
          </a:p>
        </p:txBody>
      </p:sp>
      <p:sp>
        <p:nvSpPr>
          <p:cNvPr id="28" name="Shape 19"/>
          <p:cNvSpPr/>
          <p:nvPr/>
        </p:nvSpPr>
        <p:spPr>
          <a:xfrm>
            <a:off x="6383884" y="5247843"/>
            <a:ext cx="96012" cy="96012"/>
          </a:xfrm>
          <a:prstGeom prst="ellipse">
            <a:avLst/>
          </a:prstGeom>
          <a:solidFill>
            <a:srgbClr val="3D6FF5"/>
          </a:solidFill>
          <a:ln/>
        </p:spPr>
        <p:txBody>
          <a:bodyPr/>
          <a:lstStyle/>
          <a:p>
            <a:endParaRPr lang="en-TR"/>
          </a:p>
        </p:txBody>
      </p:sp>
      <p:sp>
        <p:nvSpPr>
          <p:cNvPr id="29" name="Text 20"/>
          <p:cNvSpPr txBox="1"/>
          <p:nvPr/>
        </p:nvSpPr>
        <p:spPr>
          <a:xfrm>
            <a:off x="6589624" y="5147259"/>
            <a:ext cx="4925416" cy="399796"/>
          </a:xfrm>
          <a:prstGeom prst="rect">
            <a:avLst/>
          </a:prstGeom>
          <a:noFill/>
          <a:ln/>
        </p:spPr>
        <p:txBody>
          <a:bodyPr wrap="square" lIns="0" tIns="0" rIns="0" bIns="0" rtlCol="0" anchor="t"/>
          <a:lstStyle/>
          <a:p>
            <a:pPr marL="0" indent="0" algn="l">
              <a:lnSpc>
                <a:spcPts val="1420"/>
              </a:lnSpc>
              <a:buNone/>
            </a:pPr>
            <a:r>
              <a:rPr lang="en-US" sz="1000" dirty="0">
                <a:solidFill>
                  <a:srgbClr val="606A79"/>
                </a:solidFill>
                <a:latin typeface="Saira" pitchFamily="34" charset="0"/>
                <a:ea typeface="Saira" pitchFamily="34" charset="-122"/>
                <a:cs typeface="Saira" pitchFamily="34" charset="-120"/>
              </a:rPr>
              <a:t>Light and dark follow the OS; the interface ships in </a:t>
            </a:r>
            <a:r>
              <a:rPr lang="en-US" sz="1000" dirty="0">
                <a:solidFill>
                  <a:srgbClr val="141A24"/>
                </a:solidFill>
                <a:latin typeface="Saira Medium" pitchFamily="34" charset="0"/>
                <a:ea typeface="Saira Medium" pitchFamily="34" charset="-122"/>
                <a:cs typeface="Saira Medium" pitchFamily="34" charset="-120"/>
              </a:rPr>
              <a:t>Turkish and English</a:t>
            </a:r>
            <a:r>
              <a:rPr lang="en-US" sz="1000" dirty="0">
                <a:solidFill>
                  <a:srgbClr val="606A79"/>
                </a:solidFill>
                <a:latin typeface="Saira" pitchFamily="34" charset="0"/>
                <a:ea typeface="Saira" pitchFamily="34" charset="-122"/>
                <a:cs typeface="Saira" pitchFamily="34" charset="-120"/>
              </a:rPr>
              <a: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730815"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730815"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Mobile</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825805"/>
            <a:ext cx="4818087" cy="725170"/>
          </a:xfrm>
          <a:prstGeom prst="rect">
            <a:avLst/>
          </a:prstGeom>
          <a:noFill/>
          <a:ln/>
        </p:spPr>
        <p:txBody>
          <a:bodyPr wrap="square" lIns="0" tIns="0" rIns="0" bIns="0" rtlCol="0" anchor="t"/>
          <a:lstStyle/>
          <a:p>
            <a:pPr marL="0" indent="0" algn="l">
              <a:lnSpc>
                <a:spcPts val="3190"/>
              </a:lnSpc>
              <a:buNone/>
            </a:pPr>
            <a:r>
              <a:rPr lang="en-US" sz="2900" b="1" kern="0" spc="-41" dirty="0">
                <a:solidFill>
                  <a:srgbClr val="141A24"/>
                </a:solidFill>
                <a:latin typeface="Saira Cond" pitchFamily="34" charset="0"/>
                <a:ea typeface="Saira Cond" pitchFamily="34" charset="-122"/>
                <a:cs typeface="Saira Cond" pitchFamily="34" charset="-120"/>
              </a:rPr>
              <a:t>The same integrations, from the phone.</a:t>
            </a:r>
            <a:endParaRPr lang="en-US" sz="2900" dirty="0"/>
          </a:p>
        </p:txBody>
      </p:sp>
      <p:sp>
        <p:nvSpPr>
          <p:cNvPr id="12" name="Text 9"/>
          <p:cNvSpPr txBox="1"/>
          <p:nvPr/>
        </p:nvSpPr>
        <p:spPr>
          <a:xfrm>
            <a:off x="676656" y="1983080"/>
            <a:ext cx="4730750" cy="412941"/>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The mobile app carries the settings the web app has — not a reduced subset.</a:t>
            </a:r>
            <a:endParaRPr lang="en-US" sz="1150" dirty="0"/>
          </a:p>
        </p:txBody>
      </p:sp>
      <p:sp>
        <p:nvSpPr>
          <p:cNvPr id="13" name="Shape 10"/>
          <p:cNvSpPr/>
          <p:nvPr/>
        </p:nvSpPr>
        <p:spPr>
          <a:xfrm>
            <a:off x="708661" y="2580173"/>
            <a:ext cx="84062" cy="105613"/>
          </a:xfrm>
          <a:prstGeom prst="ellipse">
            <a:avLst/>
          </a:prstGeom>
          <a:solidFill>
            <a:srgbClr val="3D6FF5"/>
          </a:solidFill>
          <a:ln/>
        </p:spPr>
        <p:txBody>
          <a:bodyPr/>
          <a:lstStyle/>
          <a:p>
            <a:endParaRPr lang="en-TR"/>
          </a:p>
        </p:txBody>
      </p:sp>
      <p:sp>
        <p:nvSpPr>
          <p:cNvPr id="14" name="Text 11"/>
          <p:cNvSpPr txBox="1"/>
          <p:nvPr/>
        </p:nvSpPr>
        <p:spPr>
          <a:xfrm>
            <a:off x="914400" y="2469531"/>
            <a:ext cx="454152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MQTT broker</a:t>
            </a:r>
            <a:r>
              <a:rPr lang="en-US" sz="1100" dirty="0">
                <a:solidFill>
                  <a:srgbClr val="606A79"/>
                </a:solidFill>
                <a:latin typeface="Saira" pitchFamily="34" charset="0"/>
                <a:ea typeface="Saira" pitchFamily="34" charset="-122"/>
                <a:cs typeface="Saira" pitchFamily="34" charset="-120"/>
              </a:rPr>
              <a:t> — point it at Zigbee2MQTT / Z-Wave JS / Tasmota and the radio devices appear on the phone too.</a:t>
            </a:r>
            <a:endParaRPr lang="en-US" sz="1100" dirty="0"/>
          </a:p>
        </p:txBody>
      </p:sp>
      <p:sp>
        <p:nvSpPr>
          <p:cNvPr id="15" name="Shape 12"/>
          <p:cNvSpPr/>
          <p:nvPr/>
        </p:nvSpPr>
        <p:spPr>
          <a:xfrm>
            <a:off x="708661" y="3159801"/>
            <a:ext cx="84062" cy="105613"/>
          </a:xfrm>
          <a:prstGeom prst="ellipse">
            <a:avLst/>
          </a:prstGeom>
          <a:solidFill>
            <a:srgbClr val="17A05C"/>
          </a:solidFill>
          <a:ln/>
        </p:spPr>
        <p:txBody>
          <a:bodyPr/>
          <a:lstStyle/>
          <a:p>
            <a:endParaRPr lang="en-TR"/>
          </a:p>
        </p:txBody>
      </p:sp>
      <p:sp>
        <p:nvSpPr>
          <p:cNvPr id="16" name="Text 13"/>
          <p:cNvSpPr txBox="1"/>
          <p:nvPr/>
        </p:nvSpPr>
        <p:spPr>
          <a:xfrm>
            <a:off x="914400" y="3049159"/>
            <a:ext cx="454152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Home Assistant</a:t>
            </a:r>
            <a:r>
              <a:rPr lang="en-US" sz="1100" dirty="0">
                <a:solidFill>
                  <a:srgbClr val="606A79"/>
                </a:solidFill>
                <a:latin typeface="Saira" pitchFamily="34" charset="0"/>
                <a:ea typeface="Saira" pitchFamily="34" charset="-122"/>
                <a:cs typeface="Saira" pitchFamily="34" charset="-120"/>
              </a:rPr>
              <a:t> and </a:t>
            </a:r>
            <a:r>
              <a:rPr lang="en-US" sz="1100" dirty="0">
                <a:solidFill>
                  <a:srgbClr val="141A24"/>
                </a:solidFill>
                <a:latin typeface="Saira Medium" pitchFamily="34" charset="0"/>
                <a:ea typeface="Saira Medium" pitchFamily="34" charset="-122"/>
                <a:cs typeface="Saira Medium" pitchFamily="34" charset="-120"/>
              </a:rPr>
              <a:t>Router (FRITZ!Box / TR-064)</a:t>
            </a:r>
            <a:r>
              <a:rPr lang="en-US" sz="1100" dirty="0">
                <a:solidFill>
                  <a:srgbClr val="606A79"/>
                </a:solidFill>
                <a:latin typeface="Saira" pitchFamily="34" charset="0"/>
                <a:ea typeface="Saira" pitchFamily="34" charset="-122"/>
                <a:cs typeface="Saira" pitchFamily="34" charset="-120"/>
              </a:rPr>
              <a:t> — pull MAC and name for every device from the router's own hosts table.</a:t>
            </a:r>
            <a:endParaRPr lang="en-US" sz="1100" dirty="0"/>
          </a:p>
        </p:txBody>
      </p:sp>
      <p:sp>
        <p:nvSpPr>
          <p:cNvPr id="17" name="Shape 14"/>
          <p:cNvSpPr/>
          <p:nvPr/>
        </p:nvSpPr>
        <p:spPr>
          <a:xfrm>
            <a:off x="708661" y="3739429"/>
            <a:ext cx="84062" cy="105613"/>
          </a:xfrm>
          <a:prstGeom prst="ellipse">
            <a:avLst/>
          </a:prstGeom>
          <a:solidFill>
            <a:srgbClr val="D98A1F"/>
          </a:solidFill>
          <a:ln/>
        </p:spPr>
        <p:txBody>
          <a:bodyPr/>
          <a:lstStyle/>
          <a:p>
            <a:endParaRPr lang="en-TR"/>
          </a:p>
        </p:txBody>
      </p:sp>
      <p:sp>
        <p:nvSpPr>
          <p:cNvPr id="18" name="Text 15"/>
          <p:cNvSpPr txBox="1"/>
          <p:nvPr/>
        </p:nvSpPr>
        <p:spPr>
          <a:xfrm>
            <a:off x="914400" y="3628787"/>
            <a:ext cx="454152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Identify-with-AI backend</a:t>
            </a:r>
            <a:r>
              <a:rPr lang="en-US" sz="1100" dirty="0">
                <a:solidFill>
                  <a:srgbClr val="606A79"/>
                </a:solidFill>
                <a:latin typeface="Saira" pitchFamily="34" charset="0"/>
                <a:ea typeface="Saira" pitchFamily="34" charset="-122"/>
                <a:cs typeface="Saira" pitchFamily="34" charset="-120"/>
              </a:rPr>
              <a:t> — point it at your own </a:t>
            </a:r>
            <a:r>
              <a:rPr lang="en-US" sz="990" dirty="0">
                <a:solidFill>
                  <a:srgbClr val="141A24"/>
                </a:solidFill>
                <a:latin typeface="Sometype Mono" pitchFamily="34" charset="0"/>
                <a:ea typeface="Sometype Mono" pitchFamily="34" charset="-122"/>
                <a:cs typeface="Sometype Mono" pitchFamily="34" charset="-120"/>
              </a:rPr>
              <a:t>mynes-ai</a:t>
            </a:r>
            <a:r>
              <a:rPr lang="en-US" sz="1100" dirty="0">
                <a:solidFill>
                  <a:srgbClr val="606A79"/>
                </a:solidFill>
                <a:latin typeface="Saira" pitchFamily="34" charset="0"/>
                <a:ea typeface="Saira" pitchFamily="34" charset="-122"/>
                <a:cs typeface="Saira" pitchFamily="34" charset="-120"/>
              </a:rPr>
              <a:t> instance, or leave it empty for the offline heuristic. </a:t>
            </a:r>
            <a:r>
              <a:rPr lang="en-US" sz="1100" dirty="0">
                <a:solidFill>
                  <a:srgbClr val="141A24"/>
                </a:solidFill>
                <a:latin typeface="Saira Medium" pitchFamily="34" charset="0"/>
                <a:ea typeface="Saira Medium" pitchFamily="34" charset="-122"/>
                <a:cs typeface="Saira Medium" pitchFamily="34" charset="-120"/>
              </a:rPr>
              <a:t>Provider keys stay on the server, never on the phone.</a:t>
            </a:r>
            <a:endParaRPr lang="en-US" sz="1100" dirty="0"/>
          </a:p>
        </p:txBody>
      </p:sp>
      <p:sp>
        <p:nvSpPr>
          <p:cNvPr id="19" name="Shape 16"/>
          <p:cNvSpPr/>
          <p:nvPr/>
        </p:nvSpPr>
        <p:spPr>
          <a:xfrm>
            <a:off x="708661" y="4319057"/>
            <a:ext cx="84062" cy="105613"/>
          </a:xfrm>
          <a:prstGeom prst="ellipse">
            <a:avLst/>
          </a:prstGeom>
          <a:solidFill>
            <a:srgbClr val="DC3F4A"/>
          </a:solidFill>
          <a:ln/>
        </p:spPr>
        <p:txBody>
          <a:bodyPr/>
          <a:lstStyle/>
          <a:p>
            <a:endParaRPr lang="en-TR"/>
          </a:p>
        </p:txBody>
      </p:sp>
      <p:sp>
        <p:nvSpPr>
          <p:cNvPr id="20" name="Text 17"/>
          <p:cNvSpPr txBox="1"/>
          <p:nvPr/>
        </p:nvSpPr>
        <p:spPr>
          <a:xfrm>
            <a:off x="914400" y="4208415"/>
            <a:ext cx="4541520" cy="616204"/>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Background scan</a:t>
            </a:r>
            <a:r>
              <a:rPr lang="en-US" sz="1100" dirty="0">
                <a:solidFill>
                  <a:srgbClr val="606A79"/>
                </a:solidFill>
                <a:latin typeface="Saira" pitchFamily="34" charset="0"/>
                <a:ea typeface="Saira" pitchFamily="34" charset="-122"/>
                <a:cs typeface="Saira" pitchFamily="34" charset="-120"/>
              </a:rPr>
              <a:t> every 30 m / 1 h / 2 h / 6 h, with OS-decided timing and a notification when something changes.</a:t>
            </a:r>
            <a:endParaRPr lang="en-US" sz="1100" dirty="0"/>
          </a:p>
        </p:txBody>
      </p:sp>
      <p:sp>
        <p:nvSpPr>
          <p:cNvPr id="21" name="Shape 18"/>
          <p:cNvSpPr/>
          <p:nvPr/>
        </p:nvSpPr>
        <p:spPr>
          <a:xfrm>
            <a:off x="708661" y="4898685"/>
            <a:ext cx="84062" cy="105613"/>
          </a:xfrm>
          <a:prstGeom prst="ellipse">
            <a:avLst/>
          </a:prstGeom>
          <a:solidFill>
            <a:srgbClr val="3D6FF5"/>
          </a:solidFill>
          <a:ln/>
        </p:spPr>
        <p:txBody>
          <a:bodyPr/>
          <a:lstStyle/>
          <a:p>
            <a:endParaRPr lang="en-TR"/>
          </a:p>
        </p:txBody>
      </p:sp>
      <p:sp>
        <p:nvSpPr>
          <p:cNvPr id="22" name="Text 19"/>
          <p:cNvSpPr txBox="1"/>
          <p:nvPr/>
        </p:nvSpPr>
        <p:spPr>
          <a:xfrm>
            <a:off x="914400" y="4788043"/>
            <a:ext cx="4541520" cy="417830"/>
          </a:xfrm>
          <a:prstGeom prst="rect">
            <a:avLst/>
          </a:prstGeom>
          <a:noFill/>
          <a:ln/>
        </p:spPr>
        <p:txBody>
          <a:bodyPr wrap="square" lIns="0" tIns="0" rIns="0" bIns="0" rtlCol="0" anchor="t"/>
          <a:lstStyle/>
          <a:p>
            <a:pPr marL="0" indent="0" algn="l">
              <a:lnSpc>
                <a:spcPts val="1562"/>
              </a:lnSpc>
              <a:buNone/>
            </a:pPr>
            <a:r>
              <a:rPr lang="en-US" sz="1100" dirty="0">
                <a:solidFill>
                  <a:srgbClr val="141A24"/>
                </a:solidFill>
                <a:latin typeface="Saira Medium" pitchFamily="34" charset="0"/>
                <a:ea typeface="Saira Medium" pitchFamily="34" charset="-122"/>
                <a:cs typeface="Saira Medium" pitchFamily="34" charset="-120"/>
              </a:rPr>
              <a:t>Scan range</a:t>
            </a:r>
            <a:r>
              <a:rPr lang="en-US" sz="1100" dirty="0">
                <a:solidFill>
                  <a:srgbClr val="606A79"/>
                </a:solidFill>
                <a:latin typeface="Saira" pitchFamily="34" charset="0"/>
                <a:ea typeface="Saira" pitchFamily="34" charset="-122"/>
                <a:cs typeface="Saira" pitchFamily="34" charset="-120"/>
              </a:rPr>
              <a:t> auto-detected from Wi-Fi, or set a CIDR by hand.</a:t>
            </a:r>
            <a:endParaRPr lang="en-US" sz="1100" dirty="0"/>
          </a:p>
        </p:txBody>
      </p:sp>
      <p:sp>
        <p:nvSpPr>
          <p:cNvPr id="23" name="Shape 20"/>
          <p:cNvSpPr/>
          <p:nvPr/>
        </p:nvSpPr>
        <p:spPr>
          <a:xfrm>
            <a:off x="708661" y="5279939"/>
            <a:ext cx="84062" cy="105613"/>
          </a:xfrm>
          <a:prstGeom prst="ellipse">
            <a:avLst/>
          </a:prstGeom>
          <a:solidFill>
            <a:srgbClr val="17A05C"/>
          </a:solidFill>
          <a:ln/>
        </p:spPr>
        <p:txBody>
          <a:bodyPr/>
          <a:lstStyle/>
          <a:p>
            <a:endParaRPr lang="en-TR"/>
          </a:p>
        </p:txBody>
      </p:sp>
      <p:sp>
        <p:nvSpPr>
          <p:cNvPr id="24" name="Text 21"/>
          <p:cNvSpPr txBox="1"/>
          <p:nvPr/>
        </p:nvSpPr>
        <p:spPr>
          <a:xfrm>
            <a:off x="914400" y="5169297"/>
            <a:ext cx="4541520" cy="417830"/>
          </a:xfrm>
          <a:prstGeom prst="rect">
            <a:avLst/>
          </a:prstGeom>
          <a:noFill/>
          <a:ln/>
        </p:spPr>
        <p:txBody>
          <a:bodyPr wrap="square" lIns="0" tIns="0" rIns="0" bIns="0" rtlCol="0" anchor="t"/>
          <a:lstStyle/>
          <a:p>
            <a:pPr marL="0" indent="0" algn="l">
              <a:lnSpc>
                <a:spcPts val="1562"/>
              </a:lnSpc>
              <a:buNone/>
            </a:pPr>
            <a:r>
              <a:rPr lang="en-US" sz="1100" dirty="0">
                <a:solidFill>
                  <a:srgbClr val="606A79"/>
                </a:solidFill>
                <a:latin typeface="Saira" pitchFamily="34" charset="0"/>
                <a:ea typeface="Saira" pitchFamily="34" charset="-122"/>
                <a:cs typeface="Saira" pitchFamily="34" charset="-120"/>
              </a:rPr>
              <a:t>Dark mode and </a:t>
            </a:r>
            <a:r>
              <a:rPr lang="en-US" sz="1100" dirty="0">
                <a:solidFill>
                  <a:srgbClr val="141A24"/>
                </a:solidFill>
                <a:latin typeface="Saira Medium" pitchFamily="34" charset="0"/>
                <a:ea typeface="Saira Medium" pitchFamily="34" charset="-122"/>
                <a:cs typeface="Saira Medium" pitchFamily="34" charset="-120"/>
              </a:rPr>
              <a:t>EN / TR</a:t>
            </a:r>
            <a:r>
              <a:rPr lang="en-US" sz="1100" dirty="0">
                <a:solidFill>
                  <a:srgbClr val="606A79"/>
                </a:solidFill>
                <a:latin typeface="Saira" pitchFamily="34" charset="0"/>
                <a:ea typeface="Saira" pitchFamily="34" charset="-122"/>
                <a:cs typeface="Saira" pitchFamily="34" charset="-120"/>
              </a:rPr>
              <a:t> switch right in Settings.</a:t>
            </a:r>
            <a:endParaRPr lang="en-US" sz="1100" dirty="0"/>
          </a:p>
        </p:txBody>
      </p:sp>
      <p:grpSp>
        <p:nvGrpSpPr>
          <p:cNvPr id="34" name="Group 33">
            <a:extLst>
              <a:ext uri="{FF2B5EF4-FFF2-40B4-BE49-F238E27FC236}">
                <a16:creationId xmlns:a16="http://schemas.microsoft.com/office/drawing/2014/main" id="{6CA475BE-D63F-2136-CFA6-9CCA79A66C3F}"/>
              </a:ext>
            </a:extLst>
          </p:cNvPr>
          <p:cNvGrpSpPr/>
          <p:nvPr/>
        </p:nvGrpSpPr>
        <p:grpSpPr>
          <a:xfrm>
            <a:off x="9173619" y="840151"/>
            <a:ext cx="2523081" cy="5259841"/>
            <a:chOff x="7333576" y="876097"/>
            <a:chExt cx="1113381" cy="2436876"/>
          </a:xfrm>
        </p:grpSpPr>
        <p:sp>
          <p:nvSpPr>
            <p:cNvPr id="25" name="Shape 22"/>
            <p:cNvSpPr/>
            <p:nvPr/>
          </p:nvSpPr>
          <p:spPr>
            <a:xfrm>
              <a:off x="7374724" y="926389"/>
              <a:ext cx="1072233" cy="2386584"/>
            </a:xfrm>
            <a:prstGeom prst="rect">
              <a:avLst/>
            </a:prstGeom>
            <a:solidFill>
              <a:srgbClr val="8894A8">
                <a:alpha val="30000"/>
              </a:srgbClr>
            </a:solidFill>
            <a:ln/>
          </p:spPr>
          <p:txBody>
            <a:bodyPr/>
            <a:lstStyle/>
            <a:p>
              <a:endParaRPr lang="en-TR"/>
            </a:p>
          </p:txBody>
        </p:sp>
        <p:pic>
          <p:nvPicPr>
            <p:cNvPr id="26" name="Image 1" descr="/home/claude/decks/products/mynes/img/ph-integrations.jpg"/>
            <p:cNvPicPr>
              <a:picLocks noChangeAspect="1"/>
            </p:cNvPicPr>
            <p:nvPr/>
          </p:nvPicPr>
          <p:blipFill>
            <a:blip r:embed="rId4"/>
            <a:stretch>
              <a:fillRect/>
            </a:stretch>
          </p:blipFill>
          <p:spPr>
            <a:xfrm>
              <a:off x="7333576" y="876097"/>
              <a:ext cx="1072233" cy="2386584"/>
            </a:xfrm>
            <a:prstGeom prst="rect">
              <a:avLst/>
            </a:prstGeom>
          </p:spPr>
        </p:pic>
        <p:sp>
          <p:nvSpPr>
            <p:cNvPr id="27" name="Shape 23"/>
            <p:cNvSpPr/>
            <p:nvPr/>
          </p:nvSpPr>
          <p:spPr>
            <a:xfrm>
              <a:off x="7333576" y="876097"/>
              <a:ext cx="1072233" cy="2386584"/>
            </a:xfrm>
            <a:prstGeom prst="rect">
              <a:avLst/>
            </a:prstGeom>
            <a:ln w="12700">
              <a:solidFill>
                <a:srgbClr val="E2E7EF"/>
              </a:solidFill>
              <a:prstDash val="solid"/>
            </a:ln>
          </p:spPr>
          <p:txBody>
            <a:bodyPr/>
            <a:lstStyle/>
            <a:p>
              <a:endParaRPr lang="en-TR"/>
            </a:p>
          </p:txBody>
        </p:sp>
      </p:grpSp>
      <p:grpSp>
        <p:nvGrpSpPr>
          <p:cNvPr id="35" name="Group 34">
            <a:extLst>
              <a:ext uri="{FF2B5EF4-FFF2-40B4-BE49-F238E27FC236}">
                <a16:creationId xmlns:a16="http://schemas.microsoft.com/office/drawing/2014/main" id="{978698A6-C481-7D1C-EB4C-241307881B6B}"/>
              </a:ext>
            </a:extLst>
          </p:cNvPr>
          <p:cNvGrpSpPr/>
          <p:nvPr/>
        </p:nvGrpSpPr>
        <p:grpSpPr>
          <a:xfrm>
            <a:off x="6173102" y="833511"/>
            <a:ext cx="2360981" cy="5262575"/>
            <a:chOff x="5960059" y="825805"/>
            <a:chExt cx="1113381" cy="2436876"/>
          </a:xfrm>
        </p:grpSpPr>
        <p:sp>
          <p:nvSpPr>
            <p:cNvPr id="29" name="Shape 25"/>
            <p:cNvSpPr/>
            <p:nvPr/>
          </p:nvSpPr>
          <p:spPr>
            <a:xfrm>
              <a:off x="6001207" y="876097"/>
              <a:ext cx="1072233" cy="2386584"/>
            </a:xfrm>
            <a:prstGeom prst="rect">
              <a:avLst/>
            </a:prstGeom>
            <a:solidFill>
              <a:srgbClr val="8894A8">
                <a:alpha val="30000"/>
              </a:srgbClr>
            </a:solidFill>
            <a:ln/>
          </p:spPr>
          <p:txBody>
            <a:bodyPr/>
            <a:lstStyle/>
            <a:p>
              <a:endParaRPr lang="en-TR"/>
            </a:p>
          </p:txBody>
        </p:sp>
        <p:pic>
          <p:nvPicPr>
            <p:cNvPr id="30" name="Image 2" descr="/home/claude/decks/products/mynes/img/ph-mqtt.jpg"/>
            <p:cNvPicPr>
              <a:picLocks noChangeAspect="1"/>
            </p:cNvPicPr>
            <p:nvPr/>
          </p:nvPicPr>
          <p:blipFill>
            <a:blip r:embed="rId5"/>
            <a:stretch>
              <a:fillRect/>
            </a:stretch>
          </p:blipFill>
          <p:spPr>
            <a:xfrm>
              <a:off x="5960059" y="825805"/>
              <a:ext cx="1072233" cy="2386584"/>
            </a:xfrm>
            <a:prstGeom prst="rect">
              <a:avLst/>
            </a:prstGeom>
          </p:spPr>
        </p:pic>
        <p:sp>
          <p:nvSpPr>
            <p:cNvPr id="31" name="Shape 26"/>
            <p:cNvSpPr/>
            <p:nvPr/>
          </p:nvSpPr>
          <p:spPr>
            <a:xfrm>
              <a:off x="5960059" y="825805"/>
              <a:ext cx="1072233" cy="2386584"/>
            </a:xfrm>
            <a:prstGeom prst="rect">
              <a:avLst/>
            </a:prstGeom>
            <a:ln w="12700">
              <a:solidFill>
                <a:srgbClr val="E2E7EF"/>
              </a:solidFill>
              <a:prstDash val="solid"/>
            </a:ln>
          </p:spPr>
          <p:txBody>
            <a:bodyPr/>
            <a:lstStyle/>
            <a:p>
              <a:endParaRPr lang="en-TR"/>
            </a:p>
          </p:txBody>
        </p:sp>
      </p:grpSp>
      <p:sp>
        <p:nvSpPr>
          <p:cNvPr id="32" name="Text 27"/>
          <p:cNvSpPr txBox="1"/>
          <p:nvPr/>
        </p:nvSpPr>
        <p:spPr>
          <a:xfrm>
            <a:off x="6773847" y="6175238"/>
            <a:ext cx="1072233" cy="201168"/>
          </a:xfrm>
          <a:prstGeom prst="rect">
            <a:avLst/>
          </a:prstGeom>
          <a:noFill/>
          <a:ln/>
        </p:spPr>
        <p:txBody>
          <a:bodyPr wrap="none" lIns="0" tIns="0" rIns="0" bIns="0" rtlCol="0" anchor="t"/>
          <a:lstStyle/>
          <a:p>
            <a:pPr marL="0" indent="0" algn="ctr">
              <a:buNone/>
            </a:pPr>
            <a:r>
              <a:rPr lang="en-US" sz="850" dirty="0">
                <a:solidFill>
                  <a:srgbClr val="8C95A3"/>
                </a:solidFill>
                <a:latin typeface="Sometype Mono" pitchFamily="34" charset="0"/>
                <a:ea typeface="Sometype Mono" pitchFamily="34" charset="-122"/>
                <a:cs typeface="Sometype Mono" pitchFamily="34" charset="-120"/>
              </a:rPr>
              <a:t>MQTT broker</a:t>
            </a:r>
            <a:endParaRPr lang="en-US" sz="850" dirty="0"/>
          </a:p>
        </p:txBody>
      </p:sp>
      <p:sp>
        <p:nvSpPr>
          <p:cNvPr id="36" name="Text 27">
            <a:extLst>
              <a:ext uri="{FF2B5EF4-FFF2-40B4-BE49-F238E27FC236}">
                <a16:creationId xmlns:a16="http://schemas.microsoft.com/office/drawing/2014/main" id="{678D4700-ABCF-E452-1C6C-F00A14B59FA6}"/>
              </a:ext>
            </a:extLst>
          </p:cNvPr>
          <p:cNvSpPr txBox="1"/>
          <p:nvPr/>
        </p:nvSpPr>
        <p:spPr>
          <a:xfrm>
            <a:off x="9817634" y="6175238"/>
            <a:ext cx="1072233" cy="201168"/>
          </a:xfrm>
          <a:prstGeom prst="rect">
            <a:avLst/>
          </a:prstGeom>
          <a:noFill/>
          <a:ln/>
        </p:spPr>
        <p:txBody>
          <a:bodyPr wrap="none" lIns="0" tIns="0" rIns="0" bIns="0" rtlCol="0" anchor="t"/>
          <a:lstStyle/>
          <a:p>
            <a:pPr marL="0" indent="0" algn="ctr">
              <a:buNone/>
            </a:pPr>
            <a:r>
              <a:rPr lang="en-US" sz="850" dirty="0">
                <a:solidFill>
                  <a:srgbClr val="8C95A3"/>
                </a:solidFill>
                <a:latin typeface="Sometype Mono" pitchFamily="34" charset="0"/>
                <a:ea typeface="Sometype Mono" pitchFamily="34" charset="-122"/>
                <a:cs typeface="Sometype Mono" pitchFamily="34" charset="-120"/>
              </a:rPr>
              <a:t>Integrations</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968178"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968178"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The family</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860816"/>
            <a:ext cx="10808208" cy="781050"/>
          </a:xfrm>
          <a:prstGeom prst="rect">
            <a:avLst/>
          </a:prstGeom>
          <a:noFill/>
          <a:ln/>
        </p:spPr>
        <p:txBody>
          <a:bodyPr wrap="square" lIns="0" tIns="0" rIns="0" bIns="0" rtlCol="0" anchor="t"/>
          <a:lstStyle/>
          <a:p>
            <a:pPr marL="0" indent="0" algn="l">
              <a:lnSpc>
                <a:spcPts val="3630"/>
              </a:lnSpc>
              <a:buNone/>
            </a:pPr>
            <a:r>
              <a:rPr lang="en-US" sz="3300" b="1" kern="0" spc="-46" dirty="0">
                <a:solidFill>
                  <a:srgbClr val="141A24"/>
                </a:solidFill>
                <a:latin typeface="Saira Cond" pitchFamily="34" charset="0"/>
                <a:ea typeface="Saira Cond" pitchFamily="34" charset="-122"/>
                <a:cs typeface="Saira Cond" pitchFamily="34" charset="-120"/>
              </a:rPr>
              <a:t>MyNeS is not one app — it is a small ecosystem.</a:t>
            </a:r>
            <a:endParaRPr lang="en-US" sz="3300" dirty="0"/>
          </a:p>
        </p:txBody>
      </p:sp>
      <p:sp>
        <p:nvSpPr>
          <p:cNvPr id="12" name="Text 9"/>
          <p:cNvSpPr txBox="1"/>
          <p:nvPr/>
        </p:nvSpPr>
        <p:spPr>
          <a:xfrm>
            <a:off x="676656" y="1542623"/>
            <a:ext cx="8595360" cy="412941"/>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Each piece is independently useful, and each one is optional except the first.</a:t>
            </a:r>
            <a:endParaRPr lang="en-US" sz="1150" dirty="0"/>
          </a:p>
        </p:txBody>
      </p:sp>
      <p:sp>
        <p:nvSpPr>
          <p:cNvPr id="13" name="Shape 10"/>
          <p:cNvSpPr/>
          <p:nvPr/>
        </p:nvSpPr>
        <p:spPr>
          <a:xfrm>
            <a:off x="704088" y="2135327"/>
            <a:ext cx="2021373" cy="1903476"/>
          </a:xfrm>
          <a:prstGeom prst="roundRect">
            <a:avLst>
              <a:gd name="adj" fmla="val 5765"/>
            </a:avLst>
          </a:prstGeom>
          <a:solidFill>
            <a:srgbClr val="C9D3E2">
              <a:alpha val="45000"/>
            </a:srgbClr>
          </a:solidFill>
          <a:ln/>
        </p:spPr>
        <p:txBody>
          <a:bodyPr/>
          <a:lstStyle/>
          <a:p>
            <a:endParaRPr lang="en-TR"/>
          </a:p>
        </p:txBody>
      </p:sp>
      <p:sp>
        <p:nvSpPr>
          <p:cNvPr id="14" name="Shape 11"/>
          <p:cNvSpPr/>
          <p:nvPr/>
        </p:nvSpPr>
        <p:spPr>
          <a:xfrm>
            <a:off x="676656" y="2089607"/>
            <a:ext cx="2021373" cy="1903476"/>
          </a:xfrm>
          <a:prstGeom prst="roundRect">
            <a:avLst>
              <a:gd name="adj" fmla="val 5765"/>
            </a:avLst>
          </a:prstGeom>
          <a:solidFill>
            <a:srgbClr val="FFFFFF"/>
          </a:solidFill>
          <a:ln w="12700">
            <a:solidFill>
              <a:srgbClr val="E2E7EF"/>
            </a:solidFill>
            <a:prstDash val="solid"/>
          </a:ln>
        </p:spPr>
        <p:txBody>
          <a:bodyPr/>
          <a:lstStyle/>
          <a:p>
            <a:endParaRPr lang="en-TR"/>
          </a:p>
        </p:txBody>
      </p:sp>
      <p:sp>
        <p:nvSpPr>
          <p:cNvPr id="15" name="Shape 12"/>
          <p:cNvSpPr/>
          <p:nvPr/>
        </p:nvSpPr>
        <p:spPr>
          <a:xfrm>
            <a:off x="877824" y="2107895"/>
            <a:ext cx="822960" cy="0"/>
          </a:xfrm>
          <a:prstGeom prst="line">
            <a:avLst/>
          </a:prstGeom>
          <a:noFill/>
          <a:ln w="38100">
            <a:solidFill>
              <a:srgbClr val="3D6FF5"/>
            </a:solidFill>
            <a:prstDash val="solid"/>
          </a:ln>
        </p:spPr>
        <p:txBody>
          <a:bodyPr/>
          <a:lstStyle/>
          <a:p>
            <a:endParaRPr lang="en-TR"/>
          </a:p>
        </p:txBody>
      </p:sp>
      <p:sp>
        <p:nvSpPr>
          <p:cNvPr id="16" name="Text 13"/>
          <p:cNvSpPr txBox="1"/>
          <p:nvPr/>
        </p:nvSpPr>
        <p:spPr>
          <a:xfrm>
            <a:off x="896112" y="2255662"/>
            <a:ext cx="1582461" cy="182880"/>
          </a:xfrm>
          <a:prstGeom prst="rect">
            <a:avLst/>
          </a:prstGeom>
          <a:noFill/>
          <a:ln/>
        </p:spPr>
        <p:txBody>
          <a:bodyPr wrap="none" lIns="0" tIns="0" rIns="0" bIns="0" rtlCol="0" anchor="t"/>
          <a:lstStyle/>
          <a:p>
            <a:pPr marL="0" indent="0" algn="l">
              <a:buNone/>
            </a:pPr>
            <a:r>
              <a:rPr lang="en-US" sz="800" kern="0" spc="64" dirty="0">
                <a:solidFill>
                  <a:srgbClr val="3D6FF5"/>
                </a:solidFill>
                <a:latin typeface="Sometype Mono" pitchFamily="34" charset="0"/>
                <a:ea typeface="Sometype Mono" pitchFamily="34" charset="-122"/>
                <a:cs typeface="Sometype Mono" pitchFamily="34" charset="-120"/>
              </a:rPr>
              <a:t>Core</a:t>
            </a:r>
            <a:endParaRPr lang="en-US" sz="800" dirty="0"/>
          </a:p>
        </p:txBody>
      </p:sp>
      <p:sp>
        <p:nvSpPr>
          <p:cNvPr id="17" name="Text 14"/>
          <p:cNvSpPr txBox="1"/>
          <p:nvPr/>
        </p:nvSpPr>
        <p:spPr>
          <a:xfrm>
            <a:off x="896112" y="2496881"/>
            <a:ext cx="1619037" cy="374396"/>
          </a:xfrm>
          <a:prstGeom prst="rect">
            <a:avLst/>
          </a:prstGeom>
          <a:noFill/>
          <a:ln/>
        </p:spPr>
        <p:txBody>
          <a:bodyPr wrap="square" lIns="0" tIns="0" rIns="0" bIns="0" rtlCol="0" anchor="t"/>
          <a:lstStyle/>
          <a:p>
            <a:pPr marL="0" indent="0" algn="l">
              <a:lnSpc>
                <a:spcPts val="1508"/>
              </a:lnSpc>
              <a:buNone/>
            </a:pPr>
            <a:r>
              <a:rPr lang="en-US" sz="1300" dirty="0">
                <a:solidFill>
                  <a:srgbClr val="141A24"/>
                </a:solidFill>
                <a:latin typeface="Saira Cond SemiBold" pitchFamily="34" charset="0"/>
                <a:ea typeface="Saira Cond SemiBold" pitchFamily="34" charset="-122"/>
                <a:cs typeface="Saira Cond SemiBold" pitchFamily="34" charset="-120"/>
              </a:rPr>
              <a:t>my_network_scanner</a:t>
            </a:r>
            <a:endParaRPr lang="en-US" sz="1300" dirty="0"/>
          </a:p>
        </p:txBody>
      </p:sp>
      <p:sp>
        <p:nvSpPr>
          <p:cNvPr id="18" name="Text 15"/>
          <p:cNvSpPr txBox="1"/>
          <p:nvPr/>
        </p:nvSpPr>
        <p:spPr>
          <a:xfrm>
            <a:off x="896112" y="2827934"/>
            <a:ext cx="1582461" cy="1126744"/>
          </a:xfrm>
          <a:prstGeom prst="rect">
            <a:avLst/>
          </a:prstGeom>
          <a:noFill/>
          <a:ln/>
        </p:spPr>
        <p:txBody>
          <a:bodyPr wrap="square" lIns="0" tIns="0" rIns="0" bIns="0" rtlCol="0" anchor="t"/>
          <a:lstStyle/>
          <a:p>
            <a:pPr marL="0" indent="0" algn="l">
              <a:lnSpc>
                <a:spcPts val="1400"/>
              </a:lnSpc>
              <a:buNone/>
            </a:pPr>
            <a:r>
              <a:rPr lang="en-US" sz="1000" dirty="0">
                <a:solidFill>
                  <a:srgbClr val="606A79"/>
                </a:solidFill>
                <a:latin typeface="Saira" pitchFamily="34" charset="0"/>
                <a:ea typeface="Saira" pitchFamily="34" charset="-122"/>
                <a:cs typeface="Saira" pitchFamily="34" charset="-120"/>
              </a:rPr>
              <a:t>The scanner, the web UI and the API. Python + Flask, AGPL-3.0, published to Docker Hub for amd64 and arm64.</a:t>
            </a:r>
            <a:endParaRPr lang="en-US" sz="1000" dirty="0"/>
          </a:p>
        </p:txBody>
      </p:sp>
      <p:sp>
        <p:nvSpPr>
          <p:cNvPr id="19" name="Shape 16"/>
          <p:cNvSpPr/>
          <p:nvPr/>
        </p:nvSpPr>
        <p:spPr>
          <a:xfrm>
            <a:off x="2908341" y="2135327"/>
            <a:ext cx="2021373" cy="1903476"/>
          </a:xfrm>
          <a:prstGeom prst="roundRect">
            <a:avLst>
              <a:gd name="adj" fmla="val 5765"/>
            </a:avLst>
          </a:prstGeom>
          <a:solidFill>
            <a:srgbClr val="C9D3E2">
              <a:alpha val="45000"/>
            </a:srgbClr>
          </a:solidFill>
          <a:ln/>
        </p:spPr>
        <p:txBody>
          <a:bodyPr/>
          <a:lstStyle/>
          <a:p>
            <a:endParaRPr lang="en-TR"/>
          </a:p>
        </p:txBody>
      </p:sp>
      <p:sp>
        <p:nvSpPr>
          <p:cNvPr id="20" name="Shape 17"/>
          <p:cNvSpPr/>
          <p:nvPr/>
        </p:nvSpPr>
        <p:spPr>
          <a:xfrm>
            <a:off x="2880909" y="2089607"/>
            <a:ext cx="2021373" cy="1903476"/>
          </a:xfrm>
          <a:prstGeom prst="roundRect">
            <a:avLst>
              <a:gd name="adj" fmla="val 5765"/>
            </a:avLst>
          </a:prstGeom>
          <a:solidFill>
            <a:srgbClr val="FFFFFF"/>
          </a:solidFill>
          <a:ln w="12700">
            <a:solidFill>
              <a:srgbClr val="E2E7EF"/>
            </a:solidFill>
            <a:prstDash val="solid"/>
          </a:ln>
        </p:spPr>
        <p:txBody>
          <a:bodyPr/>
          <a:lstStyle/>
          <a:p>
            <a:endParaRPr lang="en-TR"/>
          </a:p>
        </p:txBody>
      </p:sp>
      <p:sp>
        <p:nvSpPr>
          <p:cNvPr id="21" name="Shape 18"/>
          <p:cNvSpPr/>
          <p:nvPr/>
        </p:nvSpPr>
        <p:spPr>
          <a:xfrm>
            <a:off x="3082077" y="2107895"/>
            <a:ext cx="822960" cy="0"/>
          </a:xfrm>
          <a:prstGeom prst="line">
            <a:avLst/>
          </a:prstGeom>
          <a:noFill/>
          <a:ln w="38100">
            <a:solidFill>
              <a:srgbClr val="17A05C"/>
            </a:solidFill>
            <a:prstDash val="solid"/>
          </a:ln>
        </p:spPr>
        <p:txBody>
          <a:bodyPr/>
          <a:lstStyle/>
          <a:p>
            <a:endParaRPr lang="en-TR"/>
          </a:p>
        </p:txBody>
      </p:sp>
      <p:sp>
        <p:nvSpPr>
          <p:cNvPr id="22" name="Text 19"/>
          <p:cNvSpPr txBox="1"/>
          <p:nvPr/>
        </p:nvSpPr>
        <p:spPr>
          <a:xfrm>
            <a:off x="3100365" y="2255662"/>
            <a:ext cx="1582461" cy="182880"/>
          </a:xfrm>
          <a:prstGeom prst="rect">
            <a:avLst/>
          </a:prstGeom>
          <a:noFill/>
          <a:ln/>
        </p:spPr>
        <p:txBody>
          <a:bodyPr wrap="none" lIns="0" tIns="0" rIns="0" bIns="0" rtlCol="0" anchor="t"/>
          <a:lstStyle/>
          <a:p>
            <a:pPr marL="0" indent="0" algn="l">
              <a:buNone/>
            </a:pPr>
            <a:r>
              <a:rPr lang="en-US" sz="800" kern="0" spc="64" dirty="0">
                <a:solidFill>
                  <a:srgbClr val="17A05C"/>
                </a:solidFill>
                <a:latin typeface="Sometype Mono" pitchFamily="34" charset="0"/>
                <a:ea typeface="Sometype Mono" pitchFamily="34" charset="-122"/>
                <a:cs typeface="Sometype Mono" pitchFamily="34" charset="-120"/>
              </a:rPr>
              <a:t>Mobile</a:t>
            </a:r>
            <a:endParaRPr lang="en-US" sz="800" dirty="0"/>
          </a:p>
        </p:txBody>
      </p:sp>
      <p:sp>
        <p:nvSpPr>
          <p:cNvPr id="23" name="Text 20"/>
          <p:cNvSpPr txBox="1"/>
          <p:nvPr/>
        </p:nvSpPr>
        <p:spPr>
          <a:xfrm>
            <a:off x="3100365" y="2496881"/>
            <a:ext cx="1619037" cy="374396"/>
          </a:xfrm>
          <a:prstGeom prst="rect">
            <a:avLst/>
          </a:prstGeom>
          <a:noFill/>
          <a:ln/>
        </p:spPr>
        <p:txBody>
          <a:bodyPr wrap="square" lIns="0" tIns="0" rIns="0" bIns="0" rtlCol="0" anchor="t"/>
          <a:lstStyle/>
          <a:p>
            <a:pPr marL="0" indent="0" algn="l">
              <a:lnSpc>
                <a:spcPts val="1508"/>
              </a:lnSpc>
              <a:buNone/>
            </a:pPr>
            <a:r>
              <a:rPr lang="en-US" sz="1300" dirty="0">
                <a:solidFill>
                  <a:srgbClr val="141A24"/>
                </a:solidFill>
                <a:latin typeface="Saira Cond SemiBold" pitchFamily="34" charset="0"/>
                <a:ea typeface="Saira Cond SemiBold" pitchFamily="34" charset="-122"/>
                <a:cs typeface="Saira Cond SemiBold" pitchFamily="34" charset="-120"/>
              </a:rPr>
              <a:t>mynes-mobile</a:t>
            </a:r>
            <a:endParaRPr lang="en-US" sz="1300" dirty="0"/>
          </a:p>
        </p:txBody>
      </p:sp>
      <p:sp>
        <p:nvSpPr>
          <p:cNvPr id="24" name="Text 21"/>
          <p:cNvSpPr txBox="1"/>
          <p:nvPr/>
        </p:nvSpPr>
        <p:spPr>
          <a:xfrm>
            <a:off x="3100365" y="2827934"/>
            <a:ext cx="1582461" cy="1126744"/>
          </a:xfrm>
          <a:prstGeom prst="rect">
            <a:avLst/>
          </a:prstGeom>
          <a:noFill/>
          <a:ln/>
        </p:spPr>
        <p:txBody>
          <a:bodyPr wrap="square" lIns="0" tIns="0" rIns="0" bIns="0" rtlCol="0" anchor="t"/>
          <a:lstStyle/>
          <a:p>
            <a:pPr marL="0" indent="0" algn="l">
              <a:lnSpc>
                <a:spcPts val="1400"/>
              </a:lnSpc>
              <a:buNone/>
            </a:pPr>
            <a:r>
              <a:rPr lang="en-US" sz="1000" dirty="0">
                <a:solidFill>
                  <a:srgbClr val="606A79"/>
                </a:solidFill>
                <a:latin typeface="Saira" pitchFamily="34" charset="0"/>
                <a:ea typeface="Saira" pitchFamily="34" charset="-122"/>
                <a:cs typeface="Saira" pitchFamily="34" charset="-120"/>
              </a:rPr>
              <a:t>Standalone Android and iOS app running the scan engine on-device. React Native + Expo + TypeScript.</a:t>
            </a:r>
            <a:endParaRPr lang="en-US" sz="1000" dirty="0"/>
          </a:p>
        </p:txBody>
      </p:sp>
      <p:sp>
        <p:nvSpPr>
          <p:cNvPr id="25" name="Shape 22"/>
          <p:cNvSpPr/>
          <p:nvPr/>
        </p:nvSpPr>
        <p:spPr>
          <a:xfrm>
            <a:off x="5112593" y="2135327"/>
            <a:ext cx="2021373" cy="1903476"/>
          </a:xfrm>
          <a:prstGeom prst="roundRect">
            <a:avLst>
              <a:gd name="adj" fmla="val 5765"/>
            </a:avLst>
          </a:prstGeom>
          <a:solidFill>
            <a:srgbClr val="C9D3E2">
              <a:alpha val="45000"/>
            </a:srgbClr>
          </a:solidFill>
          <a:ln/>
        </p:spPr>
        <p:txBody>
          <a:bodyPr/>
          <a:lstStyle/>
          <a:p>
            <a:endParaRPr lang="en-TR"/>
          </a:p>
        </p:txBody>
      </p:sp>
      <p:sp>
        <p:nvSpPr>
          <p:cNvPr id="26" name="Shape 23"/>
          <p:cNvSpPr/>
          <p:nvPr/>
        </p:nvSpPr>
        <p:spPr>
          <a:xfrm>
            <a:off x="5085161" y="2089607"/>
            <a:ext cx="2021373" cy="1903476"/>
          </a:xfrm>
          <a:prstGeom prst="roundRect">
            <a:avLst>
              <a:gd name="adj" fmla="val 5765"/>
            </a:avLst>
          </a:prstGeom>
          <a:solidFill>
            <a:srgbClr val="FFFFFF"/>
          </a:solidFill>
          <a:ln w="12700">
            <a:solidFill>
              <a:srgbClr val="E2E7EF"/>
            </a:solidFill>
            <a:prstDash val="solid"/>
          </a:ln>
        </p:spPr>
        <p:txBody>
          <a:bodyPr/>
          <a:lstStyle/>
          <a:p>
            <a:endParaRPr lang="en-TR"/>
          </a:p>
        </p:txBody>
      </p:sp>
      <p:sp>
        <p:nvSpPr>
          <p:cNvPr id="27" name="Shape 24"/>
          <p:cNvSpPr/>
          <p:nvPr/>
        </p:nvSpPr>
        <p:spPr>
          <a:xfrm>
            <a:off x="5286329" y="2107895"/>
            <a:ext cx="822960" cy="0"/>
          </a:xfrm>
          <a:prstGeom prst="line">
            <a:avLst/>
          </a:prstGeom>
          <a:noFill/>
          <a:ln w="38100">
            <a:solidFill>
              <a:srgbClr val="D98A1F"/>
            </a:solidFill>
            <a:prstDash val="solid"/>
          </a:ln>
        </p:spPr>
        <p:txBody>
          <a:bodyPr/>
          <a:lstStyle/>
          <a:p>
            <a:endParaRPr lang="en-TR"/>
          </a:p>
        </p:txBody>
      </p:sp>
      <p:sp>
        <p:nvSpPr>
          <p:cNvPr id="28" name="Text 25"/>
          <p:cNvSpPr txBox="1"/>
          <p:nvPr/>
        </p:nvSpPr>
        <p:spPr>
          <a:xfrm>
            <a:off x="5304617" y="2255662"/>
            <a:ext cx="1582461" cy="182880"/>
          </a:xfrm>
          <a:prstGeom prst="rect">
            <a:avLst/>
          </a:prstGeom>
          <a:noFill/>
          <a:ln/>
        </p:spPr>
        <p:txBody>
          <a:bodyPr wrap="none" lIns="0" tIns="0" rIns="0" bIns="0" rtlCol="0" anchor="t"/>
          <a:lstStyle/>
          <a:p>
            <a:pPr marL="0" indent="0" algn="l">
              <a:buNone/>
            </a:pPr>
            <a:r>
              <a:rPr lang="en-US" sz="800" kern="0" spc="64" dirty="0">
                <a:solidFill>
                  <a:srgbClr val="D98A1F"/>
                </a:solidFill>
                <a:latin typeface="Sometype Mono" pitchFamily="34" charset="0"/>
                <a:ea typeface="Sometype Mono" pitchFamily="34" charset="-122"/>
                <a:cs typeface="Sometype Mono" pitchFamily="34" charset="-120"/>
              </a:rPr>
              <a:t>AI</a:t>
            </a:r>
            <a:endParaRPr lang="en-US" sz="800" dirty="0"/>
          </a:p>
        </p:txBody>
      </p:sp>
      <p:sp>
        <p:nvSpPr>
          <p:cNvPr id="29" name="Text 26"/>
          <p:cNvSpPr txBox="1"/>
          <p:nvPr/>
        </p:nvSpPr>
        <p:spPr>
          <a:xfrm>
            <a:off x="5304617" y="2496881"/>
            <a:ext cx="1619037" cy="374396"/>
          </a:xfrm>
          <a:prstGeom prst="rect">
            <a:avLst/>
          </a:prstGeom>
          <a:noFill/>
          <a:ln/>
        </p:spPr>
        <p:txBody>
          <a:bodyPr wrap="square" lIns="0" tIns="0" rIns="0" bIns="0" rtlCol="0" anchor="t"/>
          <a:lstStyle/>
          <a:p>
            <a:pPr marL="0" indent="0" algn="l">
              <a:lnSpc>
                <a:spcPts val="1508"/>
              </a:lnSpc>
              <a:buNone/>
            </a:pPr>
            <a:r>
              <a:rPr lang="en-US" sz="1300" dirty="0">
                <a:solidFill>
                  <a:srgbClr val="141A24"/>
                </a:solidFill>
                <a:latin typeface="Saira Cond SemiBold" pitchFamily="34" charset="0"/>
                <a:ea typeface="Saira Cond SemiBold" pitchFamily="34" charset="-122"/>
                <a:cs typeface="Saira Cond SemiBold" pitchFamily="34" charset="-120"/>
              </a:rPr>
              <a:t>mynes-ai</a:t>
            </a:r>
            <a:endParaRPr lang="en-US" sz="1300" dirty="0"/>
          </a:p>
        </p:txBody>
      </p:sp>
      <p:sp>
        <p:nvSpPr>
          <p:cNvPr id="30" name="Text 27"/>
          <p:cNvSpPr txBox="1"/>
          <p:nvPr/>
        </p:nvSpPr>
        <p:spPr>
          <a:xfrm>
            <a:off x="5304617" y="2827934"/>
            <a:ext cx="1582461" cy="1126744"/>
          </a:xfrm>
          <a:prstGeom prst="rect">
            <a:avLst/>
          </a:prstGeom>
          <a:noFill/>
          <a:ln/>
        </p:spPr>
        <p:txBody>
          <a:bodyPr wrap="square" lIns="0" tIns="0" rIns="0" bIns="0" rtlCol="0" anchor="t"/>
          <a:lstStyle/>
          <a:p>
            <a:pPr marL="0" indent="0" algn="l">
              <a:lnSpc>
                <a:spcPts val="1400"/>
              </a:lnSpc>
              <a:buNone/>
            </a:pPr>
            <a:r>
              <a:rPr lang="en-US" sz="1000" dirty="0">
                <a:solidFill>
                  <a:srgbClr val="606A79"/>
                </a:solidFill>
                <a:latin typeface="Saira" pitchFamily="34" charset="0"/>
                <a:ea typeface="Saira" pitchFamily="34" charset="-122"/>
                <a:cs typeface="Saira" pitchFamily="34" charset="-120"/>
              </a:rPr>
              <a:t>Optional hosted Identify-with-AI backend. Local catalog + RAG first, LLM only when needed. Keys never leave it.</a:t>
            </a:r>
            <a:endParaRPr lang="en-US" sz="1000" dirty="0"/>
          </a:p>
        </p:txBody>
      </p:sp>
      <p:sp>
        <p:nvSpPr>
          <p:cNvPr id="31" name="Shape 28"/>
          <p:cNvSpPr/>
          <p:nvPr/>
        </p:nvSpPr>
        <p:spPr>
          <a:xfrm>
            <a:off x="7316846" y="2135327"/>
            <a:ext cx="2021373" cy="1903476"/>
          </a:xfrm>
          <a:prstGeom prst="roundRect">
            <a:avLst>
              <a:gd name="adj" fmla="val 5765"/>
            </a:avLst>
          </a:prstGeom>
          <a:solidFill>
            <a:srgbClr val="C9D3E2">
              <a:alpha val="45000"/>
            </a:srgbClr>
          </a:solidFill>
          <a:ln/>
        </p:spPr>
        <p:txBody>
          <a:bodyPr/>
          <a:lstStyle/>
          <a:p>
            <a:endParaRPr lang="en-TR"/>
          </a:p>
        </p:txBody>
      </p:sp>
      <p:sp>
        <p:nvSpPr>
          <p:cNvPr id="32" name="Shape 29"/>
          <p:cNvSpPr/>
          <p:nvPr/>
        </p:nvSpPr>
        <p:spPr>
          <a:xfrm>
            <a:off x="7289414" y="2089607"/>
            <a:ext cx="2021373" cy="1903476"/>
          </a:xfrm>
          <a:prstGeom prst="roundRect">
            <a:avLst>
              <a:gd name="adj" fmla="val 5765"/>
            </a:avLst>
          </a:prstGeom>
          <a:solidFill>
            <a:srgbClr val="FFFFFF"/>
          </a:solidFill>
          <a:ln w="12700">
            <a:solidFill>
              <a:srgbClr val="E2E7EF"/>
            </a:solidFill>
            <a:prstDash val="solid"/>
          </a:ln>
        </p:spPr>
        <p:txBody>
          <a:bodyPr/>
          <a:lstStyle/>
          <a:p>
            <a:endParaRPr lang="en-TR"/>
          </a:p>
        </p:txBody>
      </p:sp>
      <p:sp>
        <p:nvSpPr>
          <p:cNvPr id="33" name="Shape 30"/>
          <p:cNvSpPr/>
          <p:nvPr/>
        </p:nvSpPr>
        <p:spPr>
          <a:xfrm>
            <a:off x="7490582" y="2107895"/>
            <a:ext cx="822960" cy="0"/>
          </a:xfrm>
          <a:prstGeom prst="line">
            <a:avLst/>
          </a:prstGeom>
          <a:noFill/>
          <a:ln w="38100">
            <a:solidFill>
              <a:srgbClr val="DC3F4A"/>
            </a:solidFill>
            <a:prstDash val="solid"/>
          </a:ln>
        </p:spPr>
        <p:txBody>
          <a:bodyPr/>
          <a:lstStyle/>
          <a:p>
            <a:endParaRPr lang="en-TR"/>
          </a:p>
        </p:txBody>
      </p:sp>
      <p:sp>
        <p:nvSpPr>
          <p:cNvPr id="34" name="Text 31"/>
          <p:cNvSpPr txBox="1"/>
          <p:nvPr/>
        </p:nvSpPr>
        <p:spPr>
          <a:xfrm>
            <a:off x="7508870" y="2255662"/>
            <a:ext cx="1582461" cy="182880"/>
          </a:xfrm>
          <a:prstGeom prst="rect">
            <a:avLst/>
          </a:prstGeom>
          <a:noFill/>
          <a:ln/>
        </p:spPr>
        <p:txBody>
          <a:bodyPr wrap="none" lIns="0" tIns="0" rIns="0" bIns="0" rtlCol="0" anchor="t"/>
          <a:lstStyle/>
          <a:p>
            <a:pPr marL="0" indent="0" algn="l">
              <a:buNone/>
            </a:pPr>
            <a:r>
              <a:rPr lang="en-US" sz="800" kern="0" spc="64" dirty="0">
                <a:solidFill>
                  <a:srgbClr val="DC3F4A"/>
                </a:solidFill>
                <a:latin typeface="Sometype Mono" pitchFamily="34" charset="0"/>
                <a:ea typeface="Sometype Mono" pitchFamily="34" charset="-122"/>
                <a:cs typeface="Sometype Mono" pitchFamily="34" charset="-120"/>
              </a:rPr>
              <a:t>Home Assistant</a:t>
            </a:r>
            <a:endParaRPr lang="en-US" sz="800" dirty="0"/>
          </a:p>
        </p:txBody>
      </p:sp>
      <p:sp>
        <p:nvSpPr>
          <p:cNvPr id="35" name="Text 32"/>
          <p:cNvSpPr txBox="1"/>
          <p:nvPr/>
        </p:nvSpPr>
        <p:spPr>
          <a:xfrm>
            <a:off x="7508870" y="2496881"/>
            <a:ext cx="1619037" cy="374396"/>
          </a:xfrm>
          <a:prstGeom prst="rect">
            <a:avLst/>
          </a:prstGeom>
          <a:noFill/>
          <a:ln/>
        </p:spPr>
        <p:txBody>
          <a:bodyPr wrap="square" lIns="0" tIns="0" rIns="0" bIns="0" rtlCol="0" anchor="t"/>
          <a:lstStyle/>
          <a:p>
            <a:pPr marL="0" indent="0" algn="l">
              <a:lnSpc>
                <a:spcPts val="1508"/>
              </a:lnSpc>
              <a:buNone/>
            </a:pPr>
            <a:r>
              <a:rPr lang="en-US" sz="1300" dirty="0">
                <a:solidFill>
                  <a:srgbClr val="141A24"/>
                </a:solidFill>
                <a:latin typeface="Saira Cond SemiBold" pitchFamily="34" charset="0"/>
                <a:ea typeface="Saira Cond SemiBold" pitchFamily="34" charset="-122"/>
                <a:cs typeface="Saira Cond SemiBold" pitchFamily="34" charset="-120"/>
              </a:rPr>
              <a:t>mynes-addon</a:t>
            </a:r>
            <a:endParaRPr lang="en-US" sz="1300" dirty="0"/>
          </a:p>
        </p:txBody>
      </p:sp>
      <p:sp>
        <p:nvSpPr>
          <p:cNvPr id="36" name="Text 33"/>
          <p:cNvSpPr txBox="1"/>
          <p:nvPr/>
        </p:nvSpPr>
        <p:spPr>
          <a:xfrm>
            <a:off x="7508870" y="2827934"/>
            <a:ext cx="1582461" cy="1126744"/>
          </a:xfrm>
          <a:prstGeom prst="rect">
            <a:avLst/>
          </a:prstGeom>
          <a:noFill/>
          <a:ln/>
        </p:spPr>
        <p:txBody>
          <a:bodyPr wrap="square" lIns="0" tIns="0" rIns="0" bIns="0" rtlCol="0" anchor="t"/>
          <a:lstStyle/>
          <a:p>
            <a:pPr marL="0" indent="0" algn="l">
              <a:lnSpc>
                <a:spcPts val="1400"/>
              </a:lnSpc>
              <a:buNone/>
            </a:pPr>
            <a:r>
              <a:rPr lang="en-US" sz="1000" dirty="0">
                <a:solidFill>
                  <a:srgbClr val="606A79"/>
                </a:solidFill>
                <a:latin typeface="Saira" pitchFamily="34" charset="0"/>
                <a:ea typeface="Saira" pitchFamily="34" charset="-122"/>
                <a:cs typeface="Saira" pitchFamily="34" charset="-120"/>
              </a:rPr>
              <a:t>Add-on repository for Home Assistant. Install from the Add-on Store; aarch64 and amd64.</a:t>
            </a:r>
            <a:endParaRPr lang="en-US" sz="1000" dirty="0"/>
          </a:p>
        </p:txBody>
      </p:sp>
      <p:sp>
        <p:nvSpPr>
          <p:cNvPr id="37" name="Shape 34"/>
          <p:cNvSpPr/>
          <p:nvPr/>
        </p:nvSpPr>
        <p:spPr>
          <a:xfrm>
            <a:off x="9521099" y="2135327"/>
            <a:ext cx="2021373" cy="1903476"/>
          </a:xfrm>
          <a:prstGeom prst="roundRect">
            <a:avLst>
              <a:gd name="adj" fmla="val 5765"/>
            </a:avLst>
          </a:prstGeom>
          <a:solidFill>
            <a:srgbClr val="C9D3E2">
              <a:alpha val="45000"/>
            </a:srgbClr>
          </a:solidFill>
          <a:ln/>
        </p:spPr>
        <p:txBody>
          <a:bodyPr/>
          <a:lstStyle/>
          <a:p>
            <a:endParaRPr lang="en-TR"/>
          </a:p>
        </p:txBody>
      </p:sp>
      <p:sp>
        <p:nvSpPr>
          <p:cNvPr id="38" name="Shape 35"/>
          <p:cNvSpPr/>
          <p:nvPr/>
        </p:nvSpPr>
        <p:spPr>
          <a:xfrm>
            <a:off x="9493667" y="2089607"/>
            <a:ext cx="2021373" cy="1903476"/>
          </a:xfrm>
          <a:prstGeom prst="roundRect">
            <a:avLst>
              <a:gd name="adj" fmla="val 5765"/>
            </a:avLst>
          </a:prstGeom>
          <a:solidFill>
            <a:srgbClr val="FFFFFF"/>
          </a:solidFill>
          <a:ln w="12700">
            <a:solidFill>
              <a:srgbClr val="E2E7EF"/>
            </a:solidFill>
            <a:prstDash val="solid"/>
          </a:ln>
        </p:spPr>
        <p:txBody>
          <a:bodyPr/>
          <a:lstStyle/>
          <a:p>
            <a:endParaRPr lang="en-TR"/>
          </a:p>
        </p:txBody>
      </p:sp>
      <p:sp>
        <p:nvSpPr>
          <p:cNvPr id="39" name="Shape 36"/>
          <p:cNvSpPr/>
          <p:nvPr/>
        </p:nvSpPr>
        <p:spPr>
          <a:xfrm>
            <a:off x="9694835" y="2107895"/>
            <a:ext cx="822960" cy="0"/>
          </a:xfrm>
          <a:prstGeom prst="line">
            <a:avLst/>
          </a:prstGeom>
          <a:noFill/>
          <a:ln w="38100">
            <a:solidFill>
              <a:srgbClr val="3D6FF5"/>
            </a:solidFill>
            <a:prstDash val="solid"/>
          </a:ln>
        </p:spPr>
        <p:txBody>
          <a:bodyPr/>
          <a:lstStyle/>
          <a:p>
            <a:endParaRPr lang="en-TR"/>
          </a:p>
        </p:txBody>
      </p:sp>
      <p:sp>
        <p:nvSpPr>
          <p:cNvPr id="40" name="Text 37"/>
          <p:cNvSpPr txBox="1"/>
          <p:nvPr/>
        </p:nvSpPr>
        <p:spPr>
          <a:xfrm>
            <a:off x="9713123" y="2255662"/>
            <a:ext cx="1582461" cy="182880"/>
          </a:xfrm>
          <a:prstGeom prst="rect">
            <a:avLst/>
          </a:prstGeom>
          <a:noFill/>
          <a:ln/>
        </p:spPr>
        <p:txBody>
          <a:bodyPr wrap="none" lIns="0" tIns="0" rIns="0" bIns="0" rtlCol="0" anchor="t"/>
          <a:lstStyle/>
          <a:p>
            <a:pPr marL="0" indent="0" algn="l">
              <a:buNone/>
            </a:pPr>
            <a:r>
              <a:rPr lang="en-US" sz="800" kern="0" spc="64" dirty="0">
                <a:solidFill>
                  <a:srgbClr val="3D6FF5"/>
                </a:solidFill>
                <a:latin typeface="Sometype Mono" pitchFamily="34" charset="0"/>
                <a:ea typeface="Sometype Mono" pitchFamily="34" charset="-122"/>
                <a:cs typeface="Sometype Mono" pitchFamily="34" charset="-120"/>
              </a:rPr>
              <a:t>CasaOS</a:t>
            </a:r>
            <a:endParaRPr lang="en-US" sz="800" dirty="0"/>
          </a:p>
        </p:txBody>
      </p:sp>
      <p:sp>
        <p:nvSpPr>
          <p:cNvPr id="41" name="Text 38"/>
          <p:cNvSpPr txBox="1"/>
          <p:nvPr/>
        </p:nvSpPr>
        <p:spPr>
          <a:xfrm>
            <a:off x="9713123" y="2496881"/>
            <a:ext cx="1619037" cy="374396"/>
          </a:xfrm>
          <a:prstGeom prst="rect">
            <a:avLst/>
          </a:prstGeom>
          <a:noFill/>
          <a:ln/>
        </p:spPr>
        <p:txBody>
          <a:bodyPr wrap="square" lIns="0" tIns="0" rIns="0" bIns="0" rtlCol="0" anchor="t"/>
          <a:lstStyle/>
          <a:p>
            <a:pPr marL="0" indent="0" algn="l">
              <a:lnSpc>
                <a:spcPts val="1508"/>
              </a:lnSpc>
              <a:buNone/>
            </a:pPr>
            <a:r>
              <a:rPr lang="en-US" sz="1300" dirty="0">
                <a:solidFill>
                  <a:srgbClr val="141A24"/>
                </a:solidFill>
                <a:latin typeface="Saira Cond SemiBold" pitchFamily="34" charset="0"/>
                <a:ea typeface="Saira Cond SemiBold" pitchFamily="34" charset="-122"/>
                <a:cs typeface="Saira Cond SemiBold" pitchFamily="34" charset="-120"/>
              </a:rPr>
              <a:t>mynes-casaos-store</a:t>
            </a:r>
            <a:endParaRPr lang="en-US" sz="1300" dirty="0"/>
          </a:p>
        </p:txBody>
      </p:sp>
      <p:sp>
        <p:nvSpPr>
          <p:cNvPr id="42" name="Text 39"/>
          <p:cNvSpPr txBox="1"/>
          <p:nvPr/>
        </p:nvSpPr>
        <p:spPr>
          <a:xfrm>
            <a:off x="9713123" y="2827934"/>
            <a:ext cx="1582461" cy="1126744"/>
          </a:xfrm>
          <a:prstGeom prst="rect">
            <a:avLst/>
          </a:prstGeom>
          <a:noFill/>
          <a:ln/>
        </p:spPr>
        <p:txBody>
          <a:bodyPr wrap="square" lIns="0" tIns="0" rIns="0" bIns="0" rtlCol="0" anchor="t"/>
          <a:lstStyle/>
          <a:p>
            <a:pPr marL="0" indent="0" algn="l">
              <a:lnSpc>
                <a:spcPts val="1400"/>
              </a:lnSpc>
              <a:buNone/>
            </a:pPr>
            <a:r>
              <a:rPr lang="en-US" sz="1000" dirty="0">
                <a:solidFill>
                  <a:srgbClr val="606A79"/>
                </a:solidFill>
                <a:latin typeface="Saira" pitchFamily="34" charset="0"/>
                <a:ea typeface="Saira" pitchFamily="34" charset="-122"/>
                <a:cs typeface="Saira" pitchFamily="34" charset="-120"/>
              </a:rPr>
              <a:t>Third-party app store source for CasaOS and ZimaOS, so MyNeS installs with one click there too.</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1024452"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1024452"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Who it's for</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Shape 8"/>
          <p:cNvSpPr/>
          <p:nvPr/>
        </p:nvSpPr>
        <p:spPr>
          <a:xfrm>
            <a:off x="676656" y="987552"/>
            <a:ext cx="1129792" cy="274320"/>
          </a:xfrm>
          <a:prstGeom prst="roundRect">
            <a:avLst>
              <a:gd name="adj" fmla="val 50000"/>
            </a:avLst>
          </a:prstGeom>
          <a:solidFill>
            <a:srgbClr val="3D6FF5"/>
          </a:solidFill>
          <a:ln w="12700">
            <a:solidFill>
              <a:srgbClr val="3D6FF5"/>
            </a:solidFill>
            <a:prstDash val="solid"/>
          </a:ln>
        </p:spPr>
        <p:txBody>
          <a:bodyPr/>
          <a:lstStyle/>
          <a:p>
            <a:endParaRPr lang="en-TR"/>
          </a:p>
        </p:txBody>
      </p:sp>
      <p:sp>
        <p:nvSpPr>
          <p:cNvPr id="12" name="Text 9"/>
          <p:cNvSpPr txBox="1"/>
          <p:nvPr/>
        </p:nvSpPr>
        <p:spPr>
          <a:xfrm>
            <a:off x="676656" y="1052321"/>
            <a:ext cx="1129792" cy="274320"/>
          </a:xfrm>
          <a:prstGeom prst="rect">
            <a:avLst/>
          </a:prstGeom>
          <a:noFill/>
          <a:ln/>
        </p:spPr>
        <p:txBody>
          <a:bodyPr wrap="square" lIns="0" tIns="0" rIns="0" bIns="0" rtlCol="0" anchor="t"/>
          <a:lstStyle/>
          <a:p>
            <a:pPr marL="0" indent="0" algn="ctr">
              <a:buNone/>
            </a:pPr>
            <a:r>
              <a:rPr lang="en-US" sz="850" kern="0" spc="51" dirty="0">
                <a:solidFill>
                  <a:srgbClr val="FFFFFF"/>
                </a:solidFill>
                <a:latin typeface="Sometype Mono" pitchFamily="34" charset="0"/>
                <a:ea typeface="Sometype Mono" pitchFamily="34" charset="-122"/>
                <a:cs typeface="Sometype Mono" pitchFamily="34" charset="-120"/>
              </a:rPr>
              <a:t>Persona 01</a:t>
            </a:r>
            <a:endParaRPr lang="en-US" sz="850" dirty="0"/>
          </a:p>
        </p:txBody>
      </p:sp>
      <p:sp>
        <p:nvSpPr>
          <p:cNvPr id="13" name="Text 10"/>
          <p:cNvSpPr txBox="1"/>
          <p:nvPr/>
        </p:nvSpPr>
        <p:spPr>
          <a:xfrm>
            <a:off x="676656" y="1269919"/>
            <a:ext cx="10808208" cy="813816"/>
          </a:xfrm>
          <a:prstGeom prst="rect">
            <a:avLst/>
          </a:prstGeom>
          <a:noFill/>
          <a:ln/>
        </p:spPr>
        <p:txBody>
          <a:bodyPr wrap="square" lIns="0" tIns="0" rIns="0" bIns="0" rtlCol="0" anchor="t"/>
          <a:lstStyle/>
          <a:p>
            <a:pPr marL="0" indent="0" algn="l">
              <a:lnSpc>
                <a:spcPts val="3888"/>
              </a:lnSpc>
              <a:buNone/>
            </a:pPr>
            <a:r>
              <a:rPr lang="en-US" sz="3600" b="1" kern="0" spc="-50" dirty="0">
                <a:solidFill>
                  <a:srgbClr val="141A24"/>
                </a:solidFill>
                <a:latin typeface="Saira Cond" pitchFamily="34" charset="0"/>
                <a:ea typeface="Saira Cond" pitchFamily="34" charset="-122"/>
                <a:cs typeface="Saira Cond" pitchFamily="34" charset="-120"/>
              </a:rPr>
              <a:t>Homelab / Self-hoster</a:t>
            </a:r>
            <a:endParaRPr lang="en-US" sz="3600" dirty="0"/>
          </a:p>
        </p:txBody>
      </p:sp>
      <p:sp>
        <p:nvSpPr>
          <p:cNvPr id="14" name="Text 11"/>
          <p:cNvSpPr txBox="1"/>
          <p:nvPr/>
        </p:nvSpPr>
        <p:spPr>
          <a:xfrm>
            <a:off x="676656" y="1971172"/>
            <a:ext cx="9509760" cy="412941"/>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Runs a Pi, a NAS or a mini-PC with a dozen containers on it. Wants to know exactly what is on the LAN, and wants it to stay on the LAN.</a:t>
            </a:r>
            <a:endParaRPr lang="en-US" sz="1150" dirty="0"/>
          </a:p>
        </p:txBody>
      </p:sp>
      <p:sp>
        <p:nvSpPr>
          <p:cNvPr id="15" name="Text 12"/>
          <p:cNvSpPr txBox="1"/>
          <p:nvPr/>
        </p:nvSpPr>
        <p:spPr>
          <a:xfrm>
            <a:off x="676656" y="2488438"/>
            <a:ext cx="3307994" cy="237744"/>
          </a:xfrm>
          <a:prstGeom prst="rect">
            <a:avLst/>
          </a:prstGeom>
          <a:noFill/>
          <a:ln/>
        </p:spPr>
        <p:txBody>
          <a:bodyPr wrap="square" lIns="0" tIns="0" rIns="0" bIns="0" rtlCol="0" anchor="t"/>
          <a:lstStyle/>
          <a:p>
            <a:pPr marL="0" indent="0" algn="l">
              <a:buNone/>
            </a:pPr>
            <a:r>
              <a:rPr lang="en-US" sz="1250" dirty="0">
                <a:solidFill>
                  <a:srgbClr val="3D6FF5"/>
                </a:solidFill>
                <a:latin typeface="Saira Cond SemiBold" pitchFamily="34" charset="0"/>
                <a:ea typeface="Saira Cond SemiBold" pitchFamily="34" charset="-122"/>
                <a:cs typeface="Saira Cond SemiBold" pitchFamily="34" charset="-120"/>
              </a:rPr>
              <a:t>The pain today</a:t>
            </a:r>
            <a:endParaRPr lang="en-US" sz="1250" dirty="0"/>
          </a:p>
        </p:txBody>
      </p:sp>
      <p:sp>
        <p:nvSpPr>
          <p:cNvPr id="16" name="Shape 13"/>
          <p:cNvSpPr/>
          <p:nvPr/>
        </p:nvSpPr>
        <p:spPr>
          <a:xfrm>
            <a:off x="676656" y="2865628"/>
            <a:ext cx="3307994" cy="0"/>
          </a:xfrm>
          <a:prstGeom prst="line">
            <a:avLst/>
          </a:prstGeom>
          <a:noFill/>
          <a:ln w="22860">
            <a:solidFill>
              <a:srgbClr val="3D6FF5"/>
            </a:solidFill>
            <a:prstDash val="solid"/>
          </a:ln>
        </p:spPr>
        <p:txBody>
          <a:bodyPr/>
          <a:lstStyle/>
          <a:p>
            <a:endParaRPr lang="en-TR"/>
          </a:p>
        </p:txBody>
      </p:sp>
      <p:sp>
        <p:nvSpPr>
          <p:cNvPr id="17" name="Shape 14"/>
          <p:cNvSpPr/>
          <p:nvPr/>
        </p:nvSpPr>
        <p:spPr>
          <a:xfrm>
            <a:off x="708660" y="3095508"/>
            <a:ext cx="100813" cy="100813"/>
          </a:xfrm>
          <a:prstGeom prst="ellipse">
            <a:avLst/>
          </a:prstGeom>
          <a:solidFill>
            <a:srgbClr val="3D6FF5"/>
          </a:solidFill>
          <a:ln/>
        </p:spPr>
        <p:txBody>
          <a:bodyPr/>
          <a:lstStyle/>
          <a:p>
            <a:endParaRPr lang="en-TR"/>
          </a:p>
        </p:txBody>
      </p:sp>
      <p:sp>
        <p:nvSpPr>
          <p:cNvPr id="18" name="Text 15"/>
          <p:cNvSpPr txBox="1"/>
          <p:nvPr/>
        </p:nvSpPr>
        <p:spPr>
          <a:xfrm>
            <a:off x="914400" y="2989895"/>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Fing wants an account, and the inventory lives on someone else's servers.</a:t>
            </a:r>
            <a:endParaRPr lang="en-US" sz="1050" dirty="0"/>
          </a:p>
        </p:txBody>
      </p:sp>
      <p:sp>
        <p:nvSpPr>
          <p:cNvPr id="19" name="Shape 16"/>
          <p:cNvSpPr/>
          <p:nvPr/>
        </p:nvSpPr>
        <p:spPr>
          <a:xfrm>
            <a:off x="708660" y="3657102"/>
            <a:ext cx="100813" cy="100813"/>
          </a:xfrm>
          <a:prstGeom prst="ellipse">
            <a:avLst/>
          </a:prstGeom>
          <a:solidFill>
            <a:srgbClr val="3D6FF5"/>
          </a:solidFill>
          <a:ln/>
        </p:spPr>
        <p:txBody>
          <a:bodyPr/>
          <a:lstStyle/>
          <a:p>
            <a:endParaRPr lang="en-TR"/>
          </a:p>
        </p:txBody>
      </p:sp>
      <p:sp>
        <p:nvSpPr>
          <p:cNvPr id="20" name="Text 17"/>
          <p:cNvSpPr txBox="1"/>
          <p:nvPr/>
        </p:nvSpPr>
        <p:spPr>
          <a:xfrm>
            <a:off x="914400" y="3551489"/>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Angry IP Scanner is a one-shot tool: no history, no naming, nothing persists between runs.</a:t>
            </a:r>
            <a:endParaRPr lang="en-US" sz="1050" dirty="0"/>
          </a:p>
        </p:txBody>
      </p:sp>
      <p:sp>
        <p:nvSpPr>
          <p:cNvPr id="21" name="Shape 18"/>
          <p:cNvSpPr/>
          <p:nvPr/>
        </p:nvSpPr>
        <p:spPr>
          <a:xfrm>
            <a:off x="708660" y="4218696"/>
            <a:ext cx="100813" cy="100813"/>
          </a:xfrm>
          <a:prstGeom prst="ellipse">
            <a:avLst/>
          </a:prstGeom>
          <a:solidFill>
            <a:srgbClr val="3D6FF5"/>
          </a:solidFill>
          <a:ln/>
        </p:spPr>
        <p:txBody>
          <a:bodyPr/>
          <a:lstStyle/>
          <a:p>
            <a:endParaRPr lang="en-TR"/>
          </a:p>
        </p:txBody>
      </p:sp>
      <p:sp>
        <p:nvSpPr>
          <p:cNvPr id="22" name="Text 19"/>
          <p:cNvSpPr txBox="1"/>
          <p:nvPr/>
        </p:nvSpPr>
        <p:spPr>
          <a:xfrm>
            <a:off x="914400" y="4113083"/>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A dozen containers on three Docker networks show up as mystery IPs with no context.</a:t>
            </a:r>
            <a:endParaRPr lang="en-US" sz="1050" dirty="0"/>
          </a:p>
        </p:txBody>
      </p:sp>
      <p:sp>
        <p:nvSpPr>
          <p:cNvPr id="23" name="Shape 20"/>
          <p:cNvSpPr/>
          <p:nvPr/>
        </p:nvSpPr>
        <p:spPr>
          <a:xfrm>
            <a:off x="708660" y="4780290"/>
            <a:ext cx="100813" cy="100813"/>
          </a:xfrm>
          <a:prstGeom prst="ellipse">
            <a:avLst/>
          </a:prstGeom>
          <a:solidFill>
            <a:srgbClr val="3D6FF5"/>
          </a:solidFill>
          <a:ln/>
        </p:spPr>
        <p:txBody>
          <a:bodyPr/>
          <a:lstStyle/>
          <a:p>
            <a:endParaRPr lang="en-TR"/>
          </a:p>
        </p:txBody>
      </p:sp>
      <p:sp>
        <p:nvSpPr>
          <p:cNvPr id="24" name="Text 21"/>
          <p:cNvSpPr txBox="1"/>
          <p:nvPr/>
        </p:nvSpPr>
        <p:spPr>
          <a:xfrm>
            <a:off x="914400" y="4674677"/>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No record of when a device first appeared or when a port opened.</a:t>
            </a:r>
            <a:endParaRPr lang="en-US" sz="1050" dirty="0"/>
          </a:p>
        </p:txBody>
      </p:sp>
      <p:sp>
        <p:nvSpPr>
          <p:cNvPr id="25" name="Shape 22"/>
          <p:cNvSpPr/>
          <p:nvPr/>
        </p:nvSpPr>
        <p:spPr>
          <a:xfrm>
            <a:off x="708660" y="5341884"/>
            <a:ext cx="100813" cy="100813"/>
          </a:xfrm>
          <a:prstGeom prst="ellipse">
            <a:avLst/>
          </a:prstGeom>
          <a:solidFill>
            <a:srgbClr val="3D6FF5"/>
          </a:solidFill>
          <a:ln/>
        </p:spPr>
        <p:txBody>
          <a:bodyPr/>
          <a:lstStyle/>
          <a:p>
            <a:endParaRPr lang="en-TR"/>
          </a:p>
        </p:txBody>
      </p:sp>
      <p:sp>
        <p:nvSpPr>
          <p:cNvPr id="26" name="Text 23"/>
          <p:cNvSpPr txBox="1"/>
          <p:nvPr/>
        </p:nvSpPr>
        <p:spPr>
          <a:xfrm>
            <a:off x="914400" y="5236271"/>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Grafana is already running, but the LAN is the one thing not in it.</a:t>
            </a:r>
            <a:endParaRPr lang="en-US" sz="1050" dirty="0"/>
          </a:p>
        </p:txBody>
      </p:sp>
      <p:sp>
        <p:nvSpPr>
          <p:cNvPr id="27" name="Text 24"/>
          <p:cNvSpPr txBox="1"/>
          <p:nvPr/>
        </p:nvSpPr>
        <p:spPr>
          <a:xfrm>
            <a:off x="4441850" y="2488438"/>
            <a:ext cx="3307994" cy="237744"/>
          </a:xfrm>
          <a:prstGeom prst="rect">
            <a:avLst/>
          </a:prstGeom>
          <a:noFill/>
          <a:ln/>
        </p:spPr>
        <p:txBody>
          <a:bodyPr wrap="square" lIns="0" tIns="0" rIns="0" bIns="0" rtlCol="0" anchor="t"/>
          <a:lstStyle/>
          <a:p>
            <a:pPr marL="0" indent="0" algn="l">
              <a:buNone/>
            </a:pPr>
            <a:r>
              <a:rPr lang="en-US" sz="1250" dirty="0">
                <a:solidFill>
                  <a:srgbClr val="17A05C"/>
                </a:solidFill>
                <a:latin typeface="Saira Cond SemiBold" pitchFamily="34" charset="0"/>
                <a:ea typeface="Saira Cond SemiBold" pitchFamily="34" charset="-122"/>
                <a:cs typeface="Saira Cond SemiBold" pitchFamily="34" charset="-120"/>
              </a:rPr>
              <a:t>What they use</a:t>
            </a:r>
            <a:endParaRPr lang="en-US" sz="1250" dirty="0"/>
          </a:p>
        </p:txBody>
      </p:sp>
      <p:sp>
        <p:nvSpPr>
          <p:cNvPr id="28" name="Shape 25"/>
          <p:cNvSpPr/>
          <p:nvPr/>
        </p:nvSpPr>
        <p:spPr>
          <a:xfrm>
            <a:off x="4441850" y="2865628"/>
            <a:ext cx="3307994" cy="0"/>
          </a:xfrm>
          <a:prstGeom prst="line">
            <a:avLst/>
          </a:prstGeom>
          <a:noFill/>
          <a:ln w="22860">
            <a:solidFill>
              <a:srgbClr val="17A05C"/>
            </a:solidFill>
            <a:prstDash val="solid"/>
          </a:ln>
        </p:spPr>
        <p:txBody>
          <a:bodyPr/>
          <a:lstStyle/>
          <a:p>
            <a:endParaRPr lang="en-TR"/>
          </a:p>
        </p:txBody>
      </p:sp>
      <p:sp>
        <p:nvSpPr>
          <p:cNvPr id="29" name="Shape 26"/>
          <p:cNvSpPr/>
          <p:nvPr/>
        </p:nvSpPr>
        <p:spPr>
          <a:xfrm>
            <a:off x="4473854" y="3095508"/>
            <a:ext cx="100813" cy="100813"/>
          </a:xfrm>
          <a:prstGeom prst="ellipse">
            <a:avLst/>
          </a:prstGeom>
          <a:solidFill>
            <a:srgbClr val="17A05C"/>
          </a:solidFill>
          <a:ln/>
        </p:spPr>
        <p:txBody>
          <a:bodyPr/>
          <a:lstStyle/>
          <a:p>
            <a:endParaRPr lang="en-TR"/>
          </a:p>
        </p:txBody>
      </p:sp>
      <p:sp>
        <p:nvSpPr>
          <p:cNvPr id="30" name="Text 27"/>
          <p:cNvSpPr txBox="1"/>
          <p:nvPr/>
        </p:nvSpPr>
        <p:spPr>
          <a:xfrm>
            <a:off x="4679594" y="2989895"/>
            <a:ext cx="3070250" cy="787527"/>
          </a:xfrm>
          <a:prstGeom prst="rect">
            <a:avLst/>
          </a:prstGeom>
          <a:noFill/>
          <a:ln/>
        </p:spPr>
        <p:txBody>
          <a:bodyPr wrap="square" lIns="0" tIns="0" rIns="0" bIns="0" rtlCol="0" anchor="t"/>
          <a:lstStyle/>
          <a:p>
            <a:pPr marL="0" indent="0" algn="l">
              <a:lnSpc>
                <a:spcPts val="1491"/>
              </a:lnSpc>
              <a:buNone/>
            </a:pPr>
            <a:r>
              <a:rPr lang="en-US" sz="1050" dirty="0">
                <a:solidFill>
                  <a:srgbClr val="141A24"/>
                </a:solidFill>
                <a:latin typeface="Saira Medium" pitchFamily="34" charset="0"/>
                <a:ea typeface="Saira Medium" pitchFamily="34" charset="-122"/>
                <a:cs typeface="Saira Medium" pitchFamily="34" charset="-120"/>
              </a:rPr>
              <a:t>Docker Compose with network_mode: host</a:t>
            </a:r>
            <a:r>
              <a:rPr lang="en-US" sz="1050" dirty="0">
                <a:solidFill>
                  <a:srgbClr val="606A79"/>
                </a:solidFill>
                <a:latin typeface="Saira" pitchFamily="34" charset="0"/>
                <a:ea typeface="Saira" pitchFamily="34" charset="-122"/>
                <a:cs typeface="Saira" pitchFamily="34" charset="-120"/>
              </a:rPr>
              <a:t> plus </a:t>
            </a:r>
            <a:r>
              <a:rPr lang="en-US" sz="945" dirty="0">
                <a:solidFill>
                  <a:srgbClr val="141A24"/>
                </a:solidFill>
                <a:latin typeface="Sometype Mono" pitchFamily="34" charset="0"/>
                <a:ea typeface="Sometype Mono" pitchFamily="34" charset="-122"/>
                <a:cs typeface="Sometype Mono" pitchFamily="34" charset="-120"/>
              </a:rPr>
              <a:t>NET_RAW</a:t>
            </a:r>
            <a:r>
              <a:rPr lang="en-US" sz="1050" dirty="0">
                <a:solidFill>
                  <a:srgbClr val="606A79"/>
                </a:solidFill>
                <a:latin typeface="Saira" pitchFamily="34" charset="0"/>
                <a:ea typeface="Saira" pitchFamily="34" charset="-122"/>
                <a:cs typeface="Saira" pitchFamily="34" charset="-120"/>
              </a:rPr>
              <a:t> and </a:t>
            </a:r>
            <a:r>
              <a:rPr lang="en-US" sz="945" dirty="0">
                <a:solidFill>
                  <a:srgbClr val="141A24"/>
                </a:solidFill>
                <a:latin typeface="Sometype Mono" pitchFamily="34" charset="0"/>
                <a:ea typeface="Sometype Mono" pitchFamily="34" charset="-122"/>
                <a:cs typeface="Sometype Mono" pitchFamily="34" charset="-120"/>
              </a:rPr>
              <a:t>NET_ADMIN</a:t>
            </a:r>
            <a:r>
              <a:rPr lang="en-US" sz="1050" dirty="0">
                <a:solidFill>
                  <a:srgbClr val="606A79"/>
                </a:solidFill>
                <a:latin typeface="Saira" pitchFamily="34" charset="0"/>
                <a:ea typeface="Saira" pitchFamily="34" charset="-122"/>
                <a:cs typeface="Saira" pitchFamily="34" charset="-120"/>
              </a:rPr>
              <a:t> — the minimum that lets raw ARP and multicast actually see the LAN.</a:t>
            </a:r>
            <a:endParaRPr lang="en-US" sz="1050" dirty="0"/>
          </a:p>
        </p:txBody>
      </p:sp>
      <p:sp>
        <p:nvSpPr>
          <p:cNvPr id="31" name="Shape 28"/>
          <p:cNvSpPr/>
          <p:nvPr/>
        </p:nvSpPr>
        <p:spPr>
          <a:xfrm>
            <a:off x="4473854" y="3846459"/>
            <a:ext cx="100813" cy="100813"/>
          </a:xfrm>
          <a:prstGeom prst="ellipse">
            <a:avLst/>
          </a:prstGeom>
          <a:solidFill>
            <a:srgbClr val="17A05C"/>
          </a:solidFill>
          <a:ln/>
        </p:spPr>
        <p:txBody>
          <a:bodyPr/>
          <a:lstStyle/>
          <a:p>
            <a:endParaRPr lang="en-TR"/>
          </a:p>
        </p:txBody>
      </p:sp>
      <p:sp>
        <p:nvSpPr>
          <p:cNvPr id="32" name="Text 29"/>
          <p:cNvSpPr txBox="1"/>
          <p:nvPr/>
        </p:nvSpPr>
        <p:spPr>
          <a:xfrm>
            <a:off x="4679594" y="3740846"/>
            <a:ext cx="3070250" cy="787527"/>
          </a:xfrm>
          <a:prstGeom prst="rect">
            <a:avLst/>
          </a:prstGeom>
          <a:noFill/>
          <a:ln/>
        </p:spPr>
        <p:txBody>
          <a:bodyPr wrap="square" lIns="0" tIns="0" rIns="0" bIns="0" rtlCol="0" anchor="t"/>
          <a:lstStyle/>
          <a:p>
            <a:pPr marL="0" indent="0" algn="l">
              <a:lnSpc>
                <a:spcPts val="1491"/>
              </a:lnSpc>
              <a:buNone/>
            </a:pPr>
            <a:r>
              <a:rPr lang="en-US" sz="1050" dirty="0">
                <a:solidFill>
                  <a:srgbClr val="141A24"/>
                </a:solidFill>
                <a:latin typeface="Saira Medium" pitchFamily="34" charset="0"/>
                <a:ea typeface="Saira Medium" pitchFamily="34" charset="-122"/>
                <a:cs typeface="Saira Medium" pitchFamily="34" charset="-120"/>
              </a:rPr>
              <a:t>GET /api/capabilities</a:t>
            </a:r>
            <a:r>
              <a:rPr lang="en-US" sz="1050" dirty="0">
                <a:solidFill>
                  <a:srgbClr val="606A79"/>
                </a:solidFill>
                <a:latin typeface="Saira" pitchFamily="34" charset="0"/>
                <a:ea typeface="Saira" pitchFamily="34" charset="-122"/>
                <a:cs typeface="Saira" pitchFamily="34" charset="-120"/>
              </a:rPr>
              <a:t> — says which discovery methods are live and why the rest are not, instead of silently finding fewer devices.</a:t>
            </a:r>
            <a:endParaRPr lang="en-US" sz="1050" dirty="0"/>
          </a:p>
        </p:txBody>
      </p:sp>
      <p:sp>
        <p:nvSpPr>
          <p:cNvPr id="33" name="Shape 30"/>
          <p:cNvSpPr/>
          <p:nvPr/>
        </p:nvSpPr>
        <p:spPr>
          <a:xfrm>
            <a:off x="4473854" y="4597410"/>
            <a:ext cx="100813" cy="100813"/>
          </a:xfrm>
          <a:prstGeom prst="ellipse">
            <a:avLst/>
          </a:prstGeom>
          <a:solidFill>
            <a:srgbClr val="17A05C"/>
          </a:solidFill>
          <a:ln/>
        </p:spPr>
        <p:txBody>
          <a:bodyPr/>
          <a:lstStyle/>
          <a:p>
            <a:endParaRPr lang="en-TR"/>
          </a:p>
        </p:txBody>
      </p:sp>
      <p:sp>
        <p:nvSpPr>
          <p:cNvPr id="34" name="Text 31"/>
          <p:cNvSpPr txBox="1"/>
          <p:nvPr/>
        </p:nvSpPr>
        <p:spPr>
          <a:xfrm>
            <a:off x="4679594" y="4491797"/>
            <a:ext cx="3070250" cy="787527"/>
          </a:xfrm>
          <a:prstGeom prst="rect">
            <a:avLst/>
          </a:prstGeom>
          <a:noFill/>
          <a:ln/>
        </p:spPr>
        <p:txBody>
          <a:bodyPr wrap="square" lIns="0" tIns="0" rIns="0" bIns="0" rtlCol="0" anchor="t"/>
          <a:lstStyle/>
          <a:p>
            <a:pPr marL="0" indent="0" algn="l">
              <a:lnSpc>
                <a:spcPts val="1491"/>
              </a:lnSpc>
              <a:buNone/>
            </a:pPr>
            <a:r>
              <a:rPr lang="en-US" sz="1050" dirty="0">
                <a:solidFill>
                  <a:srgbClr val="141A24"/>
                </a:solidFill>
                <a:latin typeface="Saira Medium" pitchFamily="34" charset="0"/>
                <a:ea typeface="Saira Medium" pitchFamily="34" charset="-122"/>
                <a:cs typeface="Saira Medium" pitchFamily="34" charset="-120"/>
              </a:rPr>
              <a:t>Docker awareness</a:t>
            </a:r>
            <a:r>
              <a:rPr lang="en-US" sz="1050" dirty="0">
                <a:solidFill>
                  <a:srgbClr val="606A79"/>
                </a:solidFill>
                <a:latin typeface="Saira" pitchFamily="34" charset="0"/>
                <a:ea typeface="Saira" pitchFamily="34" charset="-122"/>
                <a:cs typeface="Saira" pitchFamily="34" charset="-120"/>
              </a:rPr>
              <a:t> — containers, virtual networks and IP assignments, nested under the host that runs them.</a:t>
            </a:r>
            <a:endParaRPr lang="en-US" sz="1050" dirty="0"/>
          </a:p>
        </p:txBody>
      </p:sp>
      <p:sp>
        <p:nvSpPr>
          <p:cNvPr id="35" name="Shape 32"/>
          <p:cNvSpPr/>
          <p:nvPr/>
        </p:nvSpPr>
        <p:spPr>
          <a:xfrm>
            <a:off x="4473854" y="5348361"/>
            <a:ext cx="100813" cy="100813"/>
          </a:xfrm>
          <a:prstGeom prst="ellipse">
            <a:avLst/>
          </a:prstGeom>
          <a:solidFill>
            <a:srgbClr val="17A05C"/>
          </a:solidFill>
          <a:ln/>
        </p:spPr>
        <p:txBody>
          <a:bodyPr/>
          <a:lstStyle/>
          <a:p>
            <a:endParaRPr lang="en-TR"/>
          </a:p>
        </p:txBody>
      </p:sp>
      <p:sp>
        <p:nvSpPr>
          <p:cNvPr id="36" name="Text 33"/>
          <p:cNvSpPr txBox="1"/>
          <p:nvPr/>
        </p:nvSpPr>
        <p:spPr>
          <a:xfrm>
            <a:off x="4679594" y="5242748"/>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141A24"/>
                </a:solidFill>
                <a:latin typeface="Saira Medium" pitchFamily="34" charset="0"/>
                <a:ea typeface="Saira Medium" pitchFamily="34" charset="-122"/>
                <a:cs typeface="Saira Medium" pitchFamily="34" charset="-120"/>
              </a:rPr>
              <a:t>InfluxDB 2 push / Prometheus scrape</a:t>
            </a:r>
            <a:r>
              <a:rPr lang="en-US" sz="1050" dirty="0">
                <a:solidFill>
                  <a:srgbClr val="606A79"/>
                </a:solidFill>
                <a:latin typeface="Saira" pitchFamily="34" charset="0"/>
                <a:ea typeface="Saira" pitchFamily="34" charset="-122"/>
                <a:cs typeface="Saira" pitchFamily="34" charset="-120"/>
              </a:rPr>
              <a:t> straight into the Grafana that is already up.</a:t>
            </a:r>
            <a:endParaRPr lang="en-US" sz="1050" dirty="0"/>
          </a:p>
        </p:txBody>
      </p:sp>
      <p:sp>
        <p:nvSpPr>
          <p:cNvPr id="37" name="Shape 34"/>
          <p:cNvSpPr/>
          <p:nvPr/>
        </p:nvSpPr>
        <p:spPr>
          <a:xfrm>
            <a:off x="4473854" y="5909955"/>
            <a:ext cx="100813" cy="100813"/>
          </a:xfrm>
          <a:prstGeom prst="ellipse">
            <a:avLst/>
          </a:prstGeom>
          <a:solidFill>
            <a:srgbClr val="17A05C"/>
          </a:solidFill>
          <a:ln/>
        </p:spPr>
        <p:txBody>
          <a:bodyPr/>
          <a:lstStyle/>
          <a:p>
            <a:endParaRPr lang="en-TR"/>
          </a:p>
        </p:txBody>
      </p:sp>
      <p:sp>
        <p:nvSpPr>
          <p:cNvPr id="38" name="Text 35"/>
          <p:cNvSpPr txBox="1"/>
          <p:nvPr/>
        </p:nvSpPr>
        <p:spPr>
          <a:xfrm>
            <a:off x="4679594" y="5804342"/>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141A24"/>
                </a:solidFill>
                <a:latin typeface="Saira Medium" pitchFamily="34" charset="0"/>
                <a:ea typeface="Saira Medium" pitchFamily="34" charset="-122"/>
                <a:cs typeface="Saira Medium" pitchFamily="34" charset="-120"/>
              </a:rPr>
              <a:t>ntfy, Telegram, Discord, Slack or a webhook</a:t>
            </a:r>
            <a:r>
              <a:rPr lang="en-US" sz="1050" dirty="0">
                <a:solidFill>
                  <a:srgbClr val="606A79"/>
                </a:solidFill>
                <a:latin typeface="Saira" pitchFamily="34" charset="0"/>
                <a:ea typeface="Saira" pitchFamily="34" charset="-122"/>
                <a:cs typeface="Saira" pitchFamily="34" charset="-120"/>
              </a:rPr>
              <a:t> for alerts; the full REST API for everything else.</a:t>
            </a:r>
            <a:endParaRPr lang="en-US" sz="1050" dirty="0"/>
          </a:p>
        </p:txBody>
      </p:sp>
      <p:sp>
        <p:nvSpPr>
          <p:cNvPr id="39" name="Text 36"/>
          <p:cNvSpPr txBox="1"/>
          <p:nvPr/>
        </p:nvSpPr>
        <p:spPr>
          <a:xfrm>
            <a:off x="8207045" y="2488438"/>
            <a:ext cx="3307994" cy="237744"/>
          </a:xfrm>
          <a:prstGeom prst="rect">
            <a:avLst/>
          </a:prstGeom>
          <a:noFill/>
          <a:ln/>
        </p:spPr>
        <p:txBody>
          <a:bodyPr wrap="square" lIns="0" tIns="0" rIns="0" bIns="0" rtlCol="0" anchor="t"/>
          <a:lstStyle/>
          <a:p>
            <a:pPr marL="0" indent="0" algn="l">
              <a:buNone/>
            </a:pPr>
            <a:r>
              <a:rPr lang="en-US" sz="1250" dirty="0">
                <a:solidFill>
                  <a:srgbClr val="D98A1F"/>
                </a:solidFill>
                <a:latin typeface="Saira Cond SemiBold" pitchFamily="34" charset="0"/>
                <a:ea typeface="Saira Cond SemiBold" pitchFamily="34" charset="-122"/>
                <a:cs typeface="Saira Cond SemiBold" pitchFamily="34" charset="-120"/>
              </a:rPr>
              <a:t>What they get</a:t>
            </a:r>
            <a:endParaRPr lang="en-US" sz="1250" dirty="0"/>
          </a:p>
        </p:txBody>
      </p:sp>
      <p:sp>
        <p:nvSpPr>
          <p:cNvPr id="40" name="Shape 37"/>
          <p:cNvSpPr/>
          <p:nvPr/>
        </p:nvSpPr>
        <p:spPr>
          <a:xfrm>
            <a:off x="8207045" y="2865628"/>
            <a:ext cx="3307994" cy="0"/>
          </a:xfrm>
          <a:prstGeom prst="line">
            <a:avLst/>
          </a:prstGeom>
          <a:noFill/>
          <a:ln w="22860">
            <a:solidFill>
              <a:srgbClr val="D98A1F"/>
            </a:solidFill>
            <a:prstDash val="solid"/>
          </a:ln>
        </p:spPr>
        <p:txBody>
          <a:bodyPr/>
          <a:lstStyle/>
          <a:p>
            <a:endParaRPr lang="en-TR"/>
          </a:p>
        </p:txBody>
      </p:sp>
      <p:sp>
        <p:nvSpPr>
          <p:cNvPr id="41" name="Shape 38"/>
          <p:cNvSpPr/>
          <p:nvPr/>
        </p:nvSpPr>
        <p:spPr>
          <a:xfrm>
            <a:off x="8239049" y="3095508"/>
            <a:ext cx="100813" cy="100813"/>
          </a:xfrm>
          <a:prstGeom prst="ellipse">
            <a:avLst/>
          </a:prstGeom>
          <a:solidFill>
            <a:srgbClr val="D98A1F"/>
          </a:solidFill>
          <a:ln/>
        </p:spPr>
        <p:txBody>
          <a:bodyPr/>
          <a:lstStyle/>
          <a:p>
            <a:endParaRPr lang="en-TR"/>
          </a:p>
        </p:txBody>
      </p:sp>
      <p:sp>
        <p:nvSpPr>
          <p:cNvPr id="42" name="Text 39"/>
          <p:cNvSpPr txBox="1"/>
          <p:nvPr/>
        </p:nvSpPr>
        <p:spPr>
          <a:xfrm>
            <a:off x="8444789" y="2989895"/>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AGPL-3.0, one container, no account and nothing phoning home.</a:t>
            </a:r>
            <a:endParaRPr lang="en-US" sz="1050" dirty="0"/>
          </a:p>
        </p:txBody>
      </p:sp>
      <p:sp>
        <p:nvSpPr>
          <p:cNvPr id="43" name="Shape 40"/>
          <p:cNvSpPr/>
          <p:nvPr/>
        </p:nvSpPr>
        <p:spPr>
          <a:xfrm>
            <a:off x="8239049" y="3657102"/>
            <a:ext cx="100813" cy="100813"/>
          </a:xfrm>
          <a:prstGeom prst="ellipse">
            <a:avLst/>
          </a:prstGeom>
          <a:solidFill>
            <a:srgbClr val="D98A1F"/>
          </a:solidFill>
          <a:ln/>
        </p:spPr>
        <p:txBody>
          <a:bodyPr/>
          <a:lstStyle/>
          <a:p>
            <a:endParaRPr lang="en-TR"/>
          </a:p>
        </p:txBody>
      </p:sp>
      <p:sp>
        <p:nvSpPr>
          <p:cNvPr id="44" name="Text 41"/>
          <p:cNvSpPr txBox="1"/>
          <p:nvPr/>
        </p:nvSpPr>
        <p:spPr>
          <a:xfrm>
            <a:off x="8444789" y="3551489"/>
            <a:ext cx="3070250" cy="598170"/>
          </a:xfrm>
          <a:prstGeom prst="rect">
            <a:avLst/>
          </a:prstGeom>
          <a:noFill/>
          <a:ln/>
        </p:spPr>
        <p:txBody>
          <a:bodyPr wrap="square" lIns="0" tIns="0" rIns="0" bIns="0" rtlCol="0" anchor="t"/>
          <a:lstStyle/>
          <a:p>
            <a:pPr marL="0" indent="0" algn="l">
              <a:lnSpc>
                <a:spcPts val="1491"/>
              </a:lnSpc>
              <a:buNone/>
            </a:pPr>
            <a:r>
              <a:rPr lang="en-US" sz="945" dirty="0">
                <a:solidFill>
                  <a:srgbClr val="141A24"/>
                </a:solidFill>
                <a:latin typeface="Sometype Mono" pitchFamily="34" charset="0"/>
                <a:ea typeface="Sometype Mono" pitchFamily="34" charset="-122"/>
                <a:cs typeface="Sometype Mono" pitchFamily="34" charset="-120"/>
              </a:rPr>
              <a:t>linux/amd64</a:t>
            </a:r>
            <a:r>
              <a:rPr lang="en-US" sz="1050" dirty="0">
                <a:solidFill>
                  <a:srgbClr val="606A79"/>
                </a:solidFill>
                <a:latin typeface="Saira" pitchFamily="34" charset="0"/>
                <a:ea typeface="Saira" pitchFamily="34" charset="-122"/>
                <a:cs typeface="Saira" pitchFamily="34" charset="-120"/>
              </a:rPr>
              <a:t> and </a:t>
            </a:r>
            <a:r>
              <a:rPr lang="en-US" sz="945" dirty="0">
                <a:solidFill>
                  <a:srgbClr val="141A24"/>
                </a:solidFill>
                <a:latin typeface="Sometype Mono" pitchFamily="34" charset="0"/>
                <a:ea typeface="Sometype Mono" pitchFamily="34" charset="-122"/>
                <a:cs typeface="Sometype Mono" pitchFamily="34" charset="-120"/>
              </a:rPr>
              <a:t>linux/arm64</a:t>
            </a:r>
            <a:r>
              <a:rPr lang="en-US" sz="1050" dirty="0">
                <a:solidFill>
                  <a:srgbClr val="606A79"/>
                </a:solidFill>
                <a:latin typeface="Saira" pitchFamily="34" charset="0"/>
                <a:ea typeface="Saira" pitchFamily="34" charset="-122"/>
                <a:cs typeface="Saira" pitchFamily="34" charset="-120"/>
              </a:rPr>
              <a:t> — the Pi in the cupboard is enough.</a:t>
            </a:r>
            <a:endParaRPr lang="en-US" sz="1050" dirty="0"/>
          </a:p>
        </p:txBody>
      </p:sp>
      <p:sp>
        <p:nvSpPr>
          <p:cNvPr id="45" name="Shape 42"/>
          <p:cNvSpPr/>
          <p:nvPr/>
        </p:nvSpPr>
        <p:spPr>
          <a:xfrm>
            <a:off x="8239049" y="4218696"/>
            <a:ext cx="100813" cy="100813"/>
          </a:xfrm>
          <a:prstGeom prst="ellipse">
            <a:avLst/>
          </a:prstGeom>
          <a:solidFill>
            <a:srgbClr val="D98A1F"/>
          </a:solidFill>
          <a:ln/>
        </p:spPr>
        <p:txBody>
          <a:bodyPr/>
          <a:lstStyle/>
          <a:p>
            <a:endParaRPr lang="en-TR"/>
          </a:p>
        </p:txBody>
      </p:sp>
      <p:sp>
        <p:nvSpPr>
          <p:cNvPr id="46" name="Text 43"/>
          <p:cNvSpPr txBox="1"/>
          <p:nvPr/>
        </p:nvSpPr>
        <p:spPr>
          <a:xfrm>
            <a:off x="8444789" y="4113083"/>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Runs as </a:t>
            </a:r>
            <a:r>
              <a:rPr lang="en-US" sz="1050" dirty="0">
                <a:solidFill>
                  <a:srgbClr val="141A24"/>
                </a:solidFill>
                <a:latin typeface="Saira Medium" pitchFamily="34" charset="0"/>
                <a:ea typeface="Saira Medium" pitchFamily="34" charset="-122"/>
                <a:cs typeface="Saira Medium" pitchFamily="34" charset="-120"/>
              </a:rPr>
              <a:t>uid 1000, never privileged</a:t>
            </a:r>
            <a:r>
              <a:rPr lang="en-US" sz="1050" dirty="0">
                <a:solidFill>
                  <a:srgbClr val="606A79"/>
                </a:solidFill>
                <a:latin typeface="Saira" pitchFamily="34" charset="0"/>
                <a:ea typeface="Saira" pitchFamily="34" charset="-122"/>
                <a:cs typeface="Saira" pitchFamily="34" charset="-120"/>
              </a:rPr>
              <a:t>, on a base image stripped of 70 unpatched CVEs.</a:t>
            </a:r>
            <a:endParaRPr lang="en-US" sz="1050" dirty="0"/>
          </a:p>
        </p:txBody>
      </p:sp>
      <p:sp>
        <p:nvSpPr>
          <p:cNvPr id="47" name="Shape 44"/>
          <p:cNvSpPr/>
          <p:nvPr/>
        </p:nvSpPr>
        <p:spPr>
          <a:xfrm>
            <a:off x="8239049" y="4780290"/>
            <a:ext cx="100813" cy="100813"/>
          </a:xfrm>
          <a:prstGeom prst="ellipse">
            <a:avLst/>
          </a:prstGeom>
          <a:solidFill>
            <a:srgbClr val="D98A1F"/>
          </a:solidFill>
          <a:ln/>
        </p:spPr>
        <p:txBody>
          <a:bodyPr/>
          <a:lstStyle/>
          <a:p>
            <a:endParaRPr lang="en-TR"/>
          </a:p>
        </p:txBody>
      </p:sp>
      <p:sp>
        <p:nvSpPr>
          <p:cNvPr id="48" name="Text 45"/>
          <p:cNvSpPr txBox="1"/>
          <p:nvPr/>
        </p:nvSpPr>
        <p:spPr>
          <a:xfrm>
            <a:off x="8444789" y="4674677"/>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Scan history and rotating daily logs that survive a restart.</a:t>
            </a:r>
            <a:endParaRPr lang="en-US" sz="1050" dirty="0"/>
          </a:p>
        </p:txBody>
      </p:sp>
      <p:sp>
        <p:nvSpPr>
          <p:cNvPr id="49" name="Shape 46"/>
          <p:cNvSpPr/>
          <p:nvPr/>
        </p:nvSpPr>
        <p:spPr>
          <a:xfrm>
            <a:off x="8239049" y="5341884"/>
            <a:ext cx="100813" cy="100813"/>
          </a:xfrm>
          <a:prstGeom prst="ellipse">
            <a:avLst/>
          </a:prstGeom>
          <a:solidFill>
            <a:srgbClr val="D98A1F"/>
          </a:solidFill>
          <a:ln/>
        </p:spPr>
        <p:txBody>
          <a:bodyPr/>
          <a:lstStyle/>
          <a:p>
            <a:endParaRPr lang="en-TR"/>
          </a:p>
        </p:txBody>
      </p:sp>
      <p:sp>
        <p:nvSpPr>
          <p:cNvPr id="50" name="Text 47"/>
          <p:cNvSpPr txBox="1"/>
          <p:nvPr/>
        </p:nvSpPr>
        <p:spPr>
          <a:xfrm>
            <a:off x="8444789" y="5236271"/>
            <a:ext cx="3070250" cy="787527"/>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A device store that snapshots itself before every save, so a bad scan is one file-copy away from undone.</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1024452"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1024452"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Who it's for</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Shape 8"/>
          <p:cNvSpPr/>
          <p:nvPr/>
        </p:nvSpPr>
        <p:spPr>
          <a:xfrm>
            <a:off x="676656" y="987552"/>
            <a:ext cx="1129792" cy="274320"/>
          </a:xfrm>
          <a:prstGeom prst="roundRect">
            <a:avLst>
              <a:gd name="adj" fmla="val 50000"/>
            </a:avLst>
          </a:prstGeom>
          <a:solidFill>
            <a:srgbClr val="3D6FF5"/>
          </a:solidFill>
          <a:ln w="12700">
            <a:solidFill>
              <a:srgbClr val="3D6FF5"/>
            </a:solidFill>
            <a:prstDash val="solid"/>
          </a:ln>
        </p:spPr>
        <p:txBody>
          <a:bodyPr/>
          <a:lstStyle/>
          <a:p>
            <a:endParaRPr lang="en-TR"/>
          </a:p>
        </p:txBody>
      </p:sp>
      <p:sp>
        <p:nvSpPr>
          <p:cNvPr id="12" name="Text 9"/>
          <p:cNvSpPr txBox="1"/>
          <p:nvPr/>
        </p:nvSpPr>
        <p:spPr>
          <a:xfrm>
            <a:off x="676656" y="1052321"/>
            <a:ext cx="1129792" cy="274320"/>
          </a:xfrm>
          <a:prstGeom prst="rect">
            <a:avLst/>
          </a:prstGeom>
          <a:noFill/>
          <a:ln/>
        </p:spPr>
        <p:txBody>
          <a:bodyPr wrap="square" lIns="0" tIns="0" rIns="0" bIns="0" rtlCol="0" anchor="t"/>
          <a:lstStyle/>
          <a:p>
            <a:pPr marL="0" indent="0" algn="ctr">
              <a:buNone/>
            </a:pPr>
            <a:r>
              <a:rPr lang="en-US" sz="850" kern="0" spc="51" dirty="0">
                <a:solidFill>
                  <a:srgbClr val="FFFFFF"/>
                </a:solidFill>
                <a:latin typeface="Sometype Mono" pitchFamily="34" charset="0"/>
                <a:ea typeface="Sometype Mono" pitchFamily="34" charset="-122"/>
                <a:cs typeface="Sometype Mono" pitchFamily="34" charset="-120"/>
              </a:rPr>
              <a:t>Persona 02</a:t>
            </a:r>
            <a:endParaRPr lang="en-US" sz="850" dirty="0"/>
          </a:p>
        </p:txBody>
      </p:sp>
      <p:sp>
        <p:nvSpPr>
          <p:cNvPr id="13" name="Text 10"/>
          <p:cNvSpPr txBox="1"/>
          <p:nvPr/>
        </p:nvSpPr>
        <p:spPr>
          <a:xfrm>
            <a:off x="676656" y="1269919"/>
            <a:ext cx="10808208" cy="813816"/>
          </a:xfrm>
          <a:prstGeom prst="rect">
            <a:avLst/>
          </a:prstGeom>
          <a:noFill/>
          <a:ln/>
        </p:spPr>
        <p:txBody>
          <a:bodyPr wrap="square" lIns="0" tIns="0" rIns="0" bIns="0" rtlCol="0" anchor="t"/>
          <a:lstStyle/>
          <a:p>
            <a:pPr marL="0" indent="0" algn="l">
              <a:lnSpc>
                <a:spcPts val="3888"/>
              </a:lnSpc>
              <a:buNone/>
            </a:pPr>
            <a:r>
              <a:rPr lang="en-US" sz="3600" b="1" kern="0" spc="-50" dirty="0">
                <a:solidFill>
                  <a:srgbClr val="141A24"/>
                </a:solidFill>
                <a:latin typeface="Saira Cond" pitchFamily="34" charset="0"/>
                <a:ea typeface="Saira Cond" pitchFamily="34" charset="-122"/>
                <a:cs typeface="Saira Cond" pitchFamily="34" charset="-120"/>
              </a:rPr>
              <a:t>Smart-home owner / Home Assistant user</a:t>
            </a:r>
            <a:endParaRPr lang="en-US" sz="3600" dirty="0"/>
          </a:p>
        </p:txBody>
      </p:sp>
      <p:sp>
        <p:nvSpPr>
          <p:cNvPr id="14" name="Text 11"/>
          <p:cNvSpPr txBox="1"/>
          <p:nvPr/>
        </p:nvSpPr>
        <p:spPr>
          <a:xfrm>
            <a:off x="676656" y="1971172"/>
            <a:ext cx="9509760" cy="624713"/>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Has forty devices in Home Assistant and no idea how many more are on the network. Half the house talks Zigbee, and no scanner has ever shown any of it.</a:t>
            </a:r>
            <a:endParaRPr lang="en-US" sz="1150" dirty="0"/>
          </a:p>
        </p:txBody>
      </p:sp>
      <p:sp>
        <p:nvSpPr>
          <p:cNvPr id="15" name="Text 12"/>
          <p:cNvSpPr txBox="1"/>
          <p:nvPr/>
        </p:nvSpPr>
        <p:spPr>
          <a:xfrm>
            <a:off x="676656" y="2700210"/>
            <a:ext cx="3307994" cy="237744"/>
          </a:xfrm>
          <a:prstGeom prst="rect">
            <a:avLst/>
          </a:prstGeom>
          <a:noFill/>
          <a:ln/>
        </p:spPr>
        <p:txBody>
          <a:bodyPr wrap="square" lIns="0" tIns="0" rIns="0" bIns="0" rtlCol="0" anchor="t"/>
          <a:lstStyle/>
          <a:p>
            <a:pPr marL="0" indent="0" algn="l">
              <a:buNone/>
            </a:pPr>
            <a:r>
              <a:rPr lang="en-US" sz="1250" dirty="0">
                <a:solidFill>
                  <a:srgbClr val="3D6FF5"/>
                </a:solidFill>
                <a:latin typeface="Saira Cond SemiBold" pitchFamily="34" charset="0"/>
                <a:ea typeface="Saira Cond SemiBold" pitchFamily="34" charset="-122"/>
                <a:cs typeface="Saira Cond SemiBold" pitchFamily="34" charset="-120"/>
              </a:rPr>
              <a:t>The pain today</a:t>
            </a:r>
            <a:endParaRPr lang="en-US" sz="1250" dirty="0"/>
          </a:p>
        </p:txBody>
      </p:sp>
      <p:sp>
        <p:nvSpPr>
          <p:cNvPr id="16" name="Shape 13"/>
          <p:cNvSpPr/>
          <p:nvPr/>
        </p:nvSpPr>
        <p:spPr>
          <a:xfrm>
            <a:off x="676656" y="3077400"/>
            <a:ext cx="3307994" cy="0"/>
          </a:xfrm>
          <a:prstGeom prst="line">
            <a:avLst/>
          </a:prstGeom>
          <a:noFill/>
          <a:ln w="22860">
            <a:solidFill>
              <a:srgbClr val="3D6FF5"/>
            </a:solidFill>
            <a:prstDash val="solid"/>
          </a:ln>
        </p:spPr>
        <p:txBody>
          <a:bodyPr/>
          <a:lstStyle/>
          <a:p>
            <a:endParaRPr lang="en-TR"/>
          </a:p>
        </p:txBody>
      </p:sp>
      <p:sp>
        <p:nvSpPr>
          <p:cNvPr id="17" name="Shape 14"/>
          <p:cNvSpPr/>
          <p:nvPr/>
        </p:nvSpPr>
        <p:spPr>
          <a:xfrm>
            <a:off x="708660" y="3307281"/>
            <a:ext cx="100813" cy="100813"/>
          </a:xfrm>
          <a:prstGeom prst="ellipse">
            <a:avLst/>
          </a:prstGeom>
          <a:solidFill>
            <a:srgbClr val="3D6FF5"/>
          </a:solidFill>
          <a:ln/>
        </p:spPr>
        <p:txBody>
          <a:bodyPr/>
          <a:lstStyle/>
          <a:p>
            <a:endParaRPr lang="en-TR"/>
          </a:p>
        </p:txBody>
      </p:sp>
      <p:sp>
        <p:nvSpPr>
          <p:cNvPr id="18" name="Text 15"/>
          <p:cNvSpPr txBox="1"/>
          <p:nvPr/>
        </p:nvSpPr>
        <p:spPr>
          <a:xfrm>
            <a:off x="914400" y="3201667"/>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Zigbee bulbs and Z-Wave locks are invisible to every IP scanner they have tried.</a:t>
            </a:r>
            <a:endParaRPr lang="en-US" sz="1050" dirty="0"/>
          </a:p>
        </p:txBody>
      </p:sp>
      <p:sp>
        <p:nvSpPr>
          <p:cNvPr id="19" name="Shape 16"/>
          <p:cNvSpPr/>
          <p:nvPr/>
        </p:nvSpPr>
        <p:spPr>
          <a:xfrm>
            <a:off x="708660" y="3868875"/>
            <a:ext cx="100813" cy="100813"/>
          </a:xfrm>
          <a:prstGeom prst="ellipse">
            <a:avLst/>
          </a:prstGeom>
          <a:solidFill>
            <a:srgbClr val="3D6FF5"/>
          </a:solidFill>
          <a:ln/>
        </p:spPr>
        <p:txBody>
          <a:bodyPr/>
          <a:lstStyle/>
          <a:p>
            <a:endParaRPr lang="en-TR"/>
          </a:p>
        </p:txBody>
      </p:sp>
      <p:sp>
        <p:nvSpPr>
          <p:cNvPr id="20" name="Text 17"/>
          <p:cNvSpPr txBox="1"/>
          <p:nvPr/>
        </p:nvSpPr>
        <p:spPr>
          <a:xfrm>
            <a:off x="914400" y="3763261"/>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A device stopped responding last week and nobody noticed until the automation failed.</a:t>
            </a:r>
            <a:endParaRPr lang="en-US" sz="1050" dirty="0"/>
          </a:p>
        </p:txBody>
      </p:sp>
      <p:sp>
        <p:nvSpPr>
          <p:cNvPr id="21" name="Shape 18"/>
          <p:cNvSpPr/>
          <p:nvPr/>
        </p:nvSpPr>
        <p:spPr>
          <a:xfrm>
            <a:off x="708660" y="4430469"/>
            <a:ext cx="100813" cy="100813"/>
          </a:xfrm>
          <a:prstGeom prst="ellipse">
            <a:avLst/>
          </a:prstGeom>
          <a:solidFill>
            <a:srgbClr val="3D6FF5"/>
          </a:solidFill>
          <a:ln/>
        </p:spPr>
        <p:txBody>
          <a:bodyPr/>
          <a:lstStyle/>
          <a:p>
            <a:endParaRPr lang="en-TR"/>
          </a:p>
        </p:txBody>
      </p:sp>
      <p:sp>
        <p:nvSpPr>
          <p:cNvPr id="22" name="Text 19"/>
          <p:cNvSpPr txBox="1"/>
          <p:nvPr/>
        </p:nvSpPr>
        <p:spPr>
          <a:xfrm>
            <a:off x="914400" y="4324855"/>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HA's device registry and the actual network have quietly drifted apart.</a:t>
            </a:r>
            <a:endParaRPr lang="en-US" sz="1050" dirty="0"/>
          </a:p>
        </p:txBody>
      </p:sp>
      <p:sp>
        <p:nvSpPr>
          <p:cNvPr id="23" name="Shape 20"/>
          <p:cNvSpPr/>
          <p:nvPr/>
        </p:nvSpPr>
        <p:spPr>
          <a:xfrm>
            <a:off x="708660" y="4992063"/>
            <a:ext cx="100813" cy="100813"/>
          </a:xfrm>
          <a:prstGeom prst="ellipse">
            <a:avLst/>
          </a:prstGeom>
          <a:solidFill>
            <a:srgbClr val="3D6FF5"/>
          </a:solidFill>
          <a:ln/>
        </p:spPr>
        <p:txBody>
          <a:bodyPr/>
          <a:lstStyle/>
          <a:p>
            <a:endParaRPr lang="en-TR"/>
          </a:p>
        </p:txBody>
      </p:sp>
      <p:sp>
        <p:nvSpPr>
          <p:cNvPr id="24" name="Text 21"/>
          <p:cNvSpPr txBox="1"/>
          <p:nvPr/>
        </p:nvSpPr>
        <p:spPr>
          <a:xfrm>
            <a:off x="914400" y="4886449"/>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Adding a new device to HA means hunting for its IP by hand.</a:t>
            </a:r>
            <a:endParaRPr lang="en-US" sz="1050" dirty="0"/>
          </a:p>
        </p:txBody>
      </p:sp>
      <p:sp>
        <p:nvSpPr>
          <p:cNvPr id="25" name="Shape 22"/>
          <p:cNvSpPr/>
          <p:nvPr/>
        </p:nvSpPr>
        <p:spPr>
          <a:xfrm>
            <a:off x="708660" y="5553657"/>
            <a:ext cx="100813" cy="100813"/>
          </a:xfrm>
          <a:prstGeom prst="ellipse">
            <a:avLst/>
          </a:prstGeom>
          <a:solidFill>
            <a:srgbClr val="3D6FF5"/>
          </a:solidFill>
          <a:ln/>
        </p:spPr>
        <p:txBody>
          <a:bodyPr/>
          <a:lstStyle/>
          <a:p>
            <a:endParaRPr lang="en-TR"/>
          </a:p>
        </p:txBody>
      </p:sp>
      <p:sp>
        <p:nvSpPr>
          <p:cNvPr id="26" name="Text 23"/>
          <p:cNvSpPr txBox="1"/>
          <p:nvPr/>
        </p:nvSpPr>
        <p:spPr>
          <a:xfrm>
            <a:off x="914400" y="5448043"/>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NetAlertX finds the IP devices, but not the radio ones.</a:t>
            </a:r>
            <a:endParaRPr lang="en-US" sz="1050" dirty="0"/>
          </a:p>
        </p:txBody>
      </p:sp>
      <p:sp>
        <p:nvSpPr>
          <p:cNvPr id="27" name="Text 24"/>
          <p:cNvSpPr txBox="1"/>
          <p:nvPr/>
        </p:nvSpPr>
        <p:spPr>
          <a:xfrm>
            <a:off x="4441850" y="2700210"/>
            <a:ext cx="3307994" cy="237744"/>
          </a:xfrm>
          <a:prstGeom prst="rect">
            <a:avLst/>
          </a:prstGeom>
          <a:noFill/>
          <a:ln/>
        </p:spPr>
        <p:txBody>
          <a:bodyPr wrap="square" lIns="0" tIns="0" rIns="0" bIns="0" rtlCol="0" anchor="t"/>
          <a:lstStyle/>
          <a:p>
            <a:pPr marL="0" indent="0" algn="l">
              <a:buNone/>
            </a:pPr>
            <a:r>
              <a:rPr lang="en-US" sz="1250" dirty="0">
                <a:solidFill>
                  <a:srgbClr val="17A05C"/>
                </a:solidFill>
                <a:latin typeface="Saira Cond SemiBold" pitchFamily="34" charset="0"/>
                <a:ea typeface="Saira Cond SemiBold" pitchFamily="34" charset="-122"/>
                <a:cs typeface="Saira Cond SemiBold" pitchFamily="34" charset="-120"/>
              </a:rPr>
              <a:t>What they use</a:t>
            </a:r>
            <a:endParaRPr lang="en-US" sz="1250" dirty="0"/>
          </a:p>
        </p:txBody>
      </p:sp>
      <p:sp>
        <p:nvSpPr>
          <p:cNvPr id="28" name="Shape 25"/>
          <p:cNvSpPr/>
          <p:nvPr/>
        </p:nvSpPr>
        <p:spPr>
          <a:xfrm>
            <a:off x="4441850" y="3077400"/>
            <a:ext cx="3307994" cy="0"/>
          </a:xfrm>
          <a:prstGeom prst="line">
            <a:avLst/>
          </a:prstGeom>
          <a:noFill/>
          <a:ln w="22860">
            <a:solidFill>
              <a:srgbClr val="17A05C"/>
            </a:solidFill>
            <a:prstDash val="solid"/>
          </a:ln>
        </p:spPr>
        <p:txBody>
          <a:bodyPr/>
          <a:lstStyle/>
          <a:p>
            <a:endParaRPr lang="en-TR"/>
          </a:p>
        </p:txBody>
      </p:sp>
      <p:sp>
        <p:nvSpPr>
          <p:cNvPr id="29" name="Shape 26"/>
          <p:cNvSpPr/>
          <p:nvPr/>
        </p:nvSpPr>
        <p:spPr>
          <a:xfrm>
            <a:off x="4473854" y="3297954"/>
            <a:ext cx="86411" cy="86411"/>
          </a:xfrm>
          <a:prstGeom prst="ellipse">
            <a:avLst/>
          </a:prstGeom>
          <a:solidFill>
            <a:srgbClr val="17A05C"/>
          </a:solidFill>
          <a:ln/>
        </p:spPr>
        <p:txBody>
          <a:bodyPr/>
          <a:lstStyle/>
          <a:p>
            <a:endParaRPr lang="en-TR"/>
          </a:p>
        </p:txBody>
      </p:sp>
      <p:sp>
        <p:nvSpPr>
          <p:cNvPr id="30" name="Text 27"/>
          <p:cNvSpPr txBox="1"/>
          <p:nvPr/>
        </p:nvSpPr>
        <p:spPr>
          <a:xfrm>
            <a:off x="4679594" y="3207428"/>
            <a:ext cx="3070250" cy="706374"/>
          </a:xfrm>
          <a:prstGeom prst="rect">
            <a:avLst/>
          </a:prstGeom>
          <a:noFill/>
          <a:ln/>
        </p:spPr>
        <p:txBody>
          <a:bodyPr wrap="square" lIns="0" tIns="0" rIns="0" bIns="0" rtlCol="0" anchor="t"/>
          <a:lstStyle/>
          <a:p>
            <a:pPr marL="0" indent="0" algn="l">
              <a:lnSpc>
                <a:spcPts val="1278"/>
              </a:lnSpc>
              <a:buNone/>
            </a:pPr>
            <a:r>
              <a:rPr lang="en-US" sz="900" dirty="0">
                <a:solidFill>
                  <a:srgbClr val="141A24"/>
                </a:solidFill>
                <a:latin typeface="Saira Medium" pitchFamily="34" charset="0"/>
                <a:ea typeface="Saira Medium" pitchFamily="34" charset="-122"/>
                <a:cs typeface="Saira Medium" pitchFamily="34" charset="-120"/>
              </a:rPr>
              <a:t>MQTT discovery</a:t>
            </a:r>
            <a:r>
              <a:rPr lang="en-US" sz="900" dirty="0">
                <a:solidFill>
                  <a:srgbClr val="606A79"/>
                </a:solidFill>
                <a:latin typeface="Saira" pitchFamily="34" charset="0"/>
                <a:ea typeface="Saira" pitchFamily="34" charset="-122"/>
                <a:cs typeface="Saira" pitchFamily="34" charset="-120"/>
              </a:rPr>
              <a:t> — point MyNeS at the Zigbee2MQTT / Z-Wave JS broker that is already running and the radio devices land in the inventory.</a:t>
            </a:r>
            <a:endParaRPr lang="en-US" sz="900" dirty="0"/>
          </a:p>
        </p:txBody>
      </p:sp>
      <p:sp>
        <p:nvSpPr>
          <p:cNvPr id="31" name="Shape 28"/>
          <p:cNvSpPr/>
          <p:nvPr/>
        </p:nvSpPr>
        <p:spPr>
          <a:xfrm>
            <a:off x="4473854" y="3967752"/>
            <a:ext cx="86411" cy="86411"/>
          </a:xfrm>
          <a:prstGeom prst="ellipse">
            <a:avLst/>
          </a:prstGeom>
          <a:solidFill>
            <a:srgbClr val="17A05C"/>
          </a:solidFill>
          <a:ln/>
        </p:spPr>
        <p:txBody>
          <a:bodyPr/>
          <a:lstStyle/>
          <a:p>
            <a:endParaRPr lang="en-TR"/>
          </a:p>
        </p:txBody>
      </p:sp>
      <p:sp>
        <p:nvSpPr>
          <p:cNvPr id="32" name="Text 29"/>
          <p:cNvSpPr txBox="1"/>
          <p:nvPr/>
        </p:nvSpPr>
        <p:spPr>
          <a:xfrm>
            <a:off x="4679594" y="3877226"/>
            <a:ext cx="3070250" cy="544068"/>
          </a:xfrm>
          <a:prstGeom prst="rect">
            <a:avLst/>
          </a:prstGeom>
          <a:noFill/>
          <a:ln/>
        </p:spPr>
        <p:txBody>
          <a:bodyPr wrap="square" lIns="0" tIns="0" rIns="0" bIns="0" rtlCol="0" anchor="t"/>
          <a:lstStyle/>
          <a:p>
            <a:pPr marL="0" indent="0" algn="l">
              <a:lnSpc>
                <a:spcPts val="1278"/>
              </a:lnSpc>
              <a:buNone/>
            </a:pPr>
            <a:r>
              <a:rPr lang="en-US" sz="900" dirty="0">
                <a:solidFill>
                  <a:srgbClr val="141A24"/>
                </a:solidFill>
                <a:latin typeface="Saira Medium" pitchFamily="34" charset="0"/>
                <a:ea typeface="Saira Medium" pitchFamily="34" charset="-122"/>
                <a:cs typeface="Saira Medium" pitchFamily="34" charset="-120"/>
              </a:rPr>
              <a:t>Matter over mDNS</a:t>
            </a:r>
            <a:r>
              <a:rPr lang="en-US" sz="900" dirty="0">
                <a:solidFill>
                  <a:srgbClr val="606A79"/>
                </a:solidFill>
                <a:latin typeface="Saira" pitchFamily="34" charset="0"/>
                <a:ea typeface="Saira" pitchFamily="34" charset="-122"/>
                <a:cs typeface="Saira" pitchFamily="34" charset="-120"/>
              </a:rPr>
              <a:t> (</a:t>
            </a:r>
            <a:r>
              <a:rPr lang="en-US" sz="810" dirty="0">
                <a:solidFill>
                  <a:srgbClr val="141A24"/>
                </a:solidFill>
                <a:latin typeface="Sometype Mono" pitchFamily="34" charset="0"/>
                <a:ea typeface="Sometype Mono" pitchFamily="34" charset="-122"/>
                <a:cs typeface="Sometype Mono" pitchFamily="34" charset="-120"/>
              </a:rPr>
              <a:t>_matter._tcp</a:t>
            </a:r>
            <a:r>
              <a:rPr lang="en-US" sz="900" dirty="0">
                <a:solidFill>
                  <a:srgbClr val="606A79"/>
                </a:solidFill>
                <a:latin typeface="Saira" pitchFamily="34" charset="0"/>
                <a:ea typeface="Saira" pitchFamily="34" charset="-122"/>
                <a:cs typeface="Saira" pitchFamily="34" charset="-120"/>
              </a:rPr>
              <a:t>) and </a:t>
            </a:r>
            <a:r>
              <a:rPr lang="en-US" sz="900" dirty="0">
                <a:solidFill>
                  <a:srgbClr val="141A24"/>
                </a:solidFill>
                <a:latin typeface="Saira Medium" pitchFamily="34" charset="0"/>
                <a:ea typeface="Saira Medium" pitchFamily="34" charset="-122"/>
                <a:cs typeface="Saira Medium" pitchFamily="34" charset="-120"/>
              </a:rPr>
              <a:t>Bluetooth LE</a:t>
            </a:r>
            <a:r>
              <a:rPr lang="en-US" sz="900" dirty="0">
                <a:solidFill>
                  <a:srgbClr val="606A79"/>
                </a:solidFill>
                <a:latin typeface="Saira" pitchFamily="34" charset="0"/>
                <a:ea typeface="Saira" pitchFamily="34" charset="-122"/>
                <a:cs typeface="Saira" pitchFamily="34" charset="-120"/>
              </a:rPr>
              <a:t> advertisements for the rest.</a:t>
            </a:r>
            <a:endParaRPr lang="en-US" sz="900" dirty="0"/>
          </a:p>
        </p:txBody>
      </p:sp>
      <p:sp>
        <p:nvSpPr>
          <p:cNvPr id="33" name="Shape 30"/>
          <p:cNvSpPr/>
          <p:nvPr/>
        </p:nvSpPr>
        <p:spPr>
          <a:xfrm>
            <a:off x="4473854" y="4475244"/>
            <a:ext cx="86411" cy="86411"/>
          </a:xfrm>
          <a:prstGeom prst="ellipse">
            <a:avLst/>
          </a:prstGeom>
          <a:solidFill>
            <a:srgbClr val="17A05C"/>
          </a:solidFill>
          <a:ln/>
        </p:spPr>
        <p:txBody>
          <a:bodyPr/>
          <a:lstStyle/>
          <a:p>
            <a:endParaRPr lang="en-TR"/>
          </a:p>
        </p:txBody>
      </p:sp>
      <p:sp>
        <p:nvSpPr>
          <p:cNvPr id="34" name="Text 31"/>
          <p:cNvSpPr txBox="1"/>
          <p:nvPr/>
        </p:nvSpPr>
        <p:spPr>
          <a:xfrm>
            <a:off x="4679594" y="4384718"/>
            <a:ext cx="3070250" cy="544068"/>
          </a:xfrm>
          <a:prstGeom prst="rect">
            <a:avLst/>
          </a:prstGeom>
          <a:noFill/>
          <a:ln/>
        </p:spPr>
        <p:txBody>
          <a:bodyPr wrap="square" lIns="0" tIns="0" rIns="0" bIns="0" rtlCol="0" anchor="t"/>
          <a:lstStyle/>
          <a:p>
            <a:pPr marL="0" indent="0" algn="l">
              <a:lnSpc>
                <a:spcPts val="1278"/>
              </a:lnSpc>
              <a:buNone/>
            </a:pPr>
            <a:r>
              <a:rPr lang="en-US" sz="900" dirty="0">
                <a:solidFill>
                  <a:srgbClr val="141A24"/>
                </a:solidFill>
                <a:latin typeface="Saira Medium" pitchFamily="34" charset="0"/>
                <a:ea typeface="Saira Medium" pitchFamily="34" charset="-122"/>
                <a:cs typeface="Saira Medium" pitchFamily="34" charset="-120"/>
              </a:rPr>
              <a:t>MQTT Discovery push</a:t>
            </a:r>
            <a:r>
              <a:rPr lang="en-US" sz="900" dirty="0">
                <a:solidFill>
                  <a:srgbClr val="606A79"/>
                </a:solidFill>
                <a:latin typeface="Saira" pitchFamily="34" charset="0"/>
                <a:ea typeface="Saira" pitchFamily="34" charset="-122"/>
                <a:cs typeface="Saira" pitchFamily="34" charset="-120"/>
              </a:rPr>
              <a:t> — every device becomes an HA entity automatically, no template YAML.</a:t>
            </a:r>
            <a:endParaRPr lang="en-US" sz="900" dirty="0"/>
          </a:p>
        </p:txBody>
      </p:sp>
      <p:sp>
        <p:nvSpPr>
          <p:cNvPr id="35" name="Shape 32"/>
          <p:cNvSpPr/>
          <p:nvPr/>
        </p:nvSpPr>
        <p:spPr>
          <a:xfrm>
            <a:off x="4473854" y="4982736"/>
            <a:ext cx="86411" cy="86411"/>
          </a:xfrm>
          <a:prstGeom prst="ellipse">
            <a:avLst/>
          </a:prstGeom>
          <a:solidFill>
            <a:srgbClr val="17A05C"/>
          </a:solidFill>
          <a:ln/>
        </p:spPr>
        <p:txBody>
          <a:bodyPr/>
          <a:lstStyle/>
          <a:p>
            <a:endParaRPr lang="en-TR"/>
          </a:p>
        </p:txBody>
      </p:sp>
      <p:sp>
        <p:nvSpPr>
          <p:cNvPr id="36" name="Text 33"/>
          <p:cNvSpPr txBox="1"/>
          <p:nvPr/>
        </p:nvSpPr>
        <p:spPr>
          <a:xfrm>
            <a:off x="4679594" y="4892210"/>
            <a:ext cx="3070250" cy="544068"/>
          </a:xfrm>
          <a:prstGeom prst="rect">
            <a:avLst/>
          </a:prstGeom>
          <a:noFill/>
          <a:ln/>
        </p:spPr>
        <p:txBody>
          <a:bodyPr wrap="square" lIns="0" tIns="0" rIns="0" bIns="0" rtlCol="0" anchor="t"/>
          <a:lstStyle/>
          <a:p>
            <a:pPr marL="0" indent="0" algn="l">
              <a:lnSpc>
                <a:spcPts val="1278"/>
              </a:lnSpc>
              <a:buNone/>
            </a:pPr>
            <a:r>
              <a:rPr lang="en-US" sz="900" dirty="0">
                <a:solidFill>
                  <a:srgbClr val="141A24"/>
                </a:solidFill>
                <a:latin typeface="Saira Medium" pitchFamily="34" charset="0"/>
                <a:ea typeface="Saira Medium" pitchFamily="34" charset="-122"/>
                <a:cs typeface="Saira Medium" pitchFamily="34" charset="-120"/>
              </a:rPr>
              <a:t>REST / WebSocket pull</a:t>
            </a:r>
            <a:r>
              <a:rPr lang="en-US" sz="900" dirty="0">
                <a:solidFill>
                  <a:srgbClr val="606A79"/>
                </a:solidFill>
                <a:latin typeface="Saira" pitchFamily="34" charset="0"/>
                <a:ea typeface="Saira" pitchFamily="34" charset="-122"/>
                <a:cs typeface="Saira" pitchFamily="34" charset="-120"/>
              </a:rPr>
              <a:t> from HA to compare found devices against HA's registry and flag the ones that unplugged.</a:t>
            </a:r>
            <a:endParaRPr lang="en-US" sz="900" dirty="0"/>
          </a:p>
        </p:txBody>
      </p:sp>
      <p:sp>
        <p:nvSpPr>
          <p:cNvPr id="37" name="Shape 34"/>
          <p:cNvSpPr/>
          <p:nvPr/>
        </p:nvSpPr>
        <p:spPr>
          <a:xfrm>
            <a:off x="4473854" y="5490228"/>
            <a:ext cx="86411" cy="86411"/>
          </a:xfrm>
          <a:prstGeom prst="ellipse">
            <a:avLst/>
          </a:prstGeom>
          <a:solidFill>
            <a:srgbClr val="17A05C"/>
          </a:solidFill>
          <a:ln/>
        </p:spPr>
        <p:txBody>
          <a:bodyPr/>
          <a:lstStyle/>
          <a:p>
            <a:endParaRPr lang="en-TR"/>
          </a:p>
        </p:txBody>
      </p:sp>
      <p:sp>
        <p:nvSpPr>
          <p:cNvPr id="38" name="Text 35"/>
          <p:cNvSpPr txBox="1"/>
          <p:nvPr/>
        </p:nvSpPr>
        <p:spPr>
          <a:xfrm>
            <a:off x="4679594" y="5399702"/>
            <a:ext cx="3070250" cy="544068"/>
          </a:xfrm>
          <a:prstGeom prst="rect">
            <a:avLst/>
          </a:prstGeom>
          <a:noFill/>
          <a:ln/>
        </p:spPr>
        <p:txBody>
          <a:bodyPr wrap="square" lIns="0" tIns="0" rIns="0" bIns="0" rtlCol="0" anchor="t"/>
          <a:lstStyle/>
          <a:p>
            <a:pPr marL="0" indent="0" algn="l">
              <a:lnSpc>
                <a:spcPts val="1278"/>
              </a:lnSpc>
              <a:buNone/>
            </a:pPr>
            <a:r>
              <a:rPr lang="en-US" sz="900" dirty="0">
                <a:solidFill>
                  <a:srgbClr val="141A24"/>
                </a:solidFill>
                <a:latin typeface="Saira Medium" pitchFamily="34" charset="0"/>
                <a:ea typeface="Saira Medium" pitchFamily="34" charset="-122"/>
                <a:cs typeface="Saira Medium" pitchFamily="34" charset="-120"/>
              </a:rPr>
              <a:t>The Home Assistant add-on</a:t>
            </a:r>
            <a:r>
              <a:rPr lang="en-US" sz="900" dirty="0">
                <a:solidFill>
                  <a:srgbClr val="606A79"/>
                </a:solidFill>
                <a:latin typeface="Saira" pitchFamily="34" charset="0"/>
                <a:ea typeface="Saira" pitchFamily="34" charset="-122"/>
                <a:cs typeface="Saira" pitchFamily="34" charset="-120"/>
              </a:rPr>
              <a:t> (</a:t>
            </a:r>
            <a:r>
              <a:rPr lang="en-US" sz="810" dirty="0">
                <a:solidFill>
                  <a:srgbClr val="141A24"/>
                </a:solidFill>
                <a:latin typeface="Sometype Mono" pitchFamily="34" charset="0"/>
                <a:ea typeface="Sometype Mono" pitchFamily="34" charset="-122"/>
                <a:cs typeface="Sometype Mono" pitchFamily="34" charset="-120"/>
              </a:rPr>
              <a:t>mynes-addon</a:t>
            </a:r>
            <a:r>
              <a:rPr lang="en-US" sz="900" dirty="0">
                <a:solidFill>
                  <a:srgbClr val="606A79"/>
                </a:solidFill>
                <a:latin typeface="Saira" pitchFamily="34" charset="0"/>
                <a:ea typeface="Saira" pitchFamily="34" charset="-122"/>
                <a:cs typeface="Saira" pitchFamily="34" charset="-120"/>
              </a:rPr>
              <a:t>) so it installs from the Add-on Store like anything else.</a:t>
            </a:r>
            <a:endParaRPr lang="en-US" sz="900" dirty="0"/>
          </a:p>
        </p:txBody>
      </p:sp>
      <p:sp>
        <p:nvSpPr>
          <p:cNvPr id="39" name="Shape 36"/>
          <p:cNvSpPr/>
          <p:nvPr/>
        </p:nvSpPr>
        <p:spPr>
          <a:xfrm>
            <a:off x="4473854" y="5997720"/>
            <a:ext cx="86411" cy="86411"/>
          </a:xfrm>
          <a:prstGeom prst="ellipse">
            <a:avLst/>
          </a:prstGeom>
          <a:solidFill>
            <a:srgbClr val="17A05C"/>
          </a:solidFill>
          <a:ln/>
        </p:spPr>
        <p:txBody>
          <a:bodyPr/>
          <a:lstStyle/>
          <a:p>
            <a:endParaRPr lang="en-TR"/>
          </a:p>
        </p:txBody>
      </p:sp>
      <p:sp>
        <p:nvSpPr>
          <p:cNvPr id="40" name="Text 37"/>
          <p:cNvSpPr txBox="1"/>
          <p:nvPr/>
        </p:nvSpPr>
        <p:spPr>
          <a:xfrm>
            <a:off x="4679594" y="5907194"/>
            <a:ext cx="3070250" cy="544068"/>
          </a:xfrm>
          <a:prstGeom prst="rect">
            <a:avLst/>
          </a:prstGeom>
          <a:noFill/>
          <a:ln/>
        </p:spPr>
        <p:txBody>
          <a:bodyPr wrap="square" lIns="0" tIns="0" rIns="0" bIns="0" rtlCol="0" anchor="t"/>
          <a:lstStyle/>
          <a:p>
            <a:pPr marL="0" indent="0" algn="l">
              <a:lnSpc>
                <a:spcPts val="1278"/>
              </a:lnSpc>
              <a:buNone/>
            </a:pPr>
            <a:r>
              <a:rPr lang="en-US" sz="900" dirty="0">
                <a:solidFill>
                  <a:srgbClr val="141A24"/>
                </a:solidFill>
                <a:latin typeface="Saira Medium" pitchFamily="34" charset="0"/>
                <a:ea typeface="Saira Medium" pitchFamily="34" charset="-122"/>
                <a:cs typeface="Saira Medium" pitchFamily="34" charset="-120"/>
              </a:rPr>
              <a:t>The floor plan</a:t>
            </a:r>
            <a:r>
              <a:rPr lang="en-US" sz="900" dirty="0">
                <a:solidFill>
                  <a:srgbClr val="606A79"/>
                </a:solidFill>
                <a:latin typeface="Saira" pitchFamily="34" charset="0"/>
                <a:ea typeface="Saira" pitchFamily="34" charset="-122"/>
                <a:cs typeface="Saira" pitchFamily="34" charset="-120"/>
              </a:rPr>
              <a:t> — drag each device into the room it is actually in.</a:t>
            </a:r>
            <a:endParaRPr lang="en-US" sz="900" dirty="0"/>
          </a:p>
        </p:txBody>
      </p:sp>
      <p:sp>
        <p:nvSpPr>
          <p:cNvPr id="41" name="Text 38"/>
          <p:cNvSpPr txBox="1"/>
          <p:nvPr/>
        </p:nvSpPr>
        <p:spPr>
          <a:xfrm>
            <a:off x="8207045" y="2700210"/>
            <a:ext cx="3307994" cy="237744"/>
          </a:xfrm>
          <a:prstGeom prst="rect">
            <a:avLst/>
          </a:prstGeom>
          <a:noFill/>
          <a:ln/>
        </p:spPr>
        <p:txBody>
          <a:bodyPr wrap="square" lIns="0" tIns="0" rIns="0" bIns="0" rtlCol="0" anchor="t"/>
          <a:lstStyle/>
          <a:p>
            <a:pPr marL="0" indent="0" algn="l">
              <a:buNone/>
            </a:pPr>
            <a:r>
              <a:rPr lang="en-US" sz="1250" dirty="0">
                <a:solidFill>
                  <a:srgbClr val="D98A1F"/>
                </a:solidFill>
                <a:latin typeface="Saira Cond SemiBold" pitchFamily="34" charset="0"/>
                <a:ea typeface="Saira Cond SemiBold" pitchFamily="34" charset="-122"/>
                <a:cs typeface="Saira Cond SemiBold" pitchFamily="34" charset="-120"/>
              </a:rPr>
              <a:t>What they get</a:t>
            </a:r>
            <a:endParaRPr lang="en-US" sz="1250" dirty="0"/>
          </a:p>
        </p:txBody>
      </p:sp>
      <p:sp>
        <p:nvSpPr>
          <p:cNvPr id="42" name="Shape 39"/>
          <p:cNvSpPr/>
          <p:nvPr/>
        </p:nvSpPr>
        <p:spPr>
          <a:xfrm>
            <a:off x="8207045" y="3077400"/>
            <a:ext cx="3307994" cy="0"/>
          </a:xfrm>
          <a:prstGeom prst="line">
            <a:avLst/>
          </a:prstGeom>
          <a:noFill/>
          <a:ln w="22860">
            <a:solidFill>
              <a:srgbClr val="D98A1F"/>
            </a:solidFill>
            <a:prstDash val="solid"/>
          </a:ln>
        </p:spPr>
        <p:txBody>
          <a:bodyPr/>
          <a:lstStyle/>
          <a:p>
            <a:endParaRPr lang="en-TR"/>
          </a:p>
        </p:txBody>
      </p:sp>
      <p:sp>
        <p:nvSpPr>
          <p:cNvPr id="43" name="Shape 40"/>
          <p:cNvSpPr/>
          <p:nvPr/>
        </p:nvSpPr>
        <p:spPr>
          <a:xfrm>
            <a:off x="8239049" y="3307281"/>
            <a:ext cx="100813" cy="100813"/>
          </a:xfrm>
          <a:prstGeom prst="ellipse">
            <a:avLst/>
          </a:prstGeom>
          <a:solidFill>
            <a:srgbClr val="D98A1F"/>
          </a:solidFill>
          <a:ln/>
        </p:spPr>
        <p:txBody>
          <a:bodyPr/>
          <a:lstStyle/>
          <a:p>
            <a:endParaRPr lang="en-TR"/>
          </a:p>
        </p:txBody>
      </p:sp>
      <p:sp>
        <p:nvSpPr>
          <p:cNvPr id="44" name="Text 41"/>
          <p:cNvSpPr txBox="1"/>
          <p:nvPr/>
        </p:nvSpPr>
        <p:spPr>
          <a:xfrm>
            <a:off x="8444789" y="3201667"/>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The devices that were never on the network map are on it now.</a:t>
            </a:r>
            <a:endParaRPr lang="en-US" sz="1050" dirty="0"/>
          </a:p>
        </p:txBody>
      </p:sp>
      <p:sp>
        <p:nvSpPr>
          <p:cNvPr id="45" name="Shape 42"/>
          <p:cNvSpPr/>
          <p:nvPr/>
        </p:nvSpPr>
        <p:spPr>
          <a:xfrm>
            <a:off x="8239049" y="3868875"/>
            <a:ext cx="100813" cy="100813"/>
          </a:xfrm>
          <a:prstGeom prst="ellipse">
            <a:avLst/>
          </a:prstGeom>
          <a:solidFill>
            <a:srgbClr val="D98A1F"/>
          </a:solidFill>
          <a:ln/>
        </p:spPr>
        <p:txBody>
          <a:bodyPr/>
          <a:lstStyle/>
          <a:p>
            <a:endParaRPr lang="en-TR"/>
          </a:p>
        </p:txBody>
      </p:sp>
      <p:sp>
        <p:nvSpPr>
          <p:cNvPr id="46" name="Text 43"/>
          <p:cNvSpPr txBox="1"/>
          <p:nvPr/>
        </p:nvSpPr>
        <p:spPr>
          <a:xfrm>
            <a:off x="8444789" y="3763261"/>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Offline detection that fires </a:t>
            </a:r>
            <a:r>
              <a:rPr lang="en-US" sz="1050" dirty="0">
                <a:solidFill>
                  <a:srgbClr val="141A24"/>
                </a:solidFill>
                <a:latin typeface="Saira Medium" pitchFamily="34" charset="0"/>
                <a:ea typeface="Saira Medium" pitchFamily="34" charset="-122"/>
                <a:cs typeface="Saira Medium" pitchFamily="34" charset="-120"/>
              </a:rPr>
              <a:t>before</a:t>
            </a:r>
            <a:r>
              <a:rPr lang="en-US" sz="1050" dirty="0">
                <a:solidFill>
                  <a:srgbClr val="606A79"/>
                </a:solidFill>
                <a:latin typeface="Saira" pitchFamily="34" charset="0"/>
                <a:ea typeface="Saira" pitchFamily="34" charset="-122"/>
                <a:cs typeface="Saira" pitchFamily="34" charset="-120"/>
              </a:rPr>
              <a:t> an automation breaks.</a:t>
            </a:r>
            <a:endParaRPr lang="en-US" sz="1050" dirty="0"/>
          </a:p>
        </p:txBody>
      </p:sp>
      <p:sp>
        <p:nvSpPr>
          <p:cNvPr id="47" name="Shape 44"/>
          <p:cNvSpPr/>
          <p:nvPr/>
        </p:nvSpPr>
        <p:spPr>
          <a:xfrm>
            <a:off x="8239049" y="4430469"/>
            <a:ext cx="100813" cy="100813"/>
          </a:xfrm>
          <a:prstGeom prst="ellipse">
            <a:avLst/>
          </a:prstGeom>
          <a:solidFill>
            <a:srgbClr val="D98A1F"/>
          </a:solidFill>
          <a:ln/>
        </p:spPr>
        <p:txBody>
          <a:bodyPr/>
          <a:lstStyle/>
          <a:p>
            <a:endParaRPr lang="en-TR"/>
          </a:p>
        </p:txBody>
      </p:sp>
      <p:sp>
        <p:nvSpPr>
          <p:cNvPr id="48" name="Text 45"/>
          <p:cNvSpPr txBox="1"/>
          <p:nvPr/>
        </p:nvSpPr>
        <p:spPr>
          <a:xfrm>
            <a:off x="8444789" y="4324855"/>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One inventory that HA and a human can both read.</a:t>
            </a:r>
            <a:endParaRPr lang="en-US" sz="1050" dirty="0"/>
          </a:p>
        </p:txBody>
      </p:sp>
      <p:sp>
        <p:nvSpPr>
          <p:cNvPr id="49" name="Shape 46"/>
          <p:cNvSpPr/>
          <p:nvPr/>
        </p:nvSpPr>
        <p:spPr>
          <a:xfrm>
            <a:off x="8239049" y="4992063"/>
            <a:ext cx="100813" cy="100813"/>
          </a:xfrm>
          <a:prstGeom prst="ellipse">
            <a:avLst/>
          </a:prstGeom>
          <a:solidFill>
            <a:srgbClr val="D98A1F"/>
          </a:solidFill>
          <a:ln/>
        </p:spPr>
        <p:txBody>
          <a:bodyPr/>
          <a:lstStyle/>
          <a:p>
            <a:endParaRPr lang="en-TR"/>
          </a:p>
        </p:txBody>
      </p:sp>
      <p:sp>
        <p:nvSpPr>
          <p:cNvPr id="50" name="Text 47"/>
          <p:cNvSpPr txBox="1"/>
          <p:nvPr/>
        </p:nvSpPr>
        <p:spPr>
          <a:xfrm>
            <a:off x="8444789" y="4886449"/>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Alerts through HA's own </a:t>
            </a:r>
            <a:r>
              <a:rPr lang="en-US" sz="945" dirty="0">
                <a:solidFill>
                  <a:srgbClr val="141A24"/>
                </a:solidFill>
                <a:latin typeface="Sometype Mono" pitchFamily="34" charset="0"/>
                <a:ea typeface="Sometype Mono" pitchFamily="34" charset="-122"/>
                <a:cs typeface="Sometype Mono" pitchFamily="34" charset="-120"/>
              </a:rPr>
              <a:t>notify</a:t>
            </a:r>
            <a:r>
              <a:rPr lang="en-US" sz="1050" dirty="0">
                <a:solidFill>
                  <a:srgbClr val="606A79"/>
                </a:solidFill>
                <a:latin typeface="Saira" pitchFamily="34" charset="0"/>
                <a:ea typeface="Saira" pitchFamily="34" charset="-122"/>
                <a:cs typeface="Saira" pitchFamily="34" charset="-120"/>
              </a:rPr>
              <a:t> service — or MyNeS's Web Push, with no HA in the loop at all.</a:t>
            </a:r>
            <a:endParaRPr lang="en-US" sz="1050" dirty="0"/>
          </a:p>
        </p:txBody>
      </p:sp>
      <p:sp>
        <p:nvSpPr>
          <p:cNvPr id="51" name="Shape 48"/>
          <p:cNvSpPr/>
          <p:nvPr/>
        </p:nvSpPr>
        <p:spPr>
          <a:xfrm>
            <a:off x="8239049" y="5553657"/>
            <a:ext cx="100813" cy="100813"/>
          </a:xfrm>
          <a:prstGeom prst="ellipse">
            <a:avLst/>
          </a:prstGeom>
          <a:solidFill>
            <a:srgbClr val="D98A1F"/>
          </a:solidFill>
          <a:ln/>
        </p:spPr>
        <p:txBody>
          <a:bodyPr/>
          <a:lstStyle/>
          <a:p>
            <a:endParaRPr lang="en-TR"/>
          </a:p>
        </p:txBody>
      </p:sp>
      <p:sp>
        <p:nvSpPr>
          <p:cNvPr id="52" name="Text 49"/>
          <p:cNvSpPr txBox="1"/>
          <p:nvPr/>
        </p:nvSpPr>
        <p:spPr>
          <a:xfrm>
            <a:off x="8444789" y="5448043"/>
            <a:ext cx="3070250" cy="787527"/>
          </a:xfrm>
          <a:prstGeom prst="rect">
            <a:avLst/>
          </a:prstGeom>
          <a:noFill/>
          <a:ln/>
        </p:spPr>
        <p:txBody>
          <a:bodyPr wrap="square" lIns="0" tIns="0" rIns="0" bIns="0" rtlCol="0" anchor="t"/>
          <a:lstStyle/>
          <a:p>
            <a:pPr marL="0" indent="0" algn="l">
              <a:lnSpc>
                <a:spcPts val="1491"/>
              </a:lnSpc>
              <a:buNone/>
            </a:pPr>
            <a:r>
              <a:rPr lang="en-US" sz="1050" dirty="0">
                <a:solidFill>
                  <a:srgbClr val="141A24"/>
                </a:solidFill>
                <a:latin typeface="Saira Medium" pitchFamily="34" charset="0"/>
                <a:ea typeface="Saira Medium" pitchFamily="34" charset="-122"/>
                <a:cs typeface="Saira Medium" pitchFamily="34" charset="-120"/>
              </a:rPr>
              <a:t>Named dependency:</a:t>
            </a:r>
            <a:r>
              <a:rPr lang="en-US" sz="1050" dirty="0">
                <a:solidFill>
                  <a:srgbClr val="606A79"/>
                </a:solidFill>
                <a:latin typeface="Saira" pitchFamily="34" charset="0"/>
                <a:ea typeface="Saira" pitchFamily="34" charset="-122"/>
                <a:cs typeface="Saira" pitchFamily="34" charset="-120"/>
              </a:rPr>
              <a:t> Zigbee/Z-Wave visibility needs an existing MQTT broker. MyNeS reads its retained topics; it does not drive a radio.</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1024452"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1024452"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Who it's for</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Shape 8"/>
          <p:cNvSpPr/>
          <p:nvPr/>
        </p:nvSpPr>
        <p:spPr>
          <a:xfrm>
            <a:off x="676656" y="987552"/>
            <a:ext cx="1129792" cy="274320"/>
          </a:xfrm>
          <a:prstGeom prst="roundRect">
            <a:avLst>
              <a:gd name="adj" fmla="val 50000"/>
            </a:avLst>
          </a:prstGeom>
          <a:solidFill>
            <a:srgbClr val="3D6FF5"/>
          </a:solidFill>
          <a:ln w="12700">
            <a:solidFill>
              <a:srgbClr val="3D6FF5"/>
            </a:solidFill>
            <a:prstDash val="solid"/>
          </a:ln>
        </p:spPr>
        <p:txBody>
          <a:bodyPr/>
          <a:lstStyle/>
          <a:p>
            <a:endParaRPr lang="en-TR"/>
          </a:p>
        </p:txBody>
      </p:sp>
      <p:sp>
        <p:nvSpPr>
          <p:cNvPr id="12" name="Text 9"/>
          <p:cNvSpPr txBox="1"/>
          <p:nvPr/>
        </p:nvSpPr>
        <p:spPr>
          <a:xfrm>
            <a:off x="676656" y="1052321"/>
            <a:ext cx="1129792" cy="274320"/>
          </a:xfrm>
          <a:prstGeom prst="rect">
            <a:avLst/>
          </a:prstGeom>
          <a:noFill/>
          <a:ln/>
        </p:spPr>
        <p:txBody>
          <a:bodyPr wrap="square" lIns="0" tIns="0" rIns="0" bIns="0" rtlCol="0" anchor="t"/>
          <a:lstStyle/>
          <a:p>
            <a:pPr marL="0" indent="0" algn="ctr">
              <a:buNone/>
            </a:pPr>
            <a:r>
              <a:rPr lang="en-US" sz="850" kern="0" spc="51" dirty="0">
                <a:solidFill>
                  <a:srgbClr val="FFFFFF"/>
                </a:solidFill>
                <a:latin typeface="Sometype Mono" pitchFamily="34" charset="0"/>
                <a:ea typeface="Sometype Mono" pitchFamily="34" charset="-122"/>
                <a:cs typeface="Sometype Mono" pitchFamily="34" charset="-120"/>
              </a:rPr>
              <a:t>Persona 03</a:t>
            </a:r>
            <a:endParaRPr lang="en-US" sz="850" dirty="0"/>
          </a:p>
        </p:txBody>
      </p:sp>
      <p:sp>
        <p:nvSpPr>
          <p:cNvPr id="13" name="Text 10"/>
          <p:cNvSpPr txBox="1"/>
          <p:nvPr/>
        </p:nvSpPr>
        <p:spPr>
          <a:xfrm>
            <a:off x="676656" y="1269919"/>
            <a:ext cx="10808208" cy="813816"/>
          </a:xfrm>
          <a:prstGeom prst="rect">
            <a:avLst/>
          </a:prstGeom>
          <a:noFill/>
          <a:ln/>
        </p:spPr>
        <p:txBody>
          <a:bodyPr wrap="square" lIns="0" tIns="0" rIns="0" bIns="0" rtlCol="0" anchor="t"/>
          <a:lstStyle/>
          <a:p>
            <a:pPr marL="0" indent="0" algn="l">
              <a:lnSpc>
                <a:spcPts val="3888"/>
              </a:lnSpc>
              <a:buNone/>
            </a:pPr>
            <a:r>
              <a:rPr lang="en-US" sz="3600" b="1" kern="0" spc="-50" dirty="0">
                <a:solidFill>
                  <a:srgbClr val="141A24"/>
                </a:solidFill>
                <a:latin typeface="Saira Cond" pitchFamily="34" charset="0"/>
                <a:ea typeface="Saira Cond" pitchFamily="34" charset="-122"/>
                <a:cs typeface="Saira Cond" pitchFamily="34" charset="-120"/>
              </a:rPr>
              <a:t>End user / the family</a:t>
            </a:r>
            <a:endParaRPr lang="en-US" sz="3600" dirty="0"/>
          </a:p>
        </p:txBody>
      </p:sp>
      <p:sp>
        <p:nvSpPr>
          <p:cNvPr id="14" name="Text 11"/>
          <p:cNvSpPr txBox="1"/>
          <p:nvPr/>
        </p:nvSpPr>
        <p:spPr>
          <a:xfrm>
            <a:off x="676656" y="1971172"/>
            <a:ext cx="9509760" cy="412941"/>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Not a DevOps engineer and will never run Docker. Wants one honest answer to one question: who is on my Wi-Fi right now?</a:t>
            </a:r>
            <a:endParaRPr lang="en-US" sz="1150" dirty="0"/>
          </a:p>
        </p:txBody>
      </p:sp>
      <p:sp>
        <p:nvSpPr>
          <p:cNvPr id="15" name="Text 12"/>
          <p:cNvSpPr txBox="1"/>
          <p:nvPr/>
        </p:nvSpPr>
        <p:spPr>
          <a:xfrm>
            <a:off x="676656" y="2488438"/>
            <a:ext cx="3307994" cy="237744"/>
          </a:xfrm>
          <a:prstGeom prst="rect">
            <a:avLst/>
          </a:prstGeom>
          <a:noFill/>
          <a:ln/>
        </p:spPr>
        <p:txBody>
          <a:bodyPr wrap="square" lIns="0" tIns="0" rIns="0" bIns="0" rtlCol="0" anchor="t"/>
          <a:lstStyle/>
          <a:p>
            <a:pPr marL="0" indent="0" algn="l">
              <a:buNone/>
            </a:pPr>
            <a:r>
              <a:rPr lang="en-US" sz="1250" dirty="0">
                <a:solidFill>
                  <a:srgbClr val="3D6FF5"/>
                </a:solidFill>
                <a:latin typeface="Saira Cond SemiBold" pitchFamily="34" charset="0"/>
                <a:ea typeface="Saira Cond SemiBold" pitchFamily="34" charset="-122"/>
                <a:cs typeface="Saira Cond SemiBold" pitchFamily="34" charset="-120"/>
              </a:rPr>
              <a:t>The pain today</a:t>
            </a:r>
            <a:endParaRPr lang="en-US" sz="1250" dirty="0"/>
          </a:p>
        </p:txBody>
      </p:sp>
      <p:sp>
        <p:nvSpPr>
          <p:cNvPr id="16" name="Shape 13"/>
          <p:cNvSpPr/>
          <p:nvPr/>
        </p:nvSpPr>
        <p:spPr>
          <a:xfrm>
            <a:off x="676656" y="2865628"/>
            <a:ext cx="3307994" cy="0"/>
          </a:xfrm>
          <a:prstGeom prst="line">
            <a:avLst/>
          </a:prstGeom>
          <a:noFill/>
          <a:ln w="22860">
            <a:solidFill>
              <a:srgbClr val="3D6FF5"/>
            </a:solidFill>
            <a:prstDash val="solid"/>
          </a:ln>
        </p:spPr>
        <p:txBody>
          <a:bodyPr/>
          <a:lstStyle/>
          <a:p>
            <a:endParaRPr lang="en-TR"/>
          </a:p>
        </p:txBody>
      </p:sp>
      <p:sp>
        <p:nvSpPr>
          <p:cNvPr id="17" name="Shape 14"/>
          <p:cNvSpPr/>
          <p:nvPr/>
        </p:nvSpPr>
        <p:spPr>
          <a:xfrm>
            <a:off x="708660" y="3095508"/>
            <a:ext cx="100813" cy="100813"/>
          </a:xfrm>
          <a:prstGeom prst="ellipse">
            <a:avLst/>
          </a:prstGeom>
          <a:solidFill>
            <a:srgbClr val="3D6FF5"/>
          </a:solidFill>
          <a:ln/>
        </p:spPr>
        <p:txBody>
          <a:bodyPr/>
          <a:lstStyle/>
          <a:p>
            <a:endParaRPr lang="en-TR"/>
          </a:p>
        </p:txBody>
      </p:sp>
      <p:sp>
        <p:nvSpPr>
          <p:cNvPr id="18" name="Text 15"/>
          <p:cNvSpPr txBox="1"/>
          <p:nvPr/>
        </p:nvSpPr>
        <p:spPr>
          <a:xfrm>
            <a:off x="914400" y="2989895"/>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The router's admin page lists twenty MAC addresses and names none of them.</a:t>
            </a:r>
            <a:endParaRPr lang="en-US" sz="1050" dirty="0"/>
          </a:p>
        </p:txBody>
      </p:sp>
      <p:sp>
        <p:nvSpPr>
          <p:cNvPr id="19" name="Shape 16"/>
          <p:cNvSpPr/>
          <p:nvPr/>
        </p:nvSpPr>
        <p:spPr>
          <a:xfrm>
            <a:off x="708660" y="3657102"/>
            <a:ext cx="100813" cy="100813"/>
          </a:xfrm>
          <a:prstGeom prst="ellipse">
            <a:avLst/>
          </a:prstGeom>
          <a:solidFill>
            <a:srgbClr val="3D6FF5"/>
          </a:solidFill>
          <a:ln/>
        </p:spPr>
        <p:txBody>
          <a:bodyPr/>
          <a:lstStyle/>
          <a:p>
            <a:endParaRPr lang="en-TR"/>
          </a:p>
        </p:txBody>
      </p:sp>
      <p:sp>
        <p:nvSpPr>
          <p:cNvPr id="20" name="Text 17"/>
          <p:cNvSpPr txBox="1"/>
          <p:nvPr/>
        </p:nvSpPr>
        <p:spPr>
          <a:xfrm>
            <a:off x="914400" y="3551489"/>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“Is that unknown device the neighbour, or my own robot vacuum?”</a:t>
            </a:r>
            <a:endParaRPr lang="en-US" sz="1050" dirty="0"/>
          </a:p>
        </p:txBody>
      </p:sp>
      <p:sp>
        <p:nvSpPr>
          <p:cNvPr id="21" name="Shape 18"/>
          <p:cNvSpPr/>
          <p:nvPr/>
        </p:nvSpPr>
        <p:spPr>
          <a:xfrm>
            <a:off x="708660" y="4218696"/>
            <a:ext cx="100813" cy="100813"/>
          </a:xfrm>
          <a:prstGeom prst="ellipse">
            <a:avLst/>
          </a:prstGeom>
          <a:solidFill>
            <a:srgbClr val="3D6FF5"/>
          </a:solidFill>
          <a:ln/>
        </p:spPr>
        <p:txBody>
          <a:bodyPr/>
          <a:lstStyle/>
          <a:p>
            <a:endParaRPr lang="en-TR"/>
          </a:p>
        </p:txBody>
      </p:sp>
      <p:sp>
        <p:nvSpPr>
          <p:cNvPr id="22" name="Text 19"/>
          <p:cNvSpPr txBox="1"/>
          <p:nvPr/>
        </p:nvSpPr>
        <p:spPr>
          <a:xfrm>
            <a:off x="914400" y="4113083"/>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Every friendly app wants an account and puts the house inventory in someone's cloud.</a:t>
            </a:r>
            <a:endParaRPr lang="en-US" sz="1050" dirty="0"/>
          </a:p>
        </p:txBody>
      </p:sp>
      <p:sp>
        <p:nvSpPr>
          <p:cNvPr id="23" name="Shape 20"/>
          <p:cNvSpPr/>
          <p:nvPr/>
        </p:nvSpPr>
        <p:spPr>
          <a:xfrm>
            <a:off x="708660" y="4780290"/>
            <a:ext cx="100813" cy="100813"/>
          </a:xfrm>
          <a:prstGeom prst="ellipse">
            <a:avLst/>
          </a:prstGeom>
          <a:solidFill>
            <a:srgbClr val="3D6FF5"/>
          </a:solidFill>
          <a:ln/>
        </p:spPr>
        <p:txBody>
          <a:bodyPr/>
          <a:lstStyle/>
          <a:p>
            <a:endParaRPr lang="en-TR"/>
          </a:p>
        </p:txBody>
      </p:sp>
      <p:sp>
        <p:nvSpPr>
          <p:cNvPr id="24" name="Text 21"/>
          <p:cNvSpPr txBox="1"/>
          <p:nvPr/>
        </p:nvSpPr>
        <p:spPr>
          <a:xfrm>
            <a:off x="914400" y="4674677"/>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There is no server at home and there is never going to be one.</a:t>
            </a:r>
            <a:endParaRPr lang="en-US" sz="1050" dirty="0"/>
          </a:p>
        </p:txBody>
      </p:sp>
      <p:sp>
        <p:nvSpPr>
          <p:cNvPr id="25" name="Shape 22"/>
          <p:cNvSpPr/>
          <p:nvPr/>
        </p:nvSpPr>
        <p:spPr>
          <a:xfrm>
            <a:off x="708660" y="5341884"/>
            <a:ext cx="100813" cy="100813"/>
          </a:xfrm>
          <a:prstGeom prst="ellipse">
            <a:avLst/>
          </a:prstGeom>
          <a:solidFill>
            <a:srgbClr val="3D6FF5"/>
          </a:solidFill>
          <a:ln/>
        </p:spPr>
        <p:txBody>
          <a:bodyPr/>
          <a:lstStyle/>
          <a:p>
            <a:endParaRPr lang="en-TR"/>
          </a:p>
        </p:txBody>
      </p:sp>
      <p:sp>
        <p:nvSpPr>
          <p:cNvPr id="26" name="Text 23"/>
          <p:cNvSpPr txBox="1"/>
          <p:nvPr/>
        </p:nvSpPr>
        <p:spPr>
          <a:xfrm>
            <a:off x="914400" y="5236271"/>
            <a:ext cx="3070250" cy="408813"/>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Most of these tools are English-only.</a:t>
            </a:r>
            <a:endParaRPr lang="en-US" sz="1050" dirty="0"/>
          </a:p>
        </p:txBody>
      </p:sp>
      <p:sp>
        <p:nvSpPr>
          <p:cNvPr id="27" name="Text 24"/>
          <p:cNvSpPr txBox="1"/>
          <p:nvPr/>
        </p:nvSpPr>
        <p:spPr>
          <a:xfrm>
            <a:off x="4441850" y="2488438"/>
            <a:ext cx="3307994" cy="237744"/>
          </a:xfrm>
          <a:prstGeom prst="rect">
            <a:avLst/>
          </a:prstGeom>
          <a:noFill/>
          <a:ln/>
        </p:spPr>
        <p:txBody>
          <a:bodyPr wrap="square" lIns="0" tIns="0" rIns="0" bIns="0" rtlCol="0" anchor="t"/>
          <a:lstStyle/>
          <a:p>
            <a:pPr marL="0" indent="0" algn="l">
              <a:buNone/>
            </a:pPr>
            <a:r>
              <a:rPr lang="en-US" sz="1250" dirty="0">
                <a:solidFill>
                  <a:srgbClr val="17A05C"/>
                </a:solidFill>
                <a:latin typeface="Saira Cond SemiBold" pitchFamily="34" charset="0"/>
                <a:ea typeface="Saira Cond SemiBold" pitchFamily="34" charset="-122"/>
                <a:cs typeface="Saira Cond SemiBold" pitchFamily="34" charset="-120"/>
              </a:rPr>
              <a:t>What they use</a:t>
            </a:r>
            <a:endParaRPr lang="en-US" sz="1250" dirty="0"/>
          </a:p>
        </p:txBody>
      </p:sp>
      <p:sp>
        <p:nvSpPr>
          <p:cNvPr id="28" name="Shape 25"/>
          <p:cNvSpPr/>
          <p:nvPr/>
        </p:nvSpPr>
        <p:spPr>
          <a:xfrm>
            <a:off x="4441850" y="2865628"/>
            <a:ext cx="3307994" cy="0"/>
          </a:xfrm>
          <a:prstGeom prst="line">
            <a:avLst/>
          </a:prstGeom>
          <a:noFill/>
          <a:ln w="22860">
            <a:solidFill>
              <a:srgbClr val="17A05C"/>
            </a:solidFill>
            <a:prstDash val="solid"/>
          </a:ln>
        </p:spPr>
        <p:txBody>
          <a:bodyPr/>
          <a:lstStyle/>
          <a:p>
            <a:endParaRPr lang="en-TR"/>
          </a:p>
        </p:txBody>
      </p:sp>
      <p:sp>
        <p:nvSpPr>
          <p:cNvPr id="29" name="Shape 26"/>
          <p:cNvSpPr/>
          <p:nvPr/>
        </p:nvSpPr>
        <p:spPr>
          <a:xfrm>
            <a:off x="4473854" y="3095508"/>
            <a:ext cx="100813" cy="100813"/>
          </a:xfrm>
          <a:prstGeom prst="ellipse">
            <a:avLst/>
          </a:prstGeom>
          <a:solidFill>
            <a:srgbClr val="17A05C"/>
          </a:solidFill>
          <a:ln/>
        </p:spPr>
        <p:txBody>
          <a:bodyPr/>
          <a:lstStyle/>
          <a:p>
            <a:endParaRPr lang="en-TR"/>
          </a:p>
        </p:txBody>
      </p:sp>
      <p:sp>
        <p:nvSpPr>
          <p:cNvPr id="30" name="Text 27"/>
          <p:cNvSpPr txBox="1"/>
          <p:nvPr/>
        </p:nvSpPr>
        <p:spPr>
          <a:xfrm>
            <a:off x="4679594" y="2989895"/>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141A24"/>
                </a:solidFill>
                <a:latin typeface="Saira Medium" pitchFamily="34" charset="0"/>
                <a:ea typeface="Saira Medium" pitchFamily="34" charset="-122"/>
                <a:cs typeface="Saira Medium" pitchFamily="34" charset="-120"/>
              </a:rPr>
              <a:t>The mobile app</a:t>
            </a:r>
            <a:r>
              <a:rPr lang="en-US" sz="1050" dirty="0">
                <a:solidFill>
                  <a:srgbClr val="606A79"/>
                </a:solidFill>
                <a:latin typeface="Saira" pitchFamily="34" charset="0"/>
                <a:ea typeface="Saira" pitchFamily="34" charset="-122"/>
                <a:cs typeface="Saira" pitchFamily="34" charset="-120"/>
              </a:rPr>
              <a:t> — install, open, scan. The phone runs the engine; </a:t>
            </a:r>
            <a:r>
              <a:rPr lang="en-US" sz="1050" dirty="0">
                <a:solidFill>
                  <a:srgbClr val="141A24"/>
                </a:solidFill>
                <a:latin typeface="Saira Medium" pitchFamily="34" charset="0"/>
                <a:ea typeface="Saira Medium" pitchFamily="34" charset="-122"/>
                <a:cs typeface="Saira Medium" pitchFamily="34" charset="-120"/>
              </a:rPr>
              <a:t>there is no server to set up at all</a:t>
            </a:r>
            <a:r>
              <a:rPr lang="en-US" sz="1050" dirty="0">
                <a:solidFill>
                  <a:srgbClr val="606A79"/>
                </a:solidFill>
                <a:latin typeface="Saira" pitchFamily="34" charset="0"/>
                <a:ea typeface="Saira" pitchFamily="34" charset="-122"/>
                <a:cs typeface="Saira" pitchFamily="34" charset="-120"/>
              </a:rPr>
              <a:t>.</a:t>
            </a:r>
            <a:endParaRPr lang="en-US" sz="1050" dirty="0"/>
          </a:p>
        </p:txBody>
      </p:sp>
      <p:sp>
        <p:nvSpPr>
          <p:cNvPr id="31" name="Shape 28"/>
          <p:cNvSpPr/>
          <p:nvPr/>
        </p:nvSpPr>
        <p:spPr>
          <a:xfrm>
            <a:off x="4473854" y="3657102"/>
            <a:ext cx="100813" cy="100813"/>
          </a:xfrm>
          <a:prstGeom prst="ellipse">
            <a:avLst/>
          </a:prstGeom>
          <a:solidFill>
            <a:srgbClr val="17A05C"/>
          </a:solidFill>
          <a:ln/>
        </p:spPr>
        <p:txBody>
          <a:bodyPr/>
          <a:lstStyle/>
          <a:p>
            <a:endParaRPr lang="en-TR"/>
          </a:p>
        </p:txBody>
      </p:sp>
      <p:sp>
        <p:nvSpPr>
          <p:cNvPr id="32" name="Text 29"/>
          <p:cNvSpPr txBox="1"/>
          <p:nvPr/>
        </p:nvSpPr>
        <p:spPr>
          <a:xfrm>
            <a:off x="4679594" y="3551489"/>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141A24"/>
                </a:solidFill>
                <a:latin typeface="Saira Medium" pitchFamily="34" charset="0"/>
                <a:ea typeface="Saira Medium" pitchFamily="34" charset="-122"/>
                <a:cs typeface="Saira Medium" pitchFamily="34" charset="-120"/>
              </a:rPr>
              <a:t>Card view</a:t>
            </a:r>
            <a:r>
              <a:rPr lang="en-US" sz="1050" dirty="0">
                <a:solidFill>
                  <a:srgbClr val="606A79"/>
                </a:solidFill>
                <a:latin typeface="Saira" pitchFamily="34" charset="0"/>
                <a:ea typeface="Saira" pitchFamily="34" charset="-122"/>
                <a:cs typeface="Saira" pitchFamily="34" charset="-120"/>
              </a:rPr>
              <a:t> with the plain-language summary: total, online, types, vendors.</a:t>
            </a:r>
            <a:endParaRPr lang="en-US" sz="1050" dirty="0"/>
          </a:p>
        </p:txBody>
      </p:sp>
      <p:sp>
        <p:nvSpPr>
          <p:cNvPr id="33" name="Shape 30"/>
          <p:cNvSpPr/>
          <p:nvPr/>
        </p:nvSpPr>
        <p:spPr>
          <a:xfrm>
            <a:off x="4473854" y="4218696"/>
            <a:ext cx="100813" cy="100813"/>
          </a:xfrm>
          <a:prstGeom prst="ellipse">
            <a:avLst/>
          </a:prstGeom>
          <a:solidFill>
            <a:srgbClr val="17A05C"/>
          </a:solidFill>
          <a:ln/>
        </p:spPr>
        <p:txBody>
          <a:bodyPr/>
          <a:lstStyle/>
          <a:p>
            <a:endParaRPr lang="en-TR"/>
          </a:p>
        </p:txBody>
      </p:sp>
      <p:sp>
        <p:nvSpPr>
          <p:cNvPr id="34" name="Text 31"/>
          <p:cNvSpPr txBox="1"/>
          <p:nvPr/>
        </p:nvSpPr>
        <p:spPr>
          <a:xfrm>
            <a:off x="4679594" y="4113083"/>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141A24"/>
                </a:solidFill>
                <a:latin typeface="Saira Medium" pitchFamily="34" charset="0"/>
                <a:ea typeface="Saira Medium" pitchFamily="34" charset="-122"/>
                <a:cs typeface="Saira Medium" pitchFamily="34" charset="-120"/>
              </a:rPr>
              <a:t>Trust levels</a:t>
            </a:r>
            <a:r>
              <a:rPr lang="en-US" sz="1050" dirty="0">
                <a:solidFill>
                  <a:srgbClr val="606A79"/>
                </a:solidFill>
                <a:latin typeface="Saira" pitchFamily="34" charset="0"/>
                <a:ea typeface="Saira" pitchFamily="34" charset="-122"/>
                <a:cs typeface="Saira" pitchFamily="34" charset="-120"/>
              </a:rPr>
              <a:t> — mark each device Known, Unknown or Trusted, then filter for what is left.</a:t>
            </a:r>
            <a:endParaRPr lang="en-US" sz="1050" dirty="0"/>
          </a:p>
        </p:txBody>
      </p:sp>
      <p:sp>
        <p:nvSpPr>
          <p:cNvPr id="35" name="Shape 32"/>
          <p:cNvSpPr/>
          <p:nvPr/>
        </p:nvSpPr>
        <p:spPr>
          <a:xfrm>
            <a:off x="4473854" y="4780290"/>
            <a:ext cx="100813" cy="100813"/>
          </a:xfrm>
          <a:prstGeom prst="ellipse">
            <a:avLst/>
          </a:prstGeom>
          <a:solidFill>
            <a:srgbClr val="17A05C"/>
          </a:solidFill>
          <a:ln/>
        </p:spPr>
        <p:txBody>
          <a:bodyPr/>
          <a:lstStyle/>
          <a:p>
            <a:endParaRPr lang="en-TR"/>
          </a:p>
        </p:txBody>
      </p:sp>
      <p:sp>
        <p:nvSpPr>
          <p:cNvPr id="36" name="Text 33"/>
          <p:cNvSpPr txBox="1"/>
          <p:nvPr/>
        </p:nvSpPr>
        <p:spPr>
          <a:xfrm>
            <a:off x="4679594" y="4674677"/>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141A24"/>
                </a:solidFill>
                <a:latin typeface="Saira Medium" pitchFamily="34" charset="0"/>
                <a:ea typeface="Saira Medium" pitchFamily="34" charset="-122"/>
                <a:cs typeface="Saira Medium" pitchFamily="34" charset="-120"/>
              </a:rPr>
              <a:t>Background scan</a:t>
            </a:r>
            <a:r>
              <a:rPr lang="en-US" sz="1050" dirty="0">
                <a:solidFill>
                  <a:srgbClr val="606A79"/>
                </a:solidFill>
                <a:latin typeface="Saira" pitchFamily="34" charset="0"/>
                <a:ea typeface="Saira" pitchFamily="34" charset="-122"/>
                <a:cs typeface="Saira" pitchFamily="34" charset="-120"/>
              </a:rPr>
              <a:t> every hour, with a notification when a new device joins.</a:t>
            </a:r>
            <a:endParaRPr lang="en-US" sz="1050" dirty="0"/>
          </a:p>
        </p:txBody>
      </p:sp>
      <p:sp>
        <p:nvSpPr>
          <p:cNvPr id="37" name="Shape 34"/>
          <p:cNvSpPr/>
          <p:nvPr/>
        </p:nvSpPr>
        <p:spPr>
          <a:xfrm>
            <a:off x="4473854" y="5341884"/>
            <a:ext cx="100813" cy="100813"/>
          </a:xfrm>
          <a:prstGeom prst="ellipse">
            <a:avLst/>
          </a:prstGeom>
          <a:solidFill>
            <a:srgbClr val="17A05C"/>
          </a:solidFill>
          <a:ln/>
        </p:spPr>
        <p:txBody>
          <a:bodyPr/>
          <a:lstStyle/>
          <a:p>
            <a:endParaRPr lang="en-TR"/>
          </a:p>
        </p:txBody>
      </p:sp>
      <p:sp>
        <p:nvSpPr>
          <p:cNvPr id="38" name="Text 35"/>
          <p:cNvSpPr txBox="1"/>
          <p:nvPr/>
        </p:nvSpPr>
        <p:spPr>
          <a:xfrm>
            <a:off x="4679594" y="5236271"/>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141A24"/>
                </a:solidFill>
                <a:latin typeface="Saira Medium" pitchFamily="34" charset="0"/>
                <a:ea typeface="Saira Medium" pitchFamily="34" charset="-122"/>
                <a:cs typeface="Saira Medium" pitchFamily="34" charset="-120"/>
              </a:rPr>
              <a:t>Wake-on-LAN</a:t>
            </a:r>
            <a:r>
              <a:rPr lang="en-US" sz="1050" dirty="0">
                <a:solidFill>
                  <a:srgbClr val="606A79"/>
                </a:solidFill>
                <a:latin typeface="Saira" pitchFamily="34" charset="0"/>
                <a:ea typeface="Saira" pitchFamily="34" charset="-122"/>
                <a:cs typeface="Saira" pitchFamily="34" charset="-120"/>
              </a:rPr>
              <a:t> to bring the desktop up from the sofa.</a:t>
            </a:r>
            <a:endParaRPr lang="en-US" sz="1050" dirty="0"/>
          </a:p>
        </p:txBody>
      </p:sp>
      <p:sp>
        <p:nvSpPr>
          <p:cNvPr id="39" name="Shape 36"/>
          <p:cNvSpPr/>
          <p:nvPr/>
        </p:nvSpPr>
        <p:spPr>
          <a:xfrm>
            <a:off x="4473854" y="5903478"/>
            <a:ext cx="100813" cy="100813"/>
          </a:xfrm>
          <a:prstGeom prst="ellipse">
            <a:avLst/>
          </a:prstGeom>
          <a:solidFill>
            <a:srgbClr val="17A05C"/>
          </a:solidFill>
          <a:ln/>
        </p:spPr>
        <p:txBody>
          <a:bodyPr/>
          <a:lstStyle/>
          <a:p>
            <a:endParaRPr lang="en-TR"/>
          </a:p>
        </p:txBody>
      </p:sp>
      <p:sp>
        <p:nvSpPr>
          <p:cNvPr id="40" name="Text 37"/>
          <p:cNvSpPr txBox="1"/>
          <p:nvPr/>
        </p:nvSpPr>
        <p:spPr>
          <a:xfrm>
            <a:off x="4679594" y="5797865"/>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Or, on a shared computer: </a:t>
            </a:r>
            <a:r>
              <a:rPr lang="en-US" sz="1050" dirty="0">
                <a:solidFill>
                  <a:srgbClr val="141A24"/>
                </a:solidFill>
                <a:latin typeface="Saira Medium" pitchFamily="34" charset="0"/>
                <a:ea typeface="Saira Medium" pitchFamily="34" charset="-122"/>
                <a:cs typeface="Saira Medium" pitchFamily="34" charset="-120"/>
              </a:rPr>
              <a:t>the PWA</a:t>
            </a:r>
            <a:r>
              <a:rPr lang="en-US" sz="1050" dirty="0">
                <a:solidFill>
                  <a:srgbClr val="606A79"/>
                </a:solidFill>
                <a:latin typeface="Saira" pitchFamily="34" charset="0"/>
                <a:ea typeface="Saira" pitchFamily="34" charset="-122"/>
                <a:cs typeface="Saira" pitchFamily="34" charset="-120"/>
              </a:rPr>
              <a:t> — add the web app to the home screen, no store needed.</a:t>
            </a:r>
            <a:endParaRPr lang="en-US" sz="1050" dirty="0"/>
          </a:p>
        </p:txBody>
      </p:sp>
      <p:sp>
        <p:nvSpPr>
          <p:cNvPr id="41" name="Text 38"/>
          <p:cNvSpPr txBox="1"/>
          <p:nvPr/>
        </p:nvSpPr>
        <p:spPr>
          <a:xfrm>
            <a:off x="8207045" y="2488438"/>
            <a:ext cx="3307994" cy="237744"/>
          </a:xfrm>
          <a:prstGeom prst="rect">
            <a:avLst/>
          </a:prstGeom>
          <a:noFill/>
          <a:ln/>
        </p:spPr>
        <p:txBody>
          <a:bodyPr wrap="square" lIns="0" tIns="0" rIns="0" bIns="0" rtlCol="0" anchor="t"/>
          <a:lstStyle/>
          <a:p>
            <a:pPr marL="0" indent="0" algn="l">
              <a:buNone/>
            </a:pPr>
            <a:r>
              <a:rPr lang="en-US" sz="1250" dirty="0">
                <a:solidFill>
                  <a:srgbClr val="D98A1F"/>
                </a:solidFill>
                <a:latin typeface="Saira Cond SemiBold" pitchFamily="34" charset="0"/>
                <a:ea typeface="Saira Cond SemiBold" pitchFamily="34" charset="-122"/>
                <a:cs typeface="Saira Cond SemiBold" pitchFamily="34" charset="-120"/>
              </a:rPr>
              <a:t>What they get</a:t>
            </a:r>
            <a:endParaRPr lang="en-US" sz="1250" dirty="0"/>
          </a:p>
        </p:txBody>
      </p:sp>
      <p:sp>
        <p:nvSpPr>
          <p:cNvPr id="42" name="Shape 39"/>
          <p:cNvSpPr/>
          <p:nvPr/>
        </p:nvSpPr>
        <p:spPr>
          <a:xfrm>
            <a:off x="8207045" y="2865628"/>
            <a:ext cx="3307994" cy="0"/>
          </a:xfrm>
          <a:prstGeom prst="line">
            <a:avLst/>
          </a:prstGeom>
          <a:noFill/>
          <a:ln w="22860">
            <a:solidFill>
              <a:srgbClr val="D98A1F"/>
            </a:solidFill>
            <a:prstDash val="solid"/>
          </a:ln>
        </p:spPr>
        <p:txBody>
          <a:bodyPr/>
          <a:lstStyle/>
          <a:p>
            <a:endParaRPr lang="en-TR"/>
          </a:p>
        </p:txBody>
      </p:sp>
      <p:sp>
        <p:nvSpPr>
          <p:cNvPr id="43" name="Shape 40"/>
          <p:cNvSpPr/>
          <p:nvPr/>
        </p:nvSpPr>
        <p:spPr>
          <a:xfrm>
            <a:off x="8239049" y="3095508"/>
            <a:ext cx="100813" cy="100813"/>
          </a:xfrm>
          <a:prstGeom prst="ellipse">
            <a:avLst/>
          </a:prstGeom>
          <a:solidFill>
            <a:srgbClr val="D98A1F"/>
          </a:solidFill>
          <a:ln/>
        </p:spPr>
        <p:txBody>
          <a:bodyPr/>
          <a:lstStyle/>
          <a:p>
            <a:endParaRPr lang="en-TR"/>
          </a:p>
        </p:txBody>
      </p:sp>
      <p:sp>
        <p:nvSpPr>
          <p:cNvPr id="44" name="Text 41"/>
          <p:cNvSpPr txBox="1"/>
          <p:nvPr/>
        </p:nvSpPr>
        <p:spPr>
          <a:xfrm>
            <a:off x="8444789" y="2989895"/>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An answer in a minute, with no account and no cloud.</a:t>
            </a:r>
            <a:endParaRPr lang="en-US" sz="1050" dirty="0"/>
          </a:p>
        </p:txBody>
      </p:sp>
      <p:sp>
        <p:nvSpPr>
          <p:cNvPr id="45" name="Shape 42"/>
          <p:cNvSpPr/>
          <p:nvPr/>
        </p:nvSpPr>
        <p:spPr>
          <a:xfrm>
            <a:off x="8239049" y="3657102"/>
            <a:ext cx="100813" cy="100813"/>
          </a:xfrm>
          <a:prstGeom prst="ellipse">
            <a:avLst/>
          </a:prstGeom>
          <a:solidFill>
            <a:srgbClr val="D98A1F"/>
          </a:solidFill>
          <a:ln/>
        </p:spPr>
        <p:txBody>
          <a:bodyPr/>
          <a:lstStyle/>
          <a:p>
            <a:endParaRPr lang="en-TR"/>
          </a:p>
        </p:txBody>
      </p:sp>
      <p:sp>
        <p:nvSpPr>
          <p:cNvPr id="46" name="Text 43"/>
          <p:cNvSpPr txBox="1"/>
          <p:nvPr/>
        </p:nvSpPr>
        <p:spPr>
          <a:xfrm>
            <a:off x="8444789" y="3551489"/>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Every device with a real name, a type and a room — because you named them once.</a:t>
            </a:r>
            <a:endParaRPr lang="en-US" sz="1050" dirty="0"/>
          </a:p>
        </p:txBody>
      </p:sp>
      <p:sp>
        <p:nvSpPr>
          <p:cNvPr id="47" name="Shape 44"/>
          <p:cNvSpPr/>
          <p:nvPr/>
        </p:nvSpPr>
        <p:spPr>
          <a:xfrm>
            <a:off x="8239049" y="4218696"/>
            <a:ext cx="100813" cy="100813"/>
          </a:xfrm>
          <a:prstGeom prst="ellipse">
            <a:avLst/>
          </a:prstGeom>
          <a:solidFill>
            <a:srgbClr val="D98A1F"/>
          </a:solidFill>
          <a:ln/>
        </p:spPr>
        <p:txBody>
          <a:bodyPr/>
          <a:lstStyle/>
          <a:p>
            <a:endParaRPr lang="en-TR"/>
          </a:p>
        </p:txBody>
      </p:sp>
      <p:sp>
        <p:nvSpPr>
          <p:cNvPr id="48" name="Text 45"/>
          <p:cNvSpPr txBox="1"/>
          <p:nvPr/>
        </p:nvSpPr>
        <p:spPr>
          <a:xfrm>
            <a:off x="8444789" y="4113083"/>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The interface in </a:t>
            </a:r>
            <a:r>
              <a:rPr lang="en-US" sz="1050" dirty="0">
                <a:solidFill>
                  <a:srgbClr val="141A24"/>
                </a:solidFill>
                <a:latin typeface="Saira Medium" pitchFamily="34" charset="0"/>
                <a:ea typeface="Saira Medium" pitchFamily="34" charset="-122"/>
                <a:cs typeface="Saira Medium" pitchFamily="34" charset="-120"/>
              </a:rPr>
              <a:t>Turkish</a:t>
            </a:r>
            <a:r>
              <a:rPr lang="en-US" sz="1050" dirty="0">
                <a:solidFill>
                  <a:srgbClr val="606A79"/>
                </a:solidFill>
                <a:latin typeface="Saira" pitchFamily="34" charset="0"/>
                <a:ea typeface="Saira" pitchFamily="34" charset="-122"/>
                <a:cs typeface="Saira" pitchFamily="34" charset="-120"/>
              </a:rPr>
              <a:t>, throughout, not a partial translation.</a:t>
            </a:r>
            <a:endParaRPr lang="en-US" sz="1050" dirty="0"/>
          </a:p>
        </p:txBody>
      </p:sp>
      <p:sp>
        <p:nvSpPr>
          <p:cNvPr id="49" name="Shape 46"/>
          <p:cNvSpPr/>
          <p:nvPr/>
        </p:nvSpPr>
        <p:spPr>
          <a:xfrm>
            <a:off x="8239049" y="4780290"/>
            <a:ext cx="100813" cy="100813"/>
          </a:xfrm>
          <a:prstGeom prst="ellipse">
            <a:avLst/>
          </a:prstGeom>
          <a:solidFill>
            <a:srgbClr val="D98A1F"/>
          </a:solidFill>
          <a:ln/>
        </p:spPr>
        <p:txBody>
          <a:bodyPr/>
          <a:lstStyle/>
          <a:p>
            <a:endParaRPr lang="en-TR"/>
          </a:p>
        </p:txBody>
      </p:sp>
      <p:sp>
        <p:nvSpPr>
          <p:cNvPr id="50" name="Text 47"/>
          <p:cNvSpPr txBox="1"/>
          <p:nvPr/>
        </p:nvSpPr>
        <p:spPr>
          <a:xfrm>
            <a:off x="8444789" y="4674677"/>
            <a:ext cx="3070250" cy="598170"/>
          </a:xfrm>
          <a:prstGeom prst="rect">
            <a:avLst/>
          </a:prstGeom>
          <a:noFill/>
          <a:ln/>
        </p:spPr>
        <p:txBody>
          <a:bodyPr wrap="square" lIns="0" tIns="0" rIns="0" bIns="0" rtlCol="0" anchor="t"/>
          <a:lstStyle/>
          <a:p>
            <a:pPr marL="0" indent="0" algn="l">
              <a:lnSpc>
                <a:spcPts val="1491"/>
              </a:lnSpc>
              <a:buNone/>
            </a:pPr>
            <a:r>
              <a:rPr lang="en-US" sz="1050" dirty="0">
                <a:solidFill>
                  <a:srgbClr val="606A79"/>
                </a:solidFill>
                <a:latin typeface="Saira" pitchFamily="34" charset="0"/>
                <a:ea typeface="Saira" pitchFamily="34" charset="-122"/>
                <a:cs typeface="Saira" pitchFamily="34" charset="-120"/>
              </a:rPr>
              <a:t>Light and dark follow the phone; the layout works from 320px to a TV.</a:t>
            </a:r>
            <a:endParaRPr lang="en-US" sz="1050" dirty="0"/>
          </a:p>
        </p:txBody>
      </p:sp>
      <p:sp>
        <p:nvSpPr>
          <p:cNvPr id="51" name="Shape 48"/>
          <p:cNvSpPr/>
          <p:nvPr/>
        </p:nvSpPr>
        <p:spPr>
          <a:xfrm>
            <a:off x="8239049" y="5341884"/>
            <a:ext cx="100813" cy="100813"/>
          </a:xfrm>
          <a:prstGeom prst="ellipse">
            <a:avLst/>
          </a:prstGeom>
          <a:solidFill>
            <a:srgbClr val="D98A1F"/>
          </a:solidFill>
          <a:ln/>
        </p:spPr>
        <p:txBody>
          <a:bodyPr/>
          <a:lstStyle/>
          <a:p>
            <a:endParaRPr lang="en-TR"/>
          </a:p>
        </p:txBody>
      </p:sp>
      <p:sp>
        <p:nvSpPr>
          <p:cNvPr id="52" name="Text 49"/>
          <p:cNvSpPr txBox="1"/>
          <p:nvPr/>
        </p:nvSpPr>
        <p:spPr>
          <a:xfrm>
            <a:off x="8444789" y="5236271"/>
            <a:ext cx="3070250" cy="787527"/>
          </a:xfrm>
          <a:prstGeom prst="rect">
            <a:avLst/>
          </a:prstGeom>
          <a:noFill/>
          <a:ln/>
        </p:spPr>
        <p:txBody>
          <a:bodyPr wrap="square" lIns="0" tIns="0" rIns="0" bIns="0" rtlCol="0" anchor="t"/>
          <a:lstStyle/>
          <a:p>
            <a:pPr marL="0" indent="0" algn="l">
              <a:lnSpc>
                <a:spcPts val="1491"/>
              </a:lnSpc>
              <a:buNone/>
            </a:pPr>
            <a:r>
              <a:rPr lang="en-US" sz="1050" dirty="0">
                <a:solidFill>
                  <a:srgbClr val="141A24"/>
                </a:solidFill>
                <a:latin typeface="Saira Medium" pitchFamily="34" charset="0"/>
                <a:ea typeface="Saira Medium" pitchFamily="34" charset="-122"/>
                <a:cs typeface="Saira Medium" pitchFamily="34" charset="-120"/>
              </a:rPr>
              <a:t>Honest limits:</a:t>
            </a:r>
            <a:r>
              <a:rPr lang="en-US" sz="1050" dirty="0">
                <a:solidFill>
                  <a:srgbClr val="606A79"/>
                </a:solidFill>
                <a:latin typeface="Saira" pitchFamily="34" charset="0"/>
                <a:ea typeface="Saira" pitchFamily="34" charset="-122"/>
                <a:cs typeface="Saira" pitchFamily="34" charset="-120"/>
              </a:rPr>
              <a:t> an unrooted phone cannot read every MAC, so some devices stay partly unknown — and the app says which.</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1014317"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1014317"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The market</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872338"/>
            <a:ext cx="10808208" cy="739140"/>
          </a:xfrm>
          <a:prstGeom prst="rect">
            <a:avLst/>
          </a:prstGeom>
          <a:noFill/>
          <a:ln/>
        </p:spPr>
        <p:txBody>
          <a:bodyPr wrap="square" lIns="0" tIns="0" rIns="0" bIns="0" rtlCol="0" anchor="t"/>
          <a:lstStyle/>
          <a:p>
            <a:pPr marL="0" indent="0" algn="l">
              <a:lnSpc>
                <a:spcPts val="3300"/>
              </a:lnSpc>
              <a:buNone/>
            </a:pPr>
            <a:r>
              <a:rPr lang="en-US" sz="3000" b="1" kern="0" spc="-42" dirty="0">
                <a:solidFill>
                  <a:srgbClr val="141A24"/>
                </a:solidFill>
                <a:latin typeface="Saira Cond" pitchFamily="34" charset="0"/>
                <a:ea typeface="Saira Cond" pitchFamily="34" charset="-122"/>
                <a:cs typeface="Saira Cond" pitchFamily="34" charset="-120"/>
              </a:rPr>
              <a:t>Self-hosted Fing that also sees the devices with no IP address.</a:t>
            </a:r>
            <a:endParaRPr lang="en-US" sz="3000" dirty="0"/>
          </a:p>
        </p:txBody>
      </p:sp>
      <p:sp>
        <p:nvSpPr>
          <p:cNvPr id="12" name="Text 9"/>
          <p:cNvSpPr txBox="1"/>
          <p:nvPr/>
        </p:nvSpPr>
        <p:spPr>
          <a:xfrm>
            <a:off x="676656" y="1523268"/>
            <a:ext cx="10698480" cy="201168"/>
          </a:xfrm>
          <a:prstGeom prst="rect">
            <a:avLst/>
          </a:prstGeom>
          <a:noFill/>
          <a:ln/>
        </p:spPr>
        <p:txBody>
          <a:bodyPr wrap="square" lIns="0" tIns="0" rIns="0" bIns="0" rtlCol="0" anchor="t"/>
          <a:lstStyle/>
          <a:p>
            <a:pPr marL="0" indent="0" algn="l">
              <a:buNone/>
            </a:pPr>
            <a:r>
              <a:rPr lang="en-US" sz="850" dirty="0">
                <a:solidFill>
                  <a:srgbClr val="8C95A3"/>
                </a:solidFill>
                <a:latin typeface="Sometype Mono" pitchFamily="34" charset="0"/>
                <a:ea typeface="Sometype Mono" pitchFamily="34" charset="-122"/>
                <a:cs typeface="Sometype Mono" pitchFamily="34" charset="-120"/>
              </a:rPr>
              <a:t>✓ yes   ~ partial   ✕ no   ★ only MyNeS</a:t>
            </a:r>
            <a:endParaRPr lang="en-US" sz="850" dirty="0"/>
          </a:p>
        </p:txBody>
      </p:sp>
      <p:sp>
        <p:nvSpPr>
          <p:cNvPr id="13" name="Shape 10"/>
          <p:cNvSpPr/>
          <p:nvPr/>
        </p:nvSpPr>
        <p:spPr>
          <a:xfrm>
            <a:off x="676656" y="1871472"/>
            <a:ext cx="10838383" cy="310896"/>
          </a:xfrm>
          <a:prstGeom prst="roundRect">
            <a:avLst>
              <a:gd name="adj" fmla="val 14706"/>
            </a:avLst>
          </a:prstGeom>
          <a:solidFill>
            <a:srgbClr val="EDF2FF"/>
          </a:solidFill>
          <a:ln/>
        </p:spPr>
        <p:txBody>
          <a:bodyPr/>
          <a:lstStyle/>
          <a:p>
            <a:endParaRPr lang="en-TR"/>
          </a:p>
        </p:txBody>
      </p:sp>
      <p:sp>
        <p:nvSpPr>
          <p:cNvPr id="14" name="Text 11"/>
          <p:cNvSpPr txBox="1"/>
          <p:nvPr/>
        </p:nvSpPr>
        <p:spPr>
          <a:xfrm>
            <a:off x="804672" y="1977664"/>
            <a:ext cx="1292308" cy="219456"/>
          </a:xfrm>
          <a:prstGeom prst="rect">
            <a:avLst/>
          </a:prstGeom>
          <a:noFill/>
          <a:ln/>
        </p:spPr>
        <p:txBody>
          <a:bodyPr wrap="none" lIns="0" tIns="0" rIns="0" bIns="0" rtlCol="0" anchor="t"/>
          <a:lstStyle/>
          <a:p>
            <a:pPr marL="0" indent="0" algn="l">
              <a:buNone/>
            </a:pPr>
            <a:r>
              <a:rPr lang="en-US" sz="600" dirty="0">
                <a:solidFill>
                  <a:srgbClr val="141A24"/>
                </a:solidFill>
                <a:latin typeface="Saira Medium" pitchFamily="34" charset="0"/>
                <a:ea typeface="Saira Medium" pitchFamily="34" charset="-122"/>
                <a:cs typeface="Saira Medium" pitchFamily="34" charset="-120"/>
              </a:rPr>
              <a:t>Capability</a:t>
            </a:r>
            <a:endParaRPr lang="en-US" sz="600" dirty="0"/>
          </a:p>
        </p:txBody>
      </p:sp>
      <p:sp>
        <p:nvSpPr>
          <p:cNvPr id="15" name="Text 12"/>
          <p:cNvSpPr txBox="1"/>
          <p:nvPr/>
        </p:nvSpPr>
        <p:spPr>
          <a:xfrm>
            <a:off x="2353012" y="1977664"/>
            <a:ext cx="1292308" cy="219456"/>
          </a:xfrm>
          <a:prstGeom prst="rect">
            <a:avLst/>
          </a:prstGeom>
          <a:noFill/>
          <a:ln/>
        </p:spPr>
        <p:txBody>
          <a:bodyPr wrap="none" lIns="0" tIns="0" rIns="0" bIns="0" rtlCol="0" anchor="t"/>
          <a:lstStyle/>
          <a:p>
            <a:pPr marL="0" indent="0" algn="l">
              <a:buNone/>
            </a:pPr>
            <a:r>
              <a:rPr lang="en-US" sz="600" dirty="0">
                <a:solidFill>
                  <a:srgbClr val="141A24"/>
                </a:solidFill>
                <a:latin typeface="Saira Medium" pitchFamily="34" charset="0"/>
                <a:ea typeface="Saira Medium" pitchFamily="34" charset="-122"/>
                <a:cs typeface="Saira Medium" pitchFamily="34" charset="-120"/>
              </a:rPr>
              <a:t>MyNeS</a:t>
            </a:r>
            <a:endParaRPr lang="en-US" sz="600" dirty="0"/>
          </a:p>
        </p:txBody>
      </p:sp>
      <p:sp>
        <p:nvSpPr>
          <p:cNvPr id="16" name="Text 13"/>
          <p:cNvSpPr txBox="1"/>
          <p:nvPr/>
        </p:nvSpPr>
        <p:spPr>
          <a:xfrm>
            <a:off x="3901353" y="1977664"/>
            <a:ext cx="1292308" cy="219456"/>
          </a:xfrm>
          <a:prstGeom prst="rect">
            <a:avLst/>
          </a:prstGeom>
          <a:noFill/>
          <a:ln/>
        </p:spPr>
        <p:txBody>
          <a:bodyPr wrap="none" lIns="0" tIns="0" rIns="0" bIns="0" rtlCol="0" anchor="t"/>
          <a:lstStyle/>
          <a:p>
            <a:pPr marL="0" indent="0" algn="l">
              <a:buNone/>
            </a:pPr>
            <a:r>
              <a:rPr lang="en-US" sz="600" dirty="0">
                <a:solidFill>
                  <a:srgbClr val="141A24"/>
                </a:solidFill>
                <a:latin typeface="Saira Medium" pitchFamily="34" charset="0"/>
                <a:ea typeface="Saira Medium" pitchFamily="34" charset="-122"/>
                <a:cs typeface="Saira Medium" pitchFamily="34" charset="-120"/>
              </a:rPr>
              <a:t>Fing</a:t>
            </a:r>
            <a:endParaRPr lang="en-US" sz="600" dirty="0"/>
          </a:p>
        </p:txBody>
      </p:sp>
      <p:sp>
        <p:nvSpPr>
          <p:cNvPr id="17" name="Text 14"/>
          <p:cNvSpPr txBox="1"/>
          <p:nvPr/>
        </p:nvSpPr>
        <p:spPr>
          <a:xfrm>
            <a:off x="5449693" y="1977664"/>
            <a:ext cx="1292308" cy="219456"/>
          </a:xfrm>
          <a:prstGeom prst="rect">
            <a:avLst/>
          </a:prstGeom>
          <a:noFill/>
          <a:ln/>
        </p:spPr>
        <p:txBody>
          <a:bodyPr wrap="none" lIns="0" tIns="0" rIns="0" bIns="0" rtlCol="0" anchor="t"/>
          <a:lstStyle/>
          <a:p>
            <a:pPr marL="0" indent="0" algn="l">
              <a:buNone/>
            </a:pPr>
            <a:r>
              <a:rPr lang="en-US" sz="600" dirty="0">
                <a:solidFill>
                  <a:srgbClr val="141A24"/>
                </a:solidFill>
                <a:latin typeface="Saira Medium" pitchFamily="34" charset="0"/>
                <a:ea typeface="Saira Medium" pitchFamily="34" charset="-122"/>
                <a:cs typeface="Saira Medium" pitchFamily="34" charset="-120"/>
              </a:rPr>
              <a:t>Angry IP Scanner</a:t>
            </a:r>
            <a:endParaRPr lang="en-US" sz="600" dirty="0"/>
          </a:p>
        </p:txBody>
      </p:sp>
      <p:sp>
        <p:nvSpPr>
          <p:cNvPr id="18" name="Text 15"/>
          <p:cNvSpPr txBox="1"/>
          <p:nvPr/>
        </p:nvSpPr>
        <p:spPr>
          <a:xfrm>
            <a:off x="6998034" y="1977664"/>
            <a:ext cx="1292308" cy="219456"/>
          </a:xfrm>
          <a:prstGeom prst="rect">
            <a:avLst/>
          </a:prstGeom>
          <a:noFill/>
          <a:ln/>
        </p:spPr>
        <p:txBody>
          <a:bodyPr wrap="none" lIns="0" tIns="0" rIns="0" bIns="0" rtlCol="0" anchor="t"/>
          <a:lstStyle/>
          <a:p>
            <a:pPr marL="0" indent="0" algn="l">
              <a:buNone/>
            </a:pPr>
            <a:r>
              <a:rPr lang="en-US" sz="600" dirty="0">
                <a:solidFill>
                  <a:srgbClr val="141A24"/>
                </a:solidFill>
                <a:latin typeface="Saira Medium" pitchFamily="34" charset="0"/>
                <a:ea typeface="Saira Medium" pitchFamily="34" charset="-122"/>
                <a:cs typeface="Saira Medium" pitchFamily="34" charset="-120"/>
              </a:rPr>
              <a:t>Advanced IP Scanner</a:t>
            </a:r>
            <a:endParaRPr lang="en-US" sz="600" dirty="0"/>
          </a:p>
        </p:txBody>
      </p:sp>
      <p:sp>
        <p:nvSpPr>
          <p:cNvPr id="19" name="Text 16"/>
          <p:cNvSpPr txBox="1"/>
          <p:nvPr/>
        </p:nvSpPr>
        <p:spPr>
          <a:xfrm>
            <a:off x="8546374" y="1977664"/>
            <a:ext cx="1292308" cy="219456"/>
          </a:xfrm>
          <a:prstGeom prst="rect">
            <a:avLst/>
          </a:prstGeom>
          <a:noFill/>
          <a:ln/>
        </p:spPr>
        <p:txBody>
          <a:bodyPr wrap="none" lIns="0" tIns="0" rIns="0" bIns="0" rtlCol="0" anchor="t"/>
          <a:lstStyle/>
          <a:p>
            <a:pPr marL="0" indent="0" algn="l">
              <a:buNone/>
            </a:pPr>
            <a:r>
              <a:rPr lang="en-US" sz="600" dirty="0">
                <a:solidFill>
                  <a:srgbClr val="141A24"/>
                </a:solidFill>
                <a:latin typeface="Saira Medium" pitchFamily="34" charset="0"/>
                <a:ea typeface="Saira Medium" pitchFamily="34" charset="-122"/>
                <a:cs typeface="Saira Medium" pitchFamily="34" charset="-120"/>
              </a:rPr>
              <a:t>NetAlertX</a:t>
            </a:r>
            <a:endParaRPr lang="en-US" sz="600" dirty="0"/>
          </a:p>
        </p:txBody>
      </p:sp>
      <p:sp>
        <p:nvSpPr>
          <p:cNvPr id="20" name="Text 17"/>
          <p:cNvSpPr txBox="1"/>
          <p:nvPr/>
        </p:nvSpPr>
        <p:spPr>
          <a:xfrm>
            <a:off x="10094715" y="1977664"/>
            <a:ext cx="1292308" cy="219456"/>
          </a:xfrm>
          <a:prstGeom prst="rect">
            <a:avLst/>
          </a:prstGeom>
          <a:noFill/>
          <a:ln/>
        </p:spPr>
        <p:txBody>
          <a:bodyPr wrap="none" lIns="0" tIns="0" rIns="0" bIns="0" rtlCol="0" anchor="t"/>
          <a:lstStyle/>
          <a:p>
            <a:pPr marL="0" indent="0" algn="l">
              <a:buNone/>
            </a:pPr>
            <a:r>
              <a:rPr lang="en-US" sz="600" dirty="0">
                <a:solidFill>
                  <a:srgbClr val="141A24"/>
                </a:solidFill>
                <a:latin typeface="Saira Medium" pitchFamily="34" charset="0"/>
                <a:ea typeface="Saira Medium" pitchFamily="34" charset="-122"/>
                <a:cs typeface="Saira Medium" pitchFamily="34" charset="-120"/>
              </a:rPr>
              <a:t>nmap / Zenmap</a:t>
            </a:r>
            <a:endParaRPr lang="en-US" sz="600" dirty="0"/>
          </a:p>
        </p:txBody>
      </p:sp>
      <p:sp>
        <p:nvSpPr>
          <p:cNvPr id="21" name="Shape 18"/>
          <p:cNvSpPr/>
          <p:nvPr/>
        </p:nvSpPr>
        <p:spPr>
          <a:xfrm>
            <a:off x="676656" y="2182368"/>
            <a:ext cx="10838383" cy="0"/>
          </a:xfrm>
          <a:prstGeom prst="line">
            <a:avLst/>
          </a:prstGeom>
          <a:noFill/>
          <a:ln w="7620">
            <a:solidFill>
              <a:srgbClr val="E2E7EF"/>
            </a:solidFill>
            <a:prstDash val="solid"/>
          </a:ln>
        </p:spPr>
        <p:txBody>
          <a:bodyPr/>
          <a:lstStyle/>
          <a:p>
            <a:endParaRPr lang="en-TR"/>
          </a:p>
        </p:txBody>
      </p:sp>
      <p:sp>
        <p:nvSpPr>
          <p:cNvPr id="22" name="Text 19"/>
          <p:cNvSpPr txBox="1"/>
          <p:nvPr/>
        </p:nvSpPr>
        <p:spPr>
          <a:xfrm>
            <a:off x="804672" y="22370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License &amp; cost</a:t>
            </a:r>
            <a:endParaRPr lang="en-US" sz="600" dirty="0"/>
          </a:p>
        </p:txBody>
      </p:sp>
      <p:sp>
        <p:nvSpPr>
          <p:cNvPr id="23" name="Text 20"/>
          <p:cNvSpPr txBox="1"/>
          <p:nvPr/>
        </p:nvSpPr>
        <p:spPr>
          <a:xfrm>
            <a:off x="2353012" y="22370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AGPL-3.0 · free</a:t>
            </a:r>
            <a:endParaRPr lang="en-US" sz="600" dirty="0"/>
          </a:p>
        </p:txBody>
      </p:sp>
      <p:sp>
        <p:nvSpPr>
          <p:cNvPr id="24" name="Text 21"/>
          <p:cNvSpPr txBox="1"/>
          <p:nvPr/>
        </p:nvSpPr>
        <p:spPr>
          <a:xfrm>
            <a:off x="3901353" y="22370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Proprietary · free app, paid box/tiers</a:t>
            </a:r>
            <a:endParaRPr lang="en-US" sz="600" dirty="0"/>
          </a:p>
        </p:txBody>
      </p:sp>
      <p:sp>
        <p:nvSpPr>
          <p:cNvPr id="25" name="Text 22"/>
          <p:cNvSpPr txBox="1"/>
          <p:nvPr/>
        </p:nvSpPr>
        <p:spPr>
          <a:xfrm>
            <a:off x="5449693" y="22370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GPL-2.0 · free</a:t>
            </a:r>
            <a:endParaRPr lang="en-US" sz="600" dirty="0"/>
          </a:p>
        </p:txBody>
      </p:sp>
      <p:sp>
        <p:nvSpPr>
          <p:cNvPr id="26" name="Text 23"/>
          <p:cNvSpPr txBox="1"/>
          <p:nvPr/>
        </p:nvSpPr>
        <p:spPr>
          <a:xfrm>
            <a:off x="6998034" y="22370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Proprietary · freeware</a:t>
            </a:r>
            <a:endParaRPr lang="en-US" sz="600" dirty="0"/>
          </a:p>
        </p:txBody>
      </p:sp>
      <p:sp>
        <p:nvSpPr>
          <p:cNvPr id="27" name="Text 24"/>
          <p:cNvSpPr txBox="1"/>
          <p:nvPr/>
        </p:nvSpPr>
        <p:spPr>
          <a:xfrm>
            <a:off x="8546374" y="22370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GPL-3.0 · free</a:t>
            </a:r>
            <a:endParaRPr lang="en-US" sz="600" dirty="0"/>
          </a:p>
        </p:txBody>
      </p:sp>
      <p:sp>
        <p:nvSpPr>
          <p:cNvPr id="28" name="Text 25"/>
          <p:cNvSpPr txBox="1"/>
          <p:nvPr/>
        </p:nvSpPr>
        <p:spPr>
          <a:xfrm>
            <a:off x="10094715" y="22370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NPSL · free</a:t>
            </a:r>
            <a:endParaRPr lang="en-US" sz="600" dirty="0"/>
          </a:p>
        </p:txBody>
      </p:sp>
      <p:sp>
        <p:nvSpPr>
          <p:cNvPr id="29" name="Shape 26"/>
          <p:cNvSpPr/>
          <p:nvPr/>
        </p:nvSpPr>
        <p:spPr>
          <a:xfrm>
            <a:off x="676656" y="2433828"/>
            <a:ext cx="10838383" cy="251460"/>
          </a:xfrm>
          <a:prstGeom prst="rect">
            <a:avLst/>
          </a:prstGeom>
          <a:solidFill>
            <a:srgbClr val="FAFCFF"/>
          </a:solidFill>
          <a:ln/>
        </p:spPr>
        <p:txBody>
          <a:bodyPr/>
          <a:lstStyle/>
          <a:p>
            <a:endParaRPr lang="en-TR"/>
          </a:p>
        </p:txBody>
      </p:sp>
      <p:sp>
        <p:nvSpPr>
          <p:cNvPr id="30" name="Shape 27"/>
          <p:cNvSpPr/>
          <p:nvPr/>
        </p:nvSpPr>
        <p:spPr>
          <a:xfrm>
            <a:off x="676656" y="2433828"/>
            <a:ext cx="10838383" cy="0"/>
          </a:xfrm>
          <a:prstGeom prst="line">
            <a:avLst/>
          </a:prstGeom>
          <a:noFill/>
          <a:ln w="7620">
            <a:solidFill>
              <a:srgbClr val="E2E7EF"/>
            </a:solidFill>
            <a:prstDash val="solid"/>
          </a:ln>
        </p:spPr>
        <p:txBody>
          <a:bodyPr/>
          <a:lstStyle/>
          <a:p>
            <a:endParaRPr lang="en-TR"/>
          </a:p>
        </p:txBody>
      </p:sp>
      <p:sp>
        <p:nvSpPr>
          <p:cNvPr id="31" name="Text 28"/>
          <p:cNvSpPr txBox="1"/>
          <p:nvPr/>
        </p:nvSpPr>
        <p:spPr>
          <a:xfrm>
            <a:off x="804672" y="24885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Account required</a:t>
            </a:r>
            <a:endParaRPr lang="en-US" sz="600" dirty="0"/>
          </a:p>
        </p:txBody>
      </p:sp>
      <p:sp>
        <p:nvSpPr>
          <p:cNvPr id="32" name="Text 29"/>
          <p:cNvSpPr txBox="1"/>
          <p:nvPr/>
        </p:nvSpPr>
        <p:spPr>
          <a:xfrm>
            <a:off x="2353012" y="24885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 none</a:t>
            </a:r>
            <a:endParaRPr lang="en-US" sz="600" dirty="0"/>
          </a:p>
        </p:txBody>
      </p:sp>
      <p:sp>
        <p:nvSpPr>
          <p:cNvPr id="33" name="Text 30"/>
          <p:cNvSpPr txBox="1"/>
          <p:nvPr/>
        </p:nvSpPr>
        <p:spPr>
          <a:xfrm>
            <a:off x="3901353" y="24885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 for most useful features</a:t>
            </a:r>
            <a:endParaRPr lang="en-US" sz="600" dirty="0"/>
          </a:p>
        </p:txBody>
      </p:sp>
      <p:sp>
        <p:nvSpPr>
          <p:cNvPr id="34" name="Text 31"/>
          <p:cNvSpPr txBox="1"/>
          <p:nvPr/>
        </p:nvSpPr>
        <p:spPr>
          <a:xfrm>
            <a:off x="5449693" y="24885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35" name="Text 32"/>
          <p:cNvSpPr txBox="1"/>
          <p:nvPr/>
        </p:nvSpPr>
        <p:spPr>
          <a:xfrm>
            <a:off x="6998034" y="24885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36" name="Text 33"/>
          <p:cNvSpPr txBox="1"/>
          <p:nvPr/>
        </p:nvSpPr>
        <p:spPr>
          <a:xfrm>
            <a:off x="8546374" y="24885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37" name="Text 34"/>
          <p:cNvSpPr txBox="1"/>
          <p:nvPr/>
        </p:nvSpPr>
        <p:spPr>
          <a:xfrm>
            <a:off x="10094715" y="24885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38" name="Shape 35"/>
          <p:cNvSpPr/>
          <p:nvPr/>
        </p:nvSpPr>
        <p:spPr>
          <a:xfrm>
            <a:off x="676656" y="2685288"/>
            <a:ext cx="10838383" cy="0"/>
          </a:xfrm>
          <a:prstGeom prst="line">
            <a:avLst/>
          </a:prstGeom>
          <a:noFill/>
          <a:ln w="7620">
            <a:solidFill>
              <a:srgbClr val="E2E7EF"/>
            </a:solidFill>
            <a:prstDash val="solid"/>
          </a:ln>
        </p:spPr>
        <p:txBody>
          <a:bodyPr/>
          <a:lstStyle/>
          <a:p>
            <a:endParaRPr lang="en-TR"/>
          </a:p>
        </p:txBody>
      </p:sp>
      <p:sp>
        <p:nvSpPr>
          <p:cNvPr id="39" name="Text 36"/>
          <p:cNvSpPr txBox="1"/>
          <p:nvPr/>
        </p:nvSpPr>
        <p:spPr>
          <a:xfrm>
            <a:off x="804672" y="273996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Cloud / telemetry</a:t>
            </a:r>
            <a:endParaRPr lang="en-US" sz="600" dirty="0"/>
          </a:p>
        </p:txBody>
      </p:sp>
      <p:sp>
        <p:nvSpPr>
          <p:cNvPr id="40" name="Text 37"/>
          <p:cNvSpPr txBox="1"/>
          <p:nvPr/>
        </p:nvSpPr>
        <p:spPr>
          <a:xfrm>
            <a:off x="2353012" y="273996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 none</a:t>
            </a:r>
            <a:endParaRPr lang="en-US" sz="600" dirty="0"/>
          </a:p>
        </p:txBody>
      </p:sp>
      <p:sp>
        <p:nvSpPr>
          <p:cNvPr id="41" name="Text 38"/>
          <p:cNvSpPr txBox="1"/>
          <p:nvPr/>
        </p:nvSpPr>
        <p:spPr>
          <a:xfrm>
            <a:off x="3901353" y="273996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central to the product</a:t>
            </a:r>
            <a:endParaRPr lang="en-US" sz="600" dirty="0"/>
          </a:p>
        </p:txBody>
      </p:sp>
      <p:sp>
        <p:nvSpPr>
          <p:cNvPr id="42" name="Text 39"/>
          <p:cNvSpPr txBox="1"/>
          <p:nvPr/>
        </p:nvSpPr>
        <p:spPr>
          <a:xfrm>
            <a:off x="5449693" y="273996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 none</a:t>
            </a:r>
            <a:endParaRPr lang="en-US" sz="600" dirty="0"/>
          </a:p>
        </p:txBody>
      </p:sp>
      <p:sp>
        <p:nvSpPr>
          <p:cNvPr id="43" name="Text 40"/>
          <p:cNvSpPr txBox="1"/>
          <p:nvPr/>
        </p:nvSpPr>
        <p:spPr>
          <a:xfrm>
            <a:off x="6998034" y="273996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98A1F"/>
                </a:solidFill>
                <a:latin typeface="Saira" pitchFamily="34" charset="0"/>
                <a:ea typeface="Saira" pitchFamily="34" charset="-122"/>
                <a:cs typeface="Saira" pitchFamily="34" charset="-120"/>
              </a:rPr>
              <a:t>~ update check</a:t>
            </a:r>
            <a:endParaRPr lang="en-US" sz="600" dirty="0"/>
          </a:p>
        </p:txBody>
      </p:sp>
      <p:sp>
        <p:nvSpPr>
          <p:cNvPr id="44" name="Text 41"/>
          <p:cNvSpPr txBox="1"/>
          <p:nvPr/>
        </p:nvSpPr>
        <p:spPr>
          <a:xfrm>
            <a:off x="8546374" y="273996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 none</a:t>
            </a:r>
            <a:endParaRPr lang="en-US" sz="600" dirty="0"/>
          </a:p>
        </p:txBody>
      </p:sp>
      <p:sp>
        <p:nvSpPr>
          <p:cNvPr id="45" name="Text 42"/>
          <p:cNvSpPr txBox="1"/>
          <p:nvPr/>
        </p:nvSpPr>
        <p:spPr>
          <a:xfrm>
            <a:off x="10094715" y="273996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 none</a:t>
            </a:r>
            <a:endParaRPr lang="en-US" sz="600" dirty="0"/>
          </a:p>
        </p:txBody>
      </p:sp>
      <p:sp>
        <p:nvSpPr>
          <p:cNvPr id="46" name="Shape 43"/>
          <p:cNvSpPr/>
          <p:nvPr/>
        </p:nvSpPr>
        <p:spPr>
          <a:xfrm>
            <a:off x="676656" y="2936748"/>
            <a:ext cx="10838383" cy="251460"/>
          </a:xfrm>
          <a:prstGeom prst="rect">
            <a:avLst/>
          </a:prstGeom>
          <a:solidFill>
            <a:srgbClr val="FAFCFF"/>
          </a:solidFill>
          <a:ln/>
        </p:spPr>
        <p:txBody>
          <a:bodyPr/>
          <a:lstStyle/>
          <a:p>
            <a:endParaRPr lang="en-TR"/>
          </a:p>
        </p:txBody>
      </p:sp>
      <p:sp>
        <p:nvSpPr>
          <p:cNvPr id="47" name="Shape 44"/>
          <p:cNvSpPr/>
          <p:nvPr/>
        </p:nvSpPr>
        <p:spPr>
          <a:xfrm>
            <a:off x="676656" y="2936748"/>
            <a:ext cx="10838383" cy="0"/>
          </a:xfrm>
          <a:prstGeom prst="line">
            <a:avLst/>
          </a:prstGeom>
          <a:noFill/>
          <a:ln w="7620">
            <a:solidFill>
              <a:srgbClr val="E2E7EF"/>
            </a:solidFill>
            <a:prstDash val="solid"/>
          </a:ln>
        </p:spPr>
        <p:txBody>
          <a:bodyPr/>
          <a:lstStyle/>
          <a:p>
            <a:endParaRPr lang="en-TR"/>
          </a:p>
        </p:txBody>
      </p:sp>
      <p:sp>
        <p:nvSpPr>
          <p:cNvPr id="48" name="Text 45"/>
          <p:cNvSpPr txBox="1"/>
          <p:nvPr/>
        </p:nvSpPr>
        <p:spPr>
          <a:xfrm>
            <a:off x="804672" y="299142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Runs as</a:t>
            </a:r>
            <a:endParaRPr lang="en-US" sz="600" dirty="0"/>
          </a:p>
        </p:txBody>
      </p:sp>
      <p:sp>
        <p:nvSpPr>
          <p:cNvPr id="49" name="Text 46"/>
          <p:cNvSpPr txBox="1"/>
          <p:nvPr/>
        </p:nvSpPr>
        <p:spPr>
          <a:xfrm>
            <a:off x="2353012" y="299142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Self-hosted web app</a:t>
            </a:r>
            <a:endParaRPr lang="en-US" sz="600" dirty="0"/>
          </a:p>
        </p:txBody>
      </p:sp>
      <p:sp>
        <p:nvSpPr>
          <p:cNvPr id="50" name="Text 47"/>
          <p:cNvSpPr txBox="1"/>
          <p:nvPr/>
        </p:nvSpPr>
        <p:spPr>
          <a:xfrm>
            <a:off x="3901353" y="299142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Mobile + desktop + hardware</a:t>
            </a:r>
            <a:endParaRPr lang="en-US" sz="600" dirty="0"/>
          </a:p>
        </p:txBody>
      </p:sp>
      <p:sp>
        <p:nvSpPr>
          <p:cNvPr id="51" name="Text 48"/>
          <p:cNvSpPr txBox="1"/>
          <p:nvPr/>
        </p:nvSpPr>
        <p:spPr>
          <a:xfrm>
            <a:off x="5449693" y="299142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Desktop app</a:t>
            </a:r>
            <a:endParaRPr lang="en-US" sz="600" dirty="0"/>
          </a:p>
        </p:txBody>
      </p:sp>
      <p:sp>
        <p:nvSpPr>
          <p:cNvPr id="52" name="Text 49"/>
          <p:cNvSpPr txBox="1"/>
          <p:nvPr/>
        </p:nvSpPr>
        <p:spPr>
          <a:xfrm>
            <a:off x="6998034" y="299142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Windows desktop</a:t>
            </a:r>
            <a:endParaRPr lang="en-US" sz="600" dirty="0"/>
          </a:p>
        </p:txBody>
      </p:sp>
      <p:sp>
        <p:nvSpPr>
          <p:cNvPr id="53" name="Text 50"/>
          <p:cNvSpPr txBox="1"/>
          <p:nvPr/>
        </p:nvSpPr>
        <p:spPr>
          <a:xfrm>
            <a:off x="8546374" y="299142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Self-hosted web app</a:t>
            </a:r>
            <a:endParaRPr lang="en-US" sz="600" dirty="0"/>
          </a:p>
        </p:txBody>
      </p:sp>
      <p:sp>
        <p:nvSpPr>
          <p:cNvPr id="54" name="Text 51"/>
          <p:cNvSpPr txBox="1"/>
          <p:nvPr/>
        </p:nvSpPr>
        <p:spPr>
          <a:xfrm>
            <a:off x="10094715" y="299142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CLI (+ Zenmap)</a:t>
            </a:r>
            <a:endParaRPr lang="en-US" sz="600" dirty="0"/>
          </a:p>
        </p:txBody>
      </p:sp>
      <p:sp>
        <p:nvSpPr>
          <p:cNvPr id="55" name="Shape 52"/>
          <p:cNvSpPr/>
          <p:nvPr/>
        </p:nvSpPr>
        <p:spPr>
          <a:xfrm>
            <a:off x="676656" y="3188208"/>
            <a:ext cx="10838383" cy="0"/>
          </a:xfrm>
          <a:prstGeom prst="line">
            <a:avLst/>
          </a:prstGeom>
          <a:noFill/>
          <a:ln w="7620">
            <a:solidFill>
              <a:srgbClr val="E2E7EF"/>
            </a:solidFill>
            <a:prstDash val="solid"/>
          </a:ln>
        </p:spPr>
        <p:txBody>
          <a:bodyPr/>
          <a:lstStyle/>
          <a:p>
            <a:endParaRPr lang="en-TR"/>
          </a:p>
        </p:txBody>
      </p:sp>
      <p:sp>
        <p:nvSpPr>
          <p:cNvPr id="56" name="Text 53"/>
          <p:cNvSpPr txBox="1"/>
          <p:nvPr/>
        </p:nvSpPr>
        <p:spPr>
          <a:xfrm>
            <a:off x="804672" y="324288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ARP layer-2 discovery</a:t>
            </a:r>
            <a:endParaRPr lang="en-US" sz="600" dirty="0"/>
          </a:p>
        </p:txBody>
      </p:sp>
      <p:sp>
        <p:nvSpPr>
          <p:cNvPr id="57" name="Text 54"/>
          <p:cNvSpPr txBox="1"/>
          <p:nvPr/>
        </p:nvSpPr>
        <p:spPr>
          <a:xfrm>
            <a:off x="2353012" y="324288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 raw + fallback</a:t>
            </a:r>
            <a:endParaRPr lang="en-US" sz="600" dirty="0"/>
          </a:p>
        </p:txBody>
      </p:sp>
      <p:sp>
        <p:nvSpPr>
          <p:cNvPr id="58" name="Text 55"/>
          <p:cNvSpPr txBox="1"/>
          <p:nvPr/>
        </p:nvSpPr>
        <p:spPr>
          <a:xfrm>
            <a:off x="3901353" y="324288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a:t>
            </a:r>
            <a:endParaRPr lang="en-US" sz="600" dirty="0"/>
          </a:p>
        </p:txBody>
      </p:sp>
      <p:sp>
        <p:nvSpPr>
          <p:cNvPr id="59" name="Text 56"/>
          <p:cNvSpPr txBox="1"/>
          <p:nvPr/>
        </p:nvSpPr>
        <p:spPr>
          <a:xfrm>
            <a:off x="5449693" y="324288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 ping + port</a:t>
            </a:r>
            <a:endParaRPr lang="en-US" sz="600" dirty="0"/>
          </a:p>
        </p:txBody>
      </p:sp>
      <p:sp>
        <p:nvSpPr>
          <p:cNvPr id="60" name="Text 57"/>
          <p:cNvSpPr txBox="1"/>
          <p:nvPr/>
        </p:nvSpPr>
        <p:spPr>
          <a:xfrm>
            <a:off x="6998034" y="324288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a:t>
            </a:r>
            <a:endParaRPr lang="en-US" sz="600" dirty="0"/>
          </a:p>
        </p:txBody>
      </p:sp>
      <p:sp>
        <p:nvSpPr>
          <p:cNvPr id="61" name="Text 58"/>
          <p:cNvSpPr txBox="1"/>
          <p:nvPr/>
        </p:nvSpPr>
        <p:spPr>
          <a:xfrm>
            <a:off x="8546374" y="324288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a:t>
            </a:r>
            <a:endParaRPr lang="en-US" sz="600" dirty="0"/>
          </a:p>
        </p:txBody>
      </p:sp>
      <p:sp>
        <p:nvSpPr>
          <p:cNvPr id="62" name="Text 59"/>
          <p:cNvSpPr txBox="1"/>
          <p:nvPr/>
        </p:nvSpPr>
        <p:spPr>
          <a:xfrm>
            <a:off x="10094715" y="324288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a:t>
            </a:r>
            <a:endParaRPr lang="en-US" sz="600" dirty="0"/>
          </a:p>
        </p:txBody>
      </p:sp>
      <p:sp>
        <p:nvSpPr>
          <p:cNvPr id="63" name="Shape 60"/>
          <p:cNvSpPr/>
          <p:nvPr/>
        </p:nvSpPr>
        <p:spPr>
          <a:xfrm>
            <a:off x="676656" y="3439668"/>
            <a:ext cx="10838383" cy="251460"/>
          </a:xfrm>
          <a:prstGeom prst="rect">
            <a:avLst/>
          </a:prstGeom>
          <a:solidFill>
            <a:srgbClr val="FAFCFF"/>
          </a:solidFill>
          <a:ln/>
        </p:spPr>
        <p:txBody>
          <a:bodyPr/>
          <a:lstStyle/>
          <a:p>
            <a:endParaRPr lang="en-TR"/>
          </a:p>
        </p:txBody>
      </p:sp>
      <p:sp>
        <p:nvSpPr>
          <p:cNvPr id="64" name="Shape 61"/>
          <p:cNvSpPr/>
          <p:nvPr/>
        </p:nvSpPr>
        <p:spPr>
          <a:xfrm>
            <a:off x="676656" y="3439668"/>
            <a:ext cx="10838383" cy="0"/>
          </a:xfrm>
          <a:prstGeom prst="line">
            <a:avLst/>
          </a:prstGeom>
          <a:noFill/>
          <a:ln w="7620">
            <a:solidFill>
              <a:srgbClr val="E2E7EF"/>
            </a:solidFill>
            <a:prstDash val="solid"/>
          </a:ln>
        </p:spPr>
        <p:txBody>
          <a:bodyPr/>
          <a:lstStyle/>
          <a:p>
            <a:endParaRPr lang="en-TR"/>
          </a:p>
        </p:txBody>
      </p:sp>
      <p:sp>
        <p:nvSpPr>
          <p:cNvPr id="65" name="Text 62"/>
          <p:cNvSpPr txBox="1"/>
          <p:nvPr/>
        </p:nvSpPr>
        <p:spPr>
          <a:xfrm>
            <a:off x="804672" y="34943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mDNS / SSDP / UPnP</a:t>
            </a:r>
            <a:endParaRPr lang="en-US" sz="600" dirty="0"/>
          </a:p>
        </p:txBody>
      </p:sp>
      <p:sp>
        <p:nvSpPr>
          <p:cNvPr id="66" name="Text 63"/>
          <p:cNvSpPr txBox="1"/>
          <p:nvPr/>
        </p:nvSpPr>
        <p:spPr>
          <a:xfrm>
            <a:off x="2353012" y="34943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a:t>
            </a:r>
            <a:endParaRPr lang="en-US" sz="600" dirty="0"/>
          </a:p>
        </p:txBody>
      </p:sp>
      <p:sp>
        <p:nvSpPr>
          <p:cNvPr id="67" name="Text 64"/>
          <p:cNvSpPr txBox="1"/>
          <p:nvPr/>
        </p:nvSpPr>
        <p:spPr>
          <a:xfrm>
            <a:off x="3901353" y="34943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a:t>
            </a:r>
            <a:endParaRPr lang="en-US" sz="600" dirty="0"/>
          </a:p>
        </p:txBody>
      </p:sp>
      <p:sp>
        <p:nvSpPr>
          <p:cNvPr id="68" name="Text 65"/>
          <p:cNvSpPr txBox="1"/>
          <p:nvPr/>
        </p:nvSpPr>
        <p:spPr>
          <a:xfrm>
            <a:off x="5449693" y="34943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69" name="Text 66"/>
          <p:cNvSpPr txBox="1"/>
          <p:nvPr/>
        </p:nvSpPr>
        <p:spPr>
          <a:xfrm>
            <a:off x="6998034" y="34943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98A1F"/>
                </a:solidFill>
                <a:latin typeface="Saira" pitchFamily="34" charset="0"/>
                <a:ea typeface="Saira" pitchFamily="34" charset="-122"/>
                <a:cs typeface="Saira" pitchFamily="34" charset="-120"/>
              </a:rPr>
              <a:t>~</a:t>
            </a:r>
            <a:endParaRPr lang="en-US" sz="600" dirty="0"/>
          </a:p>
        </p:txBody>
      </p:sp>
      <p:sp>
        <p:nvSpPr>
          <p:cNvPr id="70" name="Text 67"/>
          <p:cNvSpPr txBox="1"/>
          <p:nvPr/>
        </p:nvSpPr>
        <p:spPr>
          <a:xfrm>
            <a:off x="8546374" y="34943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98A1F"/>
                </a:solidFill>
                <a:latin typeface="Saira" pitchFamily="34" charset="0"/>
                <a:ea typeface="Saira" pitchFamily="34" charset="-122"/>
                <a:cs typeface="Saira" pitchFamily="34" charset="-120"/>
              </a:rPr>
              <a:t>~</a:t>
            </a:r>
            <a:endParaRPr lang="en-US" sz="600" dirty="0"/>
          </a:p>
        </p:txBody>
      </p:sp>
      <p:sp>
        <p:nvSpPr>
          <p:cNvPr id="71" name="Text 68"/>
          <p:cNvSpPr txBox="1"/>
          <p:nvPr/>
        </p:nvSpPr>
        <p:spPr>
          <a:xfrm>
            <a:off x="10094715" y="34943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98A1F"/>
                </a:solidFill>
                <a:latin typeface="Saira" pitchFamily="34" charset="0"/>
                <a:ea typeface="Saira" pitchFamily="34" charset="-122"/>
                <a:cs typeface="Saira" pitchFamily="34" charset="-120"/>
              </a:rPr>
              <a:t>~ scripted</a:t>
            </a:r>
            <a:endParaRPr lang="en-US" sz="600" dirty="0"/>
          </a:p>
        </p:txBody>
      </p:sp>
      <p:sp>
        <p:nvSpPr>
          <p:cNvPr id="72" name="Shape 69"/>
          <p:cNvSpPr/>
          <p:nvPr/>
        </p:nvSpPr>
        <p:spPr>
          <a:xfrm>
            <a:off x="676656" y="3691128"/>
            <a:ext cx="10838383" cy="0"/>
          </a:xfrm>
          <a:prstGeom prst="line">
            <a:avLst/>
          </a:prstGeom>
          <a:noFill/>
          <a:ln w="7620">
            <a:solidFill>
              <a:srgbClr val="E2E7EF"/>
            </a:solidFill>
            <a:prstDash val="solid"/>
          </a:ln>
        </p:spPr>
        <p:txBody>
          <a:bodyPr/>
          <a:lstStyle/>
          <a:p>
            <a:endParaRPr lang="en-TR"/>
          </a:p>
        </p:txBody>
      </p:sp>
      <p:sp>
        <p:nvSpPr>
          <p:cNvPr id="73" name="Text 70"/>
          <p:cNvSpPr txBox="1"/>
          <p:nvPr/>
        </p:nvSpPr>
        <p:spPr>
          <a:xfrm>
            <a:off x="804672" y="37458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Matter</a:t>
            </a:r>
            <a:endParaRPr lang="en-US" sz="600" dirty="0"/>
          </a:p>
        </p:txBody>
      </p:sp>
      <p:sp>
        <p:nvSpPr>
          <p:cNvPr id="74" name="Text 71"/>
          <p:cNvSpPr txBox="1"/>
          <p:nvPr/>
        </p:nvSpPr>
        <p:spPr>
          <a:xfrm>
            <a:off x="2353012" y="37458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 _matter._tcp</a:t>
            </a:r>
            <a:endParaRPr lang="en-US" sz="600" dirty="0"/>
          </a:p>
        </p:txBody>
      </p:sp>
      <p:sp>
        <p:nvSpPr>
          <p:cNvPr id="75" name="Text 72"/>
          <p:cNvSpPr txBox="1"/>
          <p:nvPr/>
        </p:nvSpPr>
        <p:spPr>
          <a:xfrm>
            <a:off x="3901353" y="37458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98A1F"/>
                </a:solidFill>
                <a:latin typeface="Saira" pitchFamily="34" charset="0"/>
                <a:ea typeface="Saira" pitchFamily="34" charset="-122"/>
                <a:cs typeface="Saira" pitchFamily="34" charset="-120"/>
              </a:rPr>
              <a:t>~</a:t>
            </a:r>
            <a:endParaRPr lang="en-US" sz="600" dirty="0"/>
          </a:p>
        </p:txBody>
      </p:sp>
      <p:sp>
        <p:nvSpPr>
          <p:cNvPr id="76" name="Text 73"/>
          <p:cNvSpPr txBox="1"/>
          <p:nvPr/>
        </p:nvSpPr>
        <p:spPr>
          <a:xfrm>
            <a:off x="5449693" y="37458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77" name="Text 74"/>
          <p:cNvSpPr txBox="1"/>
          <p:nvPr/>
        </p:nvSpPr>
        <p:spPr>
          <a:xfrm>
            <a:off x="6998034" y="37458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78" name="Text 75"/>
          <p:cNvSpPr txBox="1"/>
          <p:nvPr/>
        </p:nvSpPr>
        <p:spPr>
          <a:xfrm>
            <a:off x="8546374" y="37458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79" name="Text 76"/>
          <p:cNvSpPr txBox="1"/>
          <p:nvPr/>
        </p:nvSpPr>
        <p:spPr>
          <a:xfrm>
            <a:off x="10094715" y="37458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80" name="Shape 77"/>
          <p:cNvSpPr/>
          <p:nvPr/>
        </p:nvSpPr>
        <p:spPr>
          <a:xfrm>
            <a:off x="676656" y="3942588"/>
            <a:ext cx="10838383" cy="251460"/>
          </a:xfrm>
          <a:prstGeom prst="rect">
            <a:avLst/>
          </a:prstGeom>
          <a:solidFill>
            <a:srgbClr val="FAFCFF"/>
          </a:solidFill>
          <a:ln/>
        </p:spPr>
        <p:txBody>
          <a:bodyPr/>
          <a:lstStyle/>
          <a:p>
            <a:endParaRPr lang="en-TR"/>
          </a:p>
        </p:txBody>
      </p:sp>
      <p:sp>
        <p:nvSpPr>
          <p:cNvPr id="81" name="Shape 78"/>
          <p:cNvSpPr/>
          <p:nvPr/>
        </p:nvSpPr>
        <p:spPr>
          <a:xfrm>
            <a:off x="676656" y="3942588"/>
            <a:ext cx="10838383" cy="0"/>
          </a:xfrm>
          <a:prstGeom prst="line">
            <a:avLst/>
          </a:prstGeom>
          <a:noFill/>
          <a:ln w="7620">
            <a:solidFill>
              <a:srgbClr val="E2E7EF"/>
            </a:solidFill>
            <a:prstDash val="solid"/>
          </a:ln>
        </p:spPr>
        <p:txBody>
          <a:bodyPr/>
          <a:lstStyle/>
          <a:p>
            <a:endParaRPr lang="en-TR"/>
          </a:p>
        </p:txBody>
      </p:sp>
      <p:sp>
        <p:nvSpPr>
          <p:cNvPr id="82" name="Text 79"/>
          <p:cNvSpPr txBox="1"/>
          <p:nvPr/>
        </p:nvSpPr>
        <p:spPr>
          <a:xfrm>
            <a:off x="804672" y="399726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Bluetooth LE ★</a:t>
            </a:r>
            <a:endParaRPr lang="en-US" sz="600" dirty="0"/>
          </a:p>
        </p:txBody>
      </p:sp>
      <p:sp>
        <p:nvSpPr>
          <p:cNvPr id="83" name="Text 80"/>
          <p:cNvSpPr txBox="1"/>
          <p:nvPr/>
        </p:nvSpPr>
        <p:spPr>
          <a:xfrm>
            <a:off x="2353012" y="399726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a:t>
            </a:r>
            <a:endParaRPr lang="en-US" sz="600" dirty="0"/>
          </a:p>
        </p:txBody>
      </p:sp>
      <p:sp>
        <p:nvSpPr>
          <p:cNvPr id="84" name="Text 81"/>
          <p:cNvSpPr txBox="1"/>
          <p:nvPr/>
        </p:nvSpPr>
        <p:spPr>
          <a:xfrm>
            <a:off x="3901353" y="399726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98A1F"/>
                </a:solidFill>
                <a:latin typeface="Saira" pitchFamily="34" charset="0"/>
                <a:ea typeface="Saira" pitchFamily="34" charset="-122"/>
                <a:cs typeface="Saira" pitchFamily="34" charset="-120"/>
              </a:rPr>
              <a:t>~ mobile only</a:t>
            </a:r>
            <a:endParaRPr lang="en-US" sz="600" dirty="0"/>
          </a:p>
        </p:txBody>
      </p:sp>
      <p:sp>
        <p:nvSpPr>
          <p:cNvPr id="85" name="Text 82"/>
          <p:cNvSpPr txBox="1"/>
          <p:nvPr/>
        </p:nvSpPr>
        <p:spPr>
          <a:xfrm>
            <a:off x="5449693" y="399726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86" name="Text 83"/>
          <p:cNvSpPr txBox="1"/>
          <p:nvPr/>
        </p:nvSpPr>
        <p:spPr>
          <a:xfrm>
            <a:off x="6998034" y="399726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87" name="Text 84"/>
          <p:cNvSpPr txBox="1"/>
          <p:nvPr/>
        </p:nvSpPr>
        <p:spPr>
          <a:xfrm>
            <a:off x="8546374" y="399726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88" name="Text 85"/>
          <p:cNvSpPr txBox="1"/>
          <p:nvPr/>
        </p:nvSpPr>
        <p:spPr>
          <a:xfrm>
            <a:off x="10094715" y="399726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89" name="Shape 86"/>
          <p:cNvSpPr/>
          <p:nvPr/>
        </p:nvSpPr>
        <p:spPr>
          <a:xfrm>
            <a:off x="676656" y="4194048"/>
            <a:ext cx="10838383" cy="0"/>
          </a:xfrm>
          <a:prstGeom prst="line">
            <a:avLst/>
          </a:prstGeom>
          <a:noFill/>
          <a:ln w="7620">
            <a:solidFill>
              <a:srgbClr val="E2E7EF"/>
            </a:solidFill>
            <a:prstDash val="solid"/>
          </a:ln>
        </p:spPr>
        <p:txBody>
          <a:bodyPr/>
          <a:lstStyle/>
          <a:p>
            <a:endParaRPr lang="en-TR"/>
          </a:p>
        </p:txBody>
      </p:sp>
      <p:sp>
        <p:nvSpPr>
          <p:cNvPr id="90" name="Text 87"/>
          <p:cNvSpPr txBox="1"/>
          <p:nvPr/>
        </p:nvSpPr>
        <p:spPr>
          <a:xfrm>
            <a:off x="804672" y="424872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Zigbee / Z-Wave via MQTT ★</a:t>
            </a:r>
            <a:endParaRPr lang="en-US" sz="600" dirty="0"/>
          </a:p>
        </p:txBody>
      </p:sp>
      <p:sp>
        <p:nvSpPr>
          <p:cNvPr id="91" name="Text 88"/>
          <p:cNvSpPr txBox="1"/>
          <p:nvPr/>
        </p:nvSpPr>
        <p:spPr>
          <a:xfrm>
            <a:off x="2353012" y="424872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a:t>
            </a:r>
            <a:endParaRPr lang="en-US" sz="600" dirty="0"/>
          </a:p>
        </p:txBody>
      </p:sp>
      <p:sp>
        <p:nvSpPr>
          <p:cNvPr id="92" name="Text 89"/>
          <p:cNvSpPr txBox="1"/>
          <p:nvPr/>
        </p:nvSpPr>
        <p:spPr>
          <a:xfrm>
            <a:off x="3901353" y="424872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93" name="Text 90"/>
          <p:cNvSpPr txBox="1"/>
          <p:nvPr/>
        </p:nvSpPr>
        <p:spPr>
          <a:xfrm>
            <a:off x="5449693" y="424872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94" name="Text 91"/>
          <p:cNvSpPr txBox="1"/>
          <p:nvPr/>
        </p:nvSpPr>
        <p:spPr>
          <a:xfrm>
            <a:off x="6998034" y="424872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95" name="Text 92"/>
          <p:cNvSpPr txBox="1"/>
          <p:nvPr/>
        </p:nvSpPr>
        <p:spPr>
          <a:xfrm>
            <a:off x="8546374" y="424872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96" name="Text 93"/>
          <p:cNvSpPr txBox="1"/>
          <p:nvPr/>
        </p:nvSpPr>
        <p:spPr>
          <a:xfrm>
            <a:off x="10094715" y="424872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97" name="Shape 94"/>
          <p:cNvSpPr/>
          <p:nvPr/>
        </p:nvSpPr>
        <p:spPr>
          <a:xfrm>
            <a:off x="676656" y="4445508"/>
            <a:ext cx="10838383" cy="251460"/>
          </a:xfrm>
          <a:prstGeom prst="rect">
            <a:avLst/>
          </a:prstGeom>
          <a:solidFill>
            <a:srgbClr val="FAFCFF"/>
          </a:solidFill>
          <a:ln/>
        </p:spPr>
        <p:txBody>
          <a:bodyPr/>
          <a:lstStyle/>
          <a:p>
            <a:endParaRPr lang="en-TR"/>
          </a:p>
        </p:txBody>
      </p:sp>
      <p:sp>
        <p:nvSpPr>
          <p:cNvPr id="98" name="Shape 95"/>
          <p:cNvSpPr/>
          <p:nvPr/>
        </p:nvSpPr>
        <p:spPr>
          <a:xfrm>
            <a:off x="676656" y="4445508"/>
            <a:ext cx="10838383" cy="0"/>
          </a:xfrm>
          <a:prstGeom prst="line">
            <a:avLst/>
          </a:prstGeom>
          <a:noFill/>
          <a:ln w="7620">
            <a:solidFill>
              <a:srgbClr val="E2E7EF"/>
            </a:solidFill>
            <a:prstDash val="solid"/>
          </a:ln>
        </p:spPr>
        <p:txBody>
          <a:bodyPr/>
          <a:lstStyle/>
          <a:p>
            <a:endParaRPr lang="en-TR"/>
          </a:p>
        </p:txBody>
      </p:sp>
      <p:sp>
        <p:nvSpPr>
          <p:cNvPr id="99" name="Text 96"/>
          <p:cNvSpPr txBox="1"/>
          <p:nvPr/>
        </p:nvSpPr>
        <p:spPr>
          <a:xfrm>
            <a:off x="804672" y="450018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Docker containers &amp; networks ★</a:t>
            </a:r>
            <a:endParaRPr lang="en-US" sz="600" dirty="0"/>
          </a:p>
        </p:txBody>
      </p:sp>
      <p:sp>
        <p:nvSpPr>
          <p:cNvPr id="100" name="Text 97"/>
          <p:cNvSpPr txBox="1"/>
          <p:nvPr/>
        </p:nvSpPr>
        <p:spPr>
          <a:xfrm>
            <a:off x="2353012" y="450018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a:t>
            </a:r>
            <a:endParaRPr lang="en-US" sz="600" dirty="0"/>
          </a:p>
        </p:txBody>
      </p:sp>
      <p:sp>
        <p:nvSpPr>
          <p:cNvPr id="101" name="Text 98"/>
          <p:cNvSpPr txBox="1"/>
          <p:nvPr/>
        </p:nvSpPr>
        <p:spPr>
          <a:xfrm>
            <a:off x="3901353" y="450018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102" name="Text 99"/>
          <p:cNvSpPr txBox="1"/>
          <p:nvPr/>
        </p:nvSpPr>
        <p:spPr>
          <a:xfrm>
            <a:off x="5449693" y="450018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103" name="Text 100"/>
          <p:cNvSpPr txBox="1"/>
          <p:nvPr/>
        </p:nvSpPr>
        <p:spPr>
          <a:xfrm>
            <a:off x="6998034" y="450018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104" name="Text 101"/>
          <p:cNvSpPr txBox="1"/>
          <p:nvPr/>
        </p:nvSpPr>
        <p:spPr>
          <a:xfrm>
            <a:off x="8546374" y="450018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105" name="Text 102"/>
          <p:cNvSpPr txBox="1"/>
          <p:nvPr/>
        </p:nvSpPr>
        <p:spPr>
          <a:xfrm>
            <a:off x="10094715" y="450018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106" name="Shape 103"/>
          <p:cNvSpPr/>
          <p:nvPr/>
        </p:nvSpPr>
        <p:spPr>
          <a:xfrm>
            <a:off x="676656" y="4696968"/>
            <a:ext cx="10838383" cy="0"/>
          </a:xfrm>
          <a:prstGeom prst="line">
            <a:avLst/>
          </a:prstGeom>
          <a:noFill/>
          <a:ln w="7620">
            <a:solidFill>
              <a:srgbClr val="E2E7EF"/>
            </a:solidFill>
            <a:prstDash val="solid"/>
          </a:ln>
        </p:spPr>
        <p:txBody>
          <a:bodyPr/>
          <a:lstStyle/>
          <a:p>
            <a:endParaRPr lang="en-TR"/>
          </a:p>
        </p:txBody>
      </p:sp>
      <p:sp>
        <p:nvSpPr>
          <p:cNvPr id="107" name="Text 104"/>
          <p:cNvSpPr txBox="1"/>
          <p:nvPr/>
        </p:nvSpPr>
        <p:spPr>
          <a:xfrm>
            <a:off x="804672" y="47516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Monitoring + alerts</a:t>
            </a:r>
            <a:endParaRPr lang="en-US" sz="600" dirty="0"/>
          </a:p>
        </p:txBody>
      </p:sp>
      <p:sp>
        <p:nvSpPr>
          <p:cNvPr id="108" name="Text 105"/>
          <p:cNvSpPr txBox="1"/>
          <p:nvPr/>
        </p:nvSpPr>
        <p:spPr>
          <a:xfrm>
            <a:off x="2353012" y="47516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 8 rule types</a:t>
            </a:r>
            <a:endParaRPr lang="en-US" sz="600" dirty="0"/>
          </a:p>
        </p:txBody>
      </p:sp>
      <p:sp>
        <p:nvSpPr>
          <p:cNvPr id="109" name="Text 106"/>
          <p:cNvSpPr txBox="1"/>
          <p:nvPr/>
        </p:nvSpPr>
        <p:spPr>
          <a:xfrm>
            <a:off x="3901353" y="47516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98A1F"/>
                </a:solidFill>
                <a:latin typeface="Saira" pitchFamily="34" charset="0"/>
                <a:ea typeface="Saira" pitchFamily="34" charset="-122"/>
                <a:cs typeface="Saira" pitchFamily="34" charset="-120"/>
              </a:rPr>
              <a:t>~ box / premium</a:t>
            </a:r>
            <a:endParaRPr lang="en-US" sz="600" dirty="0"/>
          </a:p>
        </p:txBody>
      </p:sp>
      <p:sp>
        <p:nvSpPr>
          <p:cNvPr id="110" name="Text 107"/>
          <p:cNvSpPr txBox="1"/>
          <p:nvPr/>
        </p:nvSpPr>
        <p:spPr>
          <a:xfrm>
            <a:off x="5449693" y="47516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111" name="Text 108"/>
          <p:cNvSpPr txBox="1"/>
          <p:nvPr/>
        </p:nvSpPr>
        <p:spPr>
          <a:xfrm>
            <a:off x="6998034" y="47516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112" name="Text 109"/>
          <p:cNvSpPr txBox="1"/>
          <p:nvPr/>
        </p:nvSpPr>
        <p:spPr>
          <a:xfrm>
            <a:off x="8546374" y="47516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 its core</a:t>
            </a:r>
            <a:endParaRPr lang="en-US" sz="600" dirty="0"/>
          </a:p>
        </p:txBody>
      </p:sp>
      <p:sp>
        <p:nvSpPr>
          <p:cNvPr id="113" name="Text 110"/>
          <p:cNvSpPr txBox="1"/>
          <p:nvPr/>
        </p:nvSpPr>
        <p:spPr>
          <a:xfrm>
            <a:off x="10094715" y="475164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114" name="Shape 111"/>
          <p:cNvSpPr/>
          <p:nvPr/>
        </p:nvSpPr>
        <p:spPr>
          <a:xfrm>
            <a:off x="676656" y="4948428"/>
            <a:ext cx="10838383" cy="251460"/>
          </a:xfrm>
          <a:prstGeom prst="rect">
            <a:avLst/>
          </a:prstGeom>
          <a:solidFill>
            <a:srgbClr val="FAFCFF"/>
          </a:solidFill>
          <a:ln/>
        </p:spPr>
        <p:txBody>
          <a:bodyPr/>
          <a:lstStyle/>
          <a:p>
            <a:endParaRPr lang="en-TR"/>
          </a:p>
        </p:txBody>
      </p:sp>
      <p:sp>
        <p:nvSpPr>
          <p:cNvPr id="115" name="Shape 112"/>
          <p:cNvSpPr/>
          <p:nvPr/>
        </p:nvSpPr>
        <p:spPr>
          <a:xfrm>
            <a:off x="676656" y="4948428"/>
            <a:ext cx="10838383" cy="0"/>
          </a:xfrm>
          <a:prstGeom prst="line">
            <a:avLst/>
          </a:prstGeom>
          <a:noFill/>
          <a:ln w="7620">
            <a:solidFill>
              <a:srgbClr val="E2E7EF"/>
            </a:solidFill>
            <a:prstDash val="solid"/>
          </a:ln>
        </p:spPr>
        <p:txBody>
          <a:bodyPr/>
          <a:lstStyle/>
          <a:p>
            <a:endParaRPr lang="en-TR"/>
          </a:p>
        </p:txBody>
      </p:sp>
      <p:sp>
        <p:nvSpPr>
          <p:cNvPr id="116" name="Text 113"/>
          <p:cNvSpPr txBox="1"/>
          <p:nvPr/>
        </p:nvSpPr>
        <p:spPr>
          <a:xfrm>
            <a:off x="804672" y="50031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Home Assistant integration</a:t>
            </a:r>
            <a:endParaRPr lang="en-US" sz="600" dirty="0"/>
          </a:p>
        </p:txBody>
      </p:sp>
      <p:sp>
        <p:nvSpPr>
          <p:cNvPr id="117" name="Text 114"/>
          <p:cNvSpPr txBox="1"/>
          <p:nvPr/>
        </p:nvSpPr>
        <p:spPr>
          <a:xfrm>
            <a:off x="2353012" y="50031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 MQTT Discovery + add-on</a:t>
            </a:r>
            <a:endParaRPr lang="en-US" sz="600" dirty="0"/>
          </a:p>
        </p:txBody>
      </p:sp>
      <p:sp>
        <p:nvSpPr>
          <p:cNvPr id="118" name="Text 115"/>
          <p:cNvSpPr txBox="1"/>
          <p:nvPr/>
        </p:nvSpPr>
        <p:spPr>
          <a:xfrm>
            <a:off x="3901353" y="50031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119" name="Text 116"/>
          <p:cNvSpPr txBox="1"/>
          <p:nvPr/>
        </p:nvSpPr>
        <p:spPr>
          <a:xfrm>
            <a:off x="5449693" y="50031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120" name="Text 117"/>
          <p:cNvSpPr txBox="1"/>
          <p:nvPr/>
        </p:nvSpPr>
        <p:spPr>
          <a:xfrm>
            <a:off x="6998034" y="50031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121" name="Text 118"/>
          <p:cNvSpPr txBox="1"/>
          <p:nvPr/>
        </p:nvSpPr>
        <p:spPr>
          <a:xfrm>
            <a:off x="8546374" y="50031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98A1F"/>
                </a:solidFill>
                <a:latin typeface="Saira" pitchFamily="34" charset="0"/>
                <a:ea typeface="Saira" pitchFamily="34" charset="-122"/>
                <a:cs typeface="Saira" pitchFamily="34" charset="-120"/>
              </a:rPr>
              <a:t>~ community</a:t>
            </a:r>
            <a:endParaRPr lang="en-US" sz="600" dirty="0"/>
          </a:p>
        </p:txBody>
      </p:sp>
      <p:sp>
        <p:nvSpPr>
          <p:cNvPr id="122" name="Text 119"/>
          <p:cNvSpPr txBox="1"/>
          <p:nvPr/>
        </p:nvSpPr>
        <p:spPr>
          <a:xfrm>
            <a:off x="10094715" y="5003109"/>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123" name="Shape 120"/>
          <p:cNvSpPr/>
          <p:nvPr/>
        </p:nvSpPr>
        <p:spPr>
          <a:xfrm>
            <a:off x="676656" y="5199888"/>
            <a:ext cx="10838383" cy="0"/>
          </a:xfrm>
          <a:prstGeom prst="line">
            <a:avLst/>
          </a:prstGeom>
          <a:noFill/>
          <a:ln w="7620">
            <a:solidFill>
              <a:srgbClr val="E2E7EF"/>
            </a:solidFill>
            <a:prstDash val="solid"/>
          </a:ln>
        </p:spPr>
        <p:txBody>
          <a:bodyPr/>
          <a:lstStyle/>
          <a:p>
            <a:endParaRPr lang="en-TR"/>
          </a:p>
        </p:txBody>
      </p:sp>
      <p:sp>
        <p:nvSpPr>
          <p:cNvPr id="124" name="Text 121"/>
          <p:cNvSpPr txBox="1"/>
          <p:nvPr/>
        </p:nvSpPr>
        <p:spPr>
          <a:xfrm>
            <a:off x="804672" y="5254569"/>
            <a:ext cx="1292308" cy="347472"/>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Views</a:t>
            </a:r>
            <a:endParaRPr lang="en-US" sz="600" dirty="0"/>
          </a:p>
        </p:txBody>
      </p:sp>
      <p:sp>
        <p:nvSpPr>
          <p:cNvPr id="125" name="Text 122"/>
          <p:cNvSpPr txBox="1"/>
          <p:nvPr/>
        </p:nvSpPr>
        <p:spPr>
          <a:xfrm>
            <a:off x="2353012" y="5254569"/>
            <a:ext cx="1292308" cy="347472"/>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Card, table, </a:t>
            </a:r>
            <a:r>
              <a:rPr lang="en-US" sz="600" dirty="0">
                <a:solidFill>
                  <a:srgbClr val="141A24"/>
                </a:solidFill>
                <a:latin typeface="Saira Medium" pitchFamily="34" charset="0"/>
                <a:ea typeface="Saira Medium" pitchFamily="34" charset="-122"/>
                <a:cs typeface="Saira Medium" pitchFamily="34" charset="-120"/>
              </a:rPr>
              <a:t>graph, topology, floor plan</a:t>
            </a:r>
            <a:endParaRPr lang="en-US" sz="600" dirty="0"/>
          </a:p>
        </p:txBody>
      </p:sp>
      <p:sp>
        <p:nvSpPr>
          <p:cNvPr id="126" name="Text 123"/>
          <p:cNvSpPr txBox="1"/>
          <p:nvPr/>
        </p:nvSpPr>
        <p:spPr>
          <a:xfrm>
            <a:off x="3901353" y="5254569"/>
            <a:ext cx="1292308" cy="347472"/>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List</a:t>
            </a:r>
            <a:endParaRPr lang="en-US" sz="600" dirty="0"/>
          </a:p>
        </p:txBody>
      </p:sp>
      <p:sp>
        <p:nvSpPr>
          <p:cNvPr id="127" name="Text 124"/>
          <p:cNvSpPr txBox="1"/>
          <p:nvPr/>
        </p:nvSpPr>
        <p:spPr>
          <a:xfrm>
            <a:off x="5449693" y="5254569"/>
            <a:ext cx="1292308" cy="347472"/>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List</a:t>
            </a:r>
            <a:endParaRPr lang="en-US" sz="600" dirty="0"/>
          </a:p>
        </p:txBody>
      </p:sp>
      <p:sp>
        <p:nvSpPr>
          <p:cNvPr id="128" name="Text 125"/>
          <p:cNvSpPr txBox="1"/>
          <p:nvPr/>
        </p:nvSpPr>
        <p:spPr>
          <a:xfrm>
            <a:off x="6998034" y="5254569"/>
            <a:ext cx="1292308" cy="347472"/>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List</a:t>
            </a:r>
            <a:endParaRPr lang="en-US" sz="600" dirty="0"/>
          </a:p>
        </p:txBody>
      </p:sp>
      <p:sp>
        <p:nvSpPr>
          <p:cNvPr id="129" name="Text 126"/>
          <p:cNvSpPr txBox="1"/>
          <p:nvPr/>
        </p:nvSpPr>
        <p:spPr>
          <a:xfrm>
            <a:off x="8546374" y="5254569"/>
            <a:ext cx="1292308" cy="347472"/>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List</a:t>
            </a:r>
            <a:endParaRPr lang="en-US" sz="600" dirty="0"/>
          </a:p>
        </p:txBody>
      </p:sp>
      <p:sp>
        <p:nvSpPr>
          <p:cNvPr id="130" name="Text 127"/>
          <p:cNvSpPr txBox="1"/>
          <p:nvPr/>
        </p:nvSpPr>
        <p:spPr>
          <a:xfrm>
            <a:off x="10094715" y="5254569"/>
            <a:ext cx="1292308" cy="347472"/>
          </a:xfrm>
          <a:prstGeom prst="rect">
            <a:avLst/>
          </a:prstGeom>
          <a:noFill/>
          <a:ln/>
        </p:spPr>
        <p:txBody>
          <a:bodyPr wrap="square" lIns="0" tIns="0" rIns="0" bIns="0" rtlCol="0" anchor="t"/>
          <a:lstStyle/>
          <a:p>
            <a:pPr marL="0" indent="0" algn="l">
              <a:lnSpc>
                <a:spcPts val="756"/>
              </a:lnSpc>
              <a:buNone/>
            </a:pPr>
            <a:r>
              <a:rPr lang="en-US" sz="600" dirty="0">
                <a:solidFill>
                  <a:srgbClr val="D98A1F"/>
                </a:solidFill>
                <a:latin typeface="Saira" pitchFamily="34" charset="0"/>
                <a:ea typeface="Saira" pitchFamily="34" charset="-122"/>
                <a:cs typeface="Saira" pitchFamily="34" charset="-120"/>
              </a:rPr>
              <a:t>~ Zenmap topology</a:t>
            </a:r>
            <a:endParaRPr lang="en-US" sz="600" dirty="0"/>
          </a:p>
        </p:txBody>
      </p:sp>
      <p:sp>
        <p:nvSpPr>
          <p:cNvPr id="131" name="Shape 128"/>
          <p:cNvSpPr/>
          <p:nvPr/>
        </p:nvSpPr>
        <p:spPr>
          <a:xfrm>
            <a:off x="676656" y="5547360"/>
            <a:ext cx="10838383" cy="251460"/>
          </a:xfrm>
          <a:prstGeom prst="rect">
            <a:avLst/>
          </a:prstGeom>
          <a:solidFill>
            <a:srgbClr val="FAFCFF"/>
          </a:solidFill>
          <a:ln/>
        </p:spPr>
        <p:txBody>
          <a:bodyPr/>
          <a:lstStyle/>
          <a:p>
            <a:endParaRPr lang="en-TR"/>
          </a:p>
        </p:txBody>
      </p:sp>
      <p:sp>
        <p:nvSpPr>
          <p:cNvPr id="132" name="Shape 129"/>
          <p:cNvSpPr/>
          <p:nvPr/>
        </p:nvSpPr>
        <p:spPr>
          <a:xfrm>
            <a:off x="676656" y="5547360"/>
            <a:ext cx="10838383" cy="0"/>
          </a:xfrm>
          <a:prstGeom prst="line">
            <a:avLst/>
          </a:prstGeom>
          <a:noFill/>
          <a:ln w="7620">
            <a:solidFill>
              <a:srgbClr val="E2E7EF"/>
            </a:solidFill>
            <a:prstDash val="solid"/>
          </a:ln>
        </p:spPr>
        <p:txBody>
          <a:bodyPr/>
          <a:lstStyle/>
          <a:p>
            <a:endParaRPr lang="en-TR"/>
          </a:p>
        </p:txBody>
      </p:sp>
      <p:sp>
        <p:nvSpPr>
          <p:cNvPr id="133" name="Text 130"/>
          <p:cNvSpPr txBox="1"/>
          <p:nvPr/>
        </p:nvSpPr>
        <p:spPr>
          <a:xfrm>
            <a:off x="804672" y="560204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Native mobile app</a:t>
            </a:r>
            <a:endParaRPr lang="en-US" sz="600" dirty="0"/>
          </a:p>
        </p:txBody>
      </p:sp>
      <p:sp>
        <p:nvSpPr>
          <p:cNvPr id="134" name="Text 131"/>
          <p:cNvSpPr txBox="1"/>
          <p:nvPr/>
        </p:nvSpPr>
        <p:spPr>
          <a:xfrm>
            <a:off x="2353012" y="560204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 iOS + Android + PWA</a:t>
            </a:r>
            <a:endParaRPr lang="en-US" sz="600" dirty="0"/>
          </a:p>
        </p:txBody>
      </p:sp>
      <p:sp>
        <p:nvSpPr>
          <p:cNvPr id="135" name="Text 132"/>
          <p:cNvSpPr txBox="1"/>
          <p:nvPr/>
        </p:nvSpPr>
        <p:spPr>
          <a:xfrm>
            <a:off x="3901353" y="560204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 native</a:t>
            </a:r>
            <a:endParaRPr lang="en-US" sz="600" dirty="0"/>
          </a:p>
        </p:txBody>
      </p:sp>
      <p:sp>
        <p:nvSpPr>
          <p:cNvPr id="136" name="Text 133"/>
          <p:cNvSpPr txBox="1"/>
          <p:nvPr/>
        </p:nvSpPr>
        <p:spPr>
          <a:xfrm>
            <a:off x="5449693" y="560204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137" name="Text 134"/>
          <p:cNvSpPr txBox="1"/>
          <p:nvPr/>
        </p:nvSpPr>
        <p:spPr>
          <a:xfrm>
            <a:off x="6998034" y="560204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138" name="Text 135"/>
          <p:cNvSpPr txBox="1"/>
          <p:nvPr/>
        </p:nvSpPr>
        <p:spPr>
          <a:xfrm>
            <a:off x="8546374" y="560204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98A1F"/>
                </a:solidFill>
                <a:latin typeface="Saira" pitchFamily="34" charset="0"/>
                <a:ea typeface="Saira" pitchFamily="34" charset="-122"/>
                <a:cs typeface="Saira" pitchFamily="34" charset="-120"/>
              </a:rPr>
              <a:t>~ PWA</a:t>
            </a:r>
            <a:endParaRPr lang="en-US" sz="600" dirty="0"/>
          </a:p>
        </p:txBody>
      </p:sp>
      <p:sp>
        <p:nvSpPr>
          <p:cNvPr id="139" name="Text 136"/>
          <p:cNvSpPr txBox="1"/>
          <p:nvPr/>
        </p:nvSpPr>
        <p:spPr>
          <a:xfrm>
            <a:off x="10094715" y="560204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140" name="Shape 137"/>
          <p:cNvSpPr/>
          <p:nvPr/>
        </p:nvSpPr>
        <p:spPr>
          <a:xfrm>
            <a:off x="676656" y="5798820"/>
            <a:ext cx="10838383" cy="0"/>
          </a:xfrm>
          <a:prstGeom prst="line">
            <a:avLst/>
          </a:prstGeom>
          <a:noFill/>
          <a:ln w="7620">
            <a:solidFill>
              <a:srgbClr val="E2E7EF"/>
            </a:solidFill>
            <a:prstDash val="solid"/>
          </a:ln>
        </p:spPr>
        <p:txBody>
          <a:bodyPr/>
          <a:lstStyle/>
          <a:p>
            <a:endParaRPr lang="en-TR"/>
          </a:p>
        </p:txBody>
      </p:sp>
      <p:sp>
        <p:nvSpPr>
          <p:cNvPr id="141" name="Text 138"/>
          <p:cNvSpPr txBox="1"/>
          <p:nvPr/>
        </p:nvSpPr>
        <p:spPr>
          <a:xfrm>
            <a:off x="804672" y="585350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Device fingerprint depth</a:t>
            </a:r>
            <a:endParaRPr lang="en-US" sz="600" dirty="0"/>
          </a:p>
        </p:txBody>
      </p:sp>
      <p:sp>
        <p:nvSpPr>
          <p:cNvPr id="142" name="Text 139"/>
          <p:cNvSpPr txBox="1"/>
          <p:nvPr/>
        </p:nvSpPr>
        <p:spPr>
          <a:xfrm>
            <a:off x="2353012" y="585350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98A1F"/>
                </a:solidFill>
                <a:latin typeface="Saira" pitchFamily="34" charset="0"/>
                <a:ea typeface="Saira" pitchFamily="34" charset="-122"/>
                <a:cs typeface="Saira" pitchFamily="34" charset="-120"/>
              </a:rPr>
              <a:t>~ OUI + heuristics + AI</a:t>
            </a:r>
            <a:endParaRPr lang="en-US" sz="600" dirty="0"/>
          </a:p>
        </p:txBody>
      </p:sp>
      <p:sp>
        <p:nvSpPr>
          <p:cNvPr id="143" name="Text 140"/>
          <p:cNvSpPr txBox="1"/>
          <p:nvPr/>
        </p:nvSpPr>
        <p:spPr>
          <a:xfrm>
            <a:off x="3901353" y="585350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 crowdsourced, largest</a:t>
            </a:r>
            <a:endParaRPr lang="en-US" sz="600" dirty="0"/>
          </a:p>
        </p:txBody>
      </p:sp>
      <p:sp>
        <p:nvSpPr>
          <p:cNvPr id="144" name="Text 141"/>
          <p:cNvSpPr txBox="1"/>
          <p:nvPr/>
        </p:nvSpPr>
        <p:spPr>
          <a:xfrm>
            <a:off x="5449693" y="585350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145" name="Text 142"/>
          <p:cNvSpPr txBox="1"/>
          <p:nvPr/>
        </p:nvSpPr>
        <p:spPr>
          <a:xfrm>
            <a:off x="6998034" y="585350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C3F4A"/>
                </a:solidFill>
                <a:latin typeface="Saira" pitchFamily="34" charset="0"/>
                <a:ea typeface="Saira" pitchFamily="34" charset="-122"/>
                <a:cs typeface="Saira" pitchFamily="34" charset="-120"/>
              </a:rPr>
              <a:t>✕</a:t>
            </a:r>
            <a:endParaRPr lang="en-US" sz="600" dirty="0"/>
          </a:p>
        </p:txBody>
      </p:sp>
      <p:sp>
        <p:nvSpPr>
          <p:cNvPr id="146" name="Text 143"/>
          <p:cNvSpPr txBox="1"/>
          <p:nvPr/>
        </p:nvSpPr>
        <p:spPr>
          <a:xfrm>
            <a:off x="8546374" y="585350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98A1F"/>
                </a:solidFill>
                <a:latin typeface="Saira" pitchFamily="34" charset="0"/>
                <a:ea typeface="Saira" pitchFamily="34" charset="-122"/>
                <a:cs typeface="Saira" pitchFamily="34" charset="-120"/>
              </a:rPr>
              <a:t>~</a:t>
            </a:r>
            <a:endParaRPr lang="en-US" sz="600" dirty="0"/>
          </a:p>
        </p:txBody>
      </p:sp>
      <p:sp>
        <p:nvSpPr>
          <p:cNvPr id="147" name="Text 144"/>
          <p:cNvSpPr txBox="1"/>
          <p:nvPr/>
        </p:nvSpPr>
        <p:spPr>
          <a:xfrm>
            <a:off x="10094715" y="585350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7A05C"/>
                </a:solidFill>
                <a:latin typeface="Saira" pitchFamily="34" charset="0"/>
                <a:ea typeface="Saira" pitchFamily="34" charset="-122"/>
                <a:cs typeface="Saira" pitchFamily="34" charset="-120"/>
              </a:rPr>
              <a:t>✓ best in class</a:t>
            </a:r>
            <a:endParaRPr lang="en-US" sz="600" dirty="0"/>
          </a:p>
        </p:txBody>
      </p:sp>
      <p:sp>
        <p:nvSpPr>
          <p:cNvPr id="148" name="Shape 145"/>
          <p:cNvSpPr/>
          <p:nvPr/>
        </p:nvSpPr>
        <p:spPr>
          <a:xfrm>
            <a:off x="676656" y="6050280"/>
            <a:ext cx="10838383" cy="251460"/>
          </a:xfrm>
          <a:prstGeom prst="rect">
            <a:avLst/>
          </a:prstGeom>
          <a:solidFill>
            <a:srgbClr val="FAFCFF"/>
          </a:solidFill>
          <a:ln/>
        </p:spPr>
        <p:txBody>
          <a:bodyPr/>
          <a:lstStyle/>
          <a:p>
            <a:endParaRPr lang="en-TR"/>
          </a:p>
        </p:txBody>
      </p:sp>
      <p:sp>
        <p:nvSpPr>
          <p:cNvPr id="149" name="Shape 146"/>
          <p:cNvSpPr/>
          <p:nvPr/>
        </p:nvSpPr>
        <p:spPr>
          <a:xfrm>
            <a:off x="676656" y="6050280"/>
            <a:ext cx="10838383" cy="0"/>
          </a:xfrm>
          <a:prstGeom prst="line">
            <a:avLst/>
          </a:prstGeom>
          <a:noFill/>
          <a:ln w="7620">
            <a:solidFill>
              <a:srgbClr val="E2E7EF"/>
            </a:solidFill>
            <a:prstDash val="solid"/>
          </a:ln>
        </p:spPr>
        <p:txBody>
          <a:bodyPr/>
          <a:lstStyle/>
          <a:p>
            <a:endParaRPr lang="en-TR"/>
          </a:p>
        </p:txBody>
      </p:sp>
      <p:sp>
        <p:nvSpPr>
          <p:cNvPr id="150" name="Text 147"/>
          <p:cNvSpPr txBox="1"/>
          <p:nvPr/>
        </p:nvSpPr>
        <p:spPr>
          <a:xfrm>
            <a:off x="804672" y="610496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Maturity</a:t>
            </a:r>
            <a:endParaRPr lang="en-US" sz="600" dirty="0"/>
          </a:p>
        </p:txBody>
      </p:sp>
      <p:sp>
        <p:nvSpPr>
          <p:cNvPr id="151" name="Text 148"/>
          <p:cNvSpPr txBox="1"/>
          <p:nvPr/>
        </p:nvSpPr>
        <p:spPr>
          <a:xfrm>
            <a:off x="2353012" y="610496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Young · 2025– · one maintainer</a:t>
            </a:r>
            <a:endParaRPr lang="en-US" sz="600" dirty="0"/>
          </a:p>
        </p:txBody>
      </p:sp>
      <p:sp>
        <p:nvSpPr>
          <p:cNvPr id="152" name="Text 149"/>
          <p:cNvSpPr txBox="1"/>
          <p:nvPr/>
        </p:nvSpPr>
        <p:spPr>
          <a:xfrm>
            <a:off x="3901353" y="610496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98A1F"/>
                </a:solidFill>
                <a:latin typeface="Saira" pitchFamily="34" charset="0"/>
                <a:ea typeface="Saira" pitchFamily="34" charset="-122"/>
                <a:cs typeface="Saira" pitchFamily="34" charset="-120"/>
              </a:rPr>
              <a:t>~15 years · a company</a:t>
            </a:r>
            <a:endParaRPr lang="en-US" sz="600" dirty="0"/>
          </a:p>
        </p:txBody>
      </p:sp>
      <p:sp>
        <p:nvSpPr>
          <p:cNvPr id="153" name="Text 150"/>
          <p:cNvSpPr txBox="1"/>
          <p:nvPr/>
        </p:nvSpPr>
        <p:spPr>
          <a:xfrm>
            <a:off x="5449693" y="610496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98A1F"/>
                </a:solidFill>
                <a:latin typeface="Saira" pitchFamily="34" charset="0"/>
                <a:ea typeface="Saira" pitchFamily="34" charset="-122"/>
                <a:cs typeface="Saira" pitchFamily="34" charset="-120"/>
              </a:rPr>
              <a:t>~20 years</a:t>
            </a:r>
            <a:endParaRPr lang="en-US" sz="600" dirty="0"/>
          </a:p>
        </p:txBody>
      </p:sp>
      <p:sp>
        <p:nvSpPr>
          <p:cNvPr id="154" name="Text 151"/>
          <p:cNvSpPr txBox="1"/>
          <p:nvPr/>
        </p:nvSpPr>
        <p:spPr>
          <a:xfrm>
            <a:off x="6998034" y="610496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98A1F"/>
                </a:solidFill>
                <a:latin typeface="Saira" pitchFamily="34" charset="0"/>
                <a:ea typeface="Saira" pitchFamily="34" charset="-122"/>
                <a:cs typeface="Saira" pitchFamily="34" charset="-120"/>
              </a:rPr>
              <a:t>~15 years</a:t>
            </a:r>
            <a:endParaRPr lang="en-US" sz="600" dirty="0"/>
          </a:p>
        </p:txBody>
      </p:sp>
      <p:sp>
        <p:nvSpPr>
          <p:cNvPr id="155" name="Text 152"/>
          <p:cNvSpPr txBox="1"/>
          <p:nvPr/>
        </p:nvSpPr>
        <p:spPr>
          <a:xfrm>
            <a:off x="8546374" y="610496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Several years, active</a:t>
            </a:r>
            <a:endParaRPr lang="en-US" sz="600" dirty="0"/>
          </a:p>
        </p:txBody>
      </p:sp>
      <p:sp>
        <p:nvSpPr>
          <p:cNvPr id="156" name="Text 153"/>
          <p:cNvSpPr txBox="1"/>
          <p:nvPr/>
        </p:nvSpPr>
        <p:spPr>
          <a:xfrm>
            <a:off x="10094715" y="6104961"/>
            <a:ext cx="1292308" cy="251460"/>
          </a:xfrm>
          <a:prstGeom prst="rect">
            <a:avLst/>
          </a:prstGeom>
          <a:noFill/>
          <a:ln/>
        </p:spPr>
        <p:txBody>
          <a:bodyPr wrap="square" lIns="0" tIns="0" rIns="0" bIns="0" rtlCol="0" anchor="t"/>
          <a:lstStyle/>
          <a:p>
            <a:pPr marL="0" indent="0" algn="l">
              <a:lnSpc>
                <a:spcPts val="756"/>
              </a:lnSpc>
              <a:buNone/>
            </a:pPr>
            <a:r>
              <a:rPr lang="en-US" sz="600" dirty="0">
                <a:solidFill>
                  <a:srgbClr val="D98A1F"/>
                </a:solidFill>
                <a:latin typeface="Saira" pitchFamily="34" charset="0"/>
                <a:ea typeface="Saira" pitchFamily="34" charset="-122"/>
                <a:cs typeface="Saira" pitchFamily="34" charset="-120"/>
              </a:rPr>
              <a:t>~25 years</a:t>
            </a:r>
            <a:endParaRPr lang="en-US" sz="600" dirty="0"/>
          </a:p>
        </p:txBody>
      </p:sp>
      <p:sp>
        <p:nvSpPr>
          <p:cNvPr id="157" name="Shape 154"/>
          <p:cNvSpPr/>
          <p:nvPr/>
        </p:nvSpPr>
        <p:spPr>
          <a:xfrm>
            <a:off x="676656" y="1871472"/>
            <a:ext cx="10838383" cy="4430268"/>
          </a:xfrm>
          <a:prstGeom prst="rect">
            <a:avLst/>
          </a:prstGeom>
          <a:ln w="11430">
            <a:solidFill>
              <a:srgbClr val="E2E7EF"/>
            </a:solidFill>
            <a:prstDash val="solid"/>
          </a:ln>
        </p:spPr>
        <p:txBody>
          <a:bodyPr/>
          <a:lstStyle/>
          <a:p>
            <a:endParaRPr lang="en-TR"/>
          </a:p>
        </p:txBody>
      </p:sp>
      <p:sp>
        <p:nvSpPr>
          <p:cNvPr id="159" name="Rectangle 158">
            <a:extLst>
              <a:ext uri="{FF2B5EF4-FFF2-40B4-BE49-F238E27FC236}">
                <a16:creationId xmlns:a16="http://schemas.microsoft.com/office/drawing/2014/main" id="{11249E03-76F1-00BB-3238-B55F2FB47F88}"/>
              </a:ext>
            </a:extLst>
          </p:cNvPr>
          <p:cNvSpPr/>
          <p:nvPr/>
        </p:nvSpPr>
        <p:spPr>
          <a:xfrm>
            <a:off x="2224996" y="1871472"/>
            <a:ext cx="1420324" cy="4437888"/>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1014317"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1014317"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The market</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868497"/>
            <a:ext cx="10808208" cy="753110"/>
          </a:xfrm>
          <a:prstGeom prst="rect">
            <a:avLst/>
          </a:prstGeom>
          <a:noFill/>
          <a:ln/>
        </p:spPr>
        <p:txBody>
          <a:bodyPr wrap="square" lIns="0" tIns="0" rIns="0" bIns="0" rtlCol="0" anchor="t"/>
          <a:lstStyle/>
          <a:p>
            <a:pPr marL="0" indent="0" algn="l">
              <a:lnSpc>
                <a:spcPts val="3410"/>
              </a:lnSpc>
              <a:buNone/>
            </a:pPr>
            <a:r>
              <a:rPr lang="en-US" sz="3100" b="1" kern="0" spc="-43" dirty="0">
                <a:solidFill>
                  <a:srgbClr val="141A24"/>
                </a:solidFill>
                <a:latin typeface="Saira Cond" pitchFamily="34" charset="0"/>
                <a:ea typeface="Saira Cond" pitchFamily="34" charset="-122"/>
                <a:cs typeface="Saira Cond" pitchFamily="34" charset="-120"/>
              </a:rPr>
              <a:t>Where MyNeS wins — and where you should use something else.</a:t>
            </a:r>
            <a:endParaRPr lang="en-US" sz="3100" dirty="0"/>
          </a:p>
        </p:txBody>
      </p:sp>
      <p:sp>
        <p:nvSpPr>
          <p:cNvPr id="12" name="Text 9"/>
          <p:cNvSpPr txBox="1"/>
          <p:nvPr/>
        </p:nvSpPr>
        <p:spPr>
          <a:xfrm>
            <a:off x="676656" y="1592539"/>
            <a:ext cx="5163160" cy="256032"/>
          </a:xfrm>
          <a:prstGeom prst="rect">
            <a:avLst/>
          </a:prstGeom>
          <a:noFill/>
          <a:ln/>
        </p:spPr>
        <p:txBody>
          <a:bodyPr wrap="square" lIns="0" tIns="0" rIns="0" bIns="0" rtlCol="0" anchor="t"/>
          <a:lstStyle/>
          <a:p>
            <a:pPr marL="0" indent="0" algn="l">
              <a:buNone/>
            </a:pPr>
            <a:r>
              <a:rPr lang="en-US" sz="1300" dirty="0">
                <a:solidFill>
                  <a:srgbClr val="17A05C"/>
                </a:solidFill>
                <a:latin typeface="Saira Cond SemiBold" pitchFamily="34" charset="0"/>
                <a:ea typeface="Saira Cond SemiBold" pitchFamily="34" charset="-122"/>
                <a:cs typeface="Saira Cond SemiBold" pitchFamily="34" charset="-120"/>
              </a:rPr>
              <a:t>Where it wins</a:t>
            </a:r>
            <a:endParaRPr lang="en-US" sz="1300" dirty="0"/>
          </a:p>
        </p:txBody>
      </p:sp>
      <p:sp>
        <p:nvSpPr>
          <p:cNvPr id="13" name="Shape 10"/>
          <p:cNvSpPr/>
          <p:nvPr/>
        </p:nvSpPr>
        <p:spPr>
          <a:xfrm>
            <a:off x="676656" y="1989938"/>
            <a:ext cx="5163160" cy="0"/>
          </a:xfrm>
          <a:prstGeom prst="line">
            <a:avLst/>
          </a:prstGeom>
          <a:noFill/>
          <a:ln w="20320">
            <a:solidFill>
              <a:srgbClr val="17A05C"/>
            </a:solidFill>
            <a:prstDash val="solid"/>
          </a:ln>
        </p:spPr>
        <p:txBody>
          <a:bodyPr/>
          <a:lstStyle/>
          <a:p>
            <a:endParaRPr lang="en-TR"/>
          </a:p>
        </p:txBody>
      </p:sp>
      <p:sp>
        <p:nvSpPr>
          <p:cNvPr id="14" name="Shape 11"/>
          <p:cNvSpPr/>
          <p:nvPr/>
        </p:nvSpPr>
        <p:spPr>
          <a:xfrm>
            <a:off x="708660" y="2201164"/>
            <a:ext cx="72009" cy="72009"/>
          </a:xfrm>
          <a:prstGeom prst="ellipse">
            <a:avLst/>
          </a:prstGeom>
          <a:solidFill>
            <a:srgbClr val="17A05C"/>
          </a:solidFill>
          <a:ln/>
        </p:spPr>
        <p:txBody>
          <a:bodyPr/>
          <a:lstStyle/>
          <a:p>
            <a:endParaRPr lang="en-TR"/>
          </a:p>
        </p:txBody>
      </p:sp>
      <p:sp>
        <p:nvSpPr>
          <p:cNvPr id="15" name="Text 12"/>
          <p:cNvSpPr txBox="1"/>
          <p:nvPr/>
        </p:nvSpPr>
        <p:spPr>
          <a:xfrm>
            <a:off x="914400" y="2125726"/>
            <a:ext cx="4925416" cy="489966"/>
          </a:xfrm>
          <a:prstGeom prst="rect">
            <a:avLst/>
          </a:prstGeom>
          <a:noFill/>
          <a:ln/>
        </p:spPr>
        <p:txBody>
          <a:bodyPr wrap="square" lIns="0" tIns="0" rIns="0" bIns="0" rtlCol="0" anchor="t"/>
          <a:lstStyle/>
          <a:p>
            <a:pPr marL="0" indent="0" algn="l">
              <a:lnSpc>
                <a:spcPts val="1065"/>
              </a:lnSpc>
              <a:buNone/>
            </a:pPr>
            <a:r>
              <a:rPr lang="en-US" sz="750" dirty="0">
                <a:solidFill>
                  <a:srgbClr val="141A24"/>
                </a:solidFill>
                <a:latin typeface="Saira Medium" pitchFamily="34" charset="0"/>
                <a:ea typeface="Saira Medium" pitchFamily="34" charset="-122"/>
                <a:cs typeface="Saira Medium" pitchFamily="34" charset="-120"/>
              </a:rPr>
              <a:t>It sees what nothing else sees.</a:t>
            </a:r>
            <a:r>
              <a:rPr lang="en-US" sz="750" dirty="0">
                <a:solidFill>
                  <a:srgbClr val="606A79"/>
                </a:solidFill>
                <a:latin typeface="Saira" pitchFamily="34" charset="0"/>
                <a:ea typeface="Saira" pitchFamily="34" charset="-122"/>
                <a:cs typeface="Saira" pitchFamily="34" charset="-120"/>
              </a:rPr>
              <a:t> Bluetooth LE, Zigbee, Z-Wave and Matter are invisible to every other tool in the matrix. In a 2026 smart home that is often a third of the devices.</a:t>
            </a:r>
            <a:endParaRPr lang="en-US" sz="750" dirty="0"/>
          </a:p>
        </p:txBody>
      </p:sp>
      <p:sp>
        <p:nvSpPr>
          <p:cNvPr id="16" name="Shape 13"/>
          <p:cNvSpPr/>
          <p:nvPr/>
        </p:nvSpPr>
        <p:spPr>
          <a:xfrm>
            <a:off x="708660" y="2654554"/>
            <a:ext cx="72009" cy="72009"/>
          </a:xfrm>
          <a:prstGeom prst="ellipse">
            <a:avLst/>
          </a:prstGeom>
          <a:solidFill>
            <a:srgbClr val="17A05C"/>
          </a:solidFill>
          <a:ln/>
        </p:spPr>
        <p:txBody>
          <a:bodyPr/>
          <a:lstStyle/>
          <a:p>
            <a:endParaRPr lang="en-TR"/>
          </a:p>
        </p:txBody>
      </p:sp>
      <p:sp>
        <p:nvSpPr>
          <p:cNvPr id="17" name="Text 14"/>
          <p:cNvSpPr txBox="1"/>
          <p:nvPr/>
        </p:nvSpPr>
        <p:spPr>
          <a:xfrm>
            <a:off x="914400" y="2579116"/>
            <a:ext cx="4925416" cy="354711"/>
          </a:xfrm>
          <a:prstGeom prst="rect">
            <a:avLst/>
          </a:prstGeom>
          <a:noFill/>
          <a:ln/>
        </p:spPr>
        <p:txBody>
          <a:bodyPr wrap="square" lIns="0" tIns="0" rIns="0" bIns="0" rtlCol="0" anchor="t"/>
          <a:lstStyle/>
          <a:p>
            <a:pPr marL="0" indent="0" algn="l">
              <a:lnSpc>
                <a:spcPts val="1065"/>
              </a:lnSpc>
              <a:buNone/>
            </a:pPr>
            <a:r>
              <a:rPr lang="en-US" sz="750" dirty="0">
                <a:solidFill>
                  <a:srgbClr val="141A24"/>
                </a:solidFill>
                <a:latin typeface="Saira Medium" pitchFamily="34" charset="0"/>
                <a:ea typeface="Saira Medium" pitchFamily="34" charset="-122"/>
                <a:cs typeface="Saira Medium" pitchFamily="34" charset="-120"/>
              </a:rPr>
              <a:t>Self-hosted, no account, no telemetry.</a:t>
            </a:r>
            <a:r>
              <a:rPr lang="en-US" sz="750" dirty="0">
                <a:solidFill>
                  <a:srgbClr val="606A79"/>
                </a:solidFill>
                <a:latin typeface="Saira" pitchFamily="34" charset="0"/>
                <a:ea typeface="Saira" pitchFamily="34" charset="-122"/>
                <a:cs typeface="Saira" pitchFamily="34" charset="-120"/>
              </a:rPr>
              <a:t> AGPL-3.0, one container, on hardware you already own.</a:t>
            </a:r>
            <a:endParaRPr lang="en-US" sz="750" dirty="0"/>
          </a:p>
        </p:txBody>
      </p:sp>
      <p:sp>
        <p:nvSpPr>
          <p:cNvPr id="18" name="Shape 15"/>
          <p:cNvSpPr/>
          <p:nvPr/>
        </p:nvSpPr>
        <p:spPr>
          <a:xfrm>
            <a:off x="708660" y="2972689"/>
            <a:ext cx="72009" cy="72009"/>
          </a:xfrm>
          <a:prstGeom prst="ellipse">
            <a:avLst/>
          </a:prstGeom>
          <a:solidFill>
            <a:srgbClr val="17A05C"/>
          </a:solidFill>
          <a:ln/>
        </p:spPr>
        <p:txBody>
          <a:bodyPr/>
          <a:lstStyle/>
          <a:p>
            <a:endParaRPr lang="en-TR"/>
          </a:p>
        </p:txBody>
      </p:sp>
      <p:sp>
        <p:nvSpPr>
          <p:cNvPr id="19" name="Text 16"/>
          <p:cNvSpPr txBox="1"/>
          <p:nvPr/>
        </p:nvSpPr>
        <p:spPr>
          <a:xfrm>
            <a:off x="914400" y="2897251"/>
            <a:ext cx="4925416" cy="354711"/>
          </a:xfrm>
          <a:prstGeom prst="rect">
            <a:avLst/>
          </a:prstGeom>
          <a:noFill/>
          <a:ln/>
        </p:spPr>
        <p:txBody>
          <a:bodyPr wrap="square" lIns="0" tIns="0" rIns="0" bIns="0" rtlCol="0" anchor="t"/>
          <a:lstStyle/>
          <a:p>
            <a:pPr marL="0" indent="0" algn="l">
              <a:lnSpc>
                <a:spcPts val="1065"/>
              </a:lnSpc>
              <a:buNone/>
            </a:pPr>
            <a:r>
              <a:rPr lang="en-US" sz="750" dirty="0">
                <a:solidFill>
                  <a:srgbClr val="141A24"/>
                </a:solidFill>
                <a:latin typeface="Saira Medium" pitchFamily="34" charset="0"/>
                <a:ea typeface="Saira Medium" pitchFamily="34" charset="-122"/>
                <a:cs typeface="Saira Medium" pitchFamily="34" charset="-120"/>
              </a:rPr>
              <a:t>Home Assistant is native</a:t>
            </a:r>
            <a:r>
              <a:rPr lang="en-US" sz="750" dirty="0">
                <a:solidFill>
                  <a:srgbClr val="606A79"/>
                </a:solidFill>
                <a:latin typeface="Saira" pitchFamily="34" charset="0"/>
                <a:ea typeface="Saira" pitchFamily="34" charset="-122"/>
                <a:cs typeface="Saira" pitchFamily="34" charset="-120"/>
              </a:rPr>
              <a:t> — MQTT Discovery push, REST pull, and an official add-on repository.</a:t>
            </a:r>
            <a:endParaRPr lang="en-US" sz="750" dirty="0"/>
          </a:p>
        </p:txBody>
      </p:sp>
      <p:sp>
        <p:nvSpPr>
          <p:cNvPr id="20" name="Shape 17"/>
          <p:cNvSpPr/>
          <p:nvPr/>
        </p:nvSpPr>
        <p:spPr>
          <a:xfrm>
            <a:off x="708660" y="3290824"/>
            <a:ext cx="72009" cy="72009"/>
          </a:xfrm>
          <a:prstGeom prst="ellipse">
            <a:avLst/>
          </a:prstGeom>
          <a:solidFill>
            <a:srgbClr val="17A05C"/>
          </a:solidFill>
          <a:ln/>
        </p:spPr>
        <p:txBody>
          <a:bodyPr/>
          <a:lstStyle/>
          <a:p>
            <a:endParaRPr lang="en-TR"/>
          </a:p>
        </p:txBody>
      </p:sp>
      <p:sp>
        <p:nvSpPr>
          <p:cNvPr id="21" name="Text 18"/>
          <p:cNvSpPr txBox="1"/>
          <p:nvPr/>
        </p:nvSpPr>
        <p:spPr>
          <a:xfrm>
            <a:off x="914400" y="3215386"/>
            <a:ext cx="4925416" cy="354711"/>
          </a:xfrm>
          <a:prstGeom prst="rect">
            <a:avLst/>
          </a:prstGeom>
          <a:noFill/>
          <a:ln/>
        </p:spPr>
        <p:txBody>
          <a:bodyPr wrap="square" lIns="0" tIns="0" rIns="0" bIns="0" rtlCol="0" anchor="t"/>
          <a:lstStyle/>
          <a:p>
            <a:pPr marL="0" indent="0" algn="l">
              <a:lnSpc>
                <a:spcPts val="1065"/>
              </a:lnSpc>
              <a:buNone/>
            </a:pPr>
            <a:r>
              <a:rPr lang="en-US" sz="750" dirty="0">
                <a:solidFill>
                  <a:srgbClr val="141A24"/>
                </a:solidFill>
                <a:latin typeface="Saira Medium" pitchFamily="34" charset="0"/>
                <a:ea typeface="Saira Medium" pitchFamily="34" charset="-122"/>
                <a:cs typeface="Saira Medium" pitchFamily="34" charset="-120"/>
              </a:rPr>
              <a:t>Graph, topology and floor-plan views</a:t>
            </a:r>
            <a:r>
              <a:rPr lang="en-US" sz="750" dirty="0">
                <a:solidFill>
                  <a:srgbClr val="606A79"/>
                </a:solidFill>
                <a:latin typeface="Saira" pitchFamily="34" charset="0"/>
                <a:ea typeface="Saira" pitchFamily="34" charset="-122"/>
                <a:cs typeface="Saira" pitchFamily="34" charset="-120"/>
              </a:rPr>
              <a:t> that no competitor in the category ships.</a:t>
            </a:r>
            <a:endParaRPr lang="en-US" sz="750" dirty="0"/>
          </a:p>
        </p:txBody>
      </p:sp>
      <p:sp>
        <p:nvSpPr>
          <p:cNvPr id="22" name="Shape 19"/>
          <p:cNvSpPr/>
          <p:nvPr/>
        </p:nvSpPr>
        <p:spPr>
          <a:xfrm>
            <a:off x="708660" y="3608959"/>
            <a:ext cx="72009" cy="72009"/>
          </a:xfrm>
          <a:prstGeom prst="ellipse">
            <a:avLst/>
          </a:prstGeom>
          <a:solidFill>
            <a:srgbClr val="17A05C"/>
          </a:solidFill>
          <a:ln/>
        </p:spPr>
        <p:txBody>
          <a:bodyPr/>
          <a:lstStyle/>
          <a:p>
            <a:endParaRPr lang="en-TR"/>
          </a:p>
        </p:txBody>
      </p:sp>
      <p:sp>
        <p:nvSpPr>
          <p:cNvPr id="23" name="Text 20"/>
          <p:cNvSpPr txBox="1"/>
          <p:nvPr/>
        </p:nvSpPr>
        <p:spPr>
          <a:xfrm>
            <a:off x="914400" y="3533521"/>
            <a:ext cx="4925416" cy="354711"/>
          </a:xfrm>
          <a:prstGeom prst="rect">
            <a:avLst/>
          </a:prstGeom>
          <a:noFill/>
          <a:ln/>
        </p:spPr>
        <p:txBody>
          <a:bodyPr wrap="square" lIns="0" tIns="0" rIns="0" bIns="0" rtlCol="0" anchor="t"/>
          <a:lstStyle/>
          <a:p>
            <a:pPr marL="0" indent="0" algn="l">
              <a:lnSpc>
                <a:spcPts val="1065"/>
              </a:lnSpc>
              <a:buNone/>
            </a:pPr>
            <a:r>
              <a:rPr lang="en-US" sz="750" dirty="0">
                <a:solidFill>
                  <a:srgbClr val="141A24"/>
                </a:solidFill>
                <a:latin typeface="Saira Medium" pitchFamily="34" charset="0"/>
                <a:ea typeface="Saira Medium" pitchFamily="34" charset="-122"/>
                <a:cs typeface="Saira Medium" pitchFamily="34" charset="-120"/>
              </a:rPr>
              <a:t>Docker-aware</a:t>
            </a:r>
            <a:r>
              <a:rPr lang="en-US" sz="750" dirty="0">
                <a:solidFill>
                  <a:srgbClr val="606A79"/>
                </a:solidFill>
                <a:latin typeface="Saira" pitchFamily="34" charset="0"/>
                <a:ea typeface="Saira" pitchFamily="34" charset="-122"/>
                <a:cs typeface="Saira" pitchFamily="34" charset="-120"/>
              </a:rPr>
              <a:t> — containers and their virtual networks, nested under their host.</a:t>
            </a:r>
            <a:endParaRPr lang="en-US" sz="750" dirty="0"/>
          </a:p>
        </p:txBody>
      </p:sp>
      <p:sp>
        <p:nvSpPr>
          <p:cNvPr id="24" name="Shape 21"/>
          <p:cNvSpPr/>
          <p:nvPr/>
        </p:nvSpPr>
        <p:spPr>
          <a:xfrm>
            <a:off x="708660" y="3927094"/>
            <a:ext cx="72009" cy="72009"/>
          </a:xfrm>
          <a:prstGeom prst="ellipse">
            <a:avLst/>
          </a:prstGeom>
          <a:solidFill>
            <a:srgbClr val="17A05C"/>
          </a:solidFill>
          <a:ln/>
        </p:spPr>
        <p:txBody>
          <a:bodyPr/>
          <a:lstStyle/>
          <a:p>
            <a:endParaRPr lang="en-TR"/>
          </a:p>
        </p:txBody>
      </p:sp>
      <p:sp>
        <p:nvSpPr>
          <p:cNvPr id="25" name="Text 22"/>
          <p:cNvSpPr txBox="1"/>
          <p:nvPr/>
        </p:nvSpPr>
        <p:spPr>
          <a:xfrm>
            <a:off x="914400" y="3851656"/>
            <a:ext cx="4925416" cy="354711"/>
          </a:xfrm>
          <a:prstGeom prst="rect">
            <a:avLst/>
          </a:prstGeom>
          <a:noFill/>
          <a:ln/>
        </p:spPr>
        <p:txBody>
          <a:bodyPr wrap="square" lIns="0" tIns="0" rIns="0" bIns="0" rtlCol="0" anchor="t"/>
          <a:lstStyle/>
          <a:p>
            <a:pPr marL="0" indent="0" algn="l">
              <a:lnSpc>
                <a:spcPts val="1065"/>
              </a:lnSpc>
              <a:buNone/>
            </a:pPr>
            <a:r>
              <a:rPr lang="en-US" sz="750" dirty="0">
                <a:solidFill>
                  <a:srgbClr val="141A24"/>
                </a:solidFill>
                <a:latin typeface="Saira Medium" pitchFamily="34" charset="0"/>
                <a:ea typeface="Saira Medium" pitchFamily="34" charset="-122"/>
                <a:cs typeface="Saira Medium" pitchFamily="34" charset="-120"/>
              </a:rPr>
              <a:t>It tells you what it could not do</a:t>
            </a:r>
            <a:r>
              <a:rPr lang="en-US" sz="750" dirty="0">
                <a:solidFill>
                  <a:srgbClr val="606A79"/>
                </a:solidFill>
                <a:latin typeface="Saira" pitchFamily="34" charset="0"/>
                <a:ea typeface="Saira" pitchFamily="34" charset="-122"/>
                <a:cs typeface="Saira" pitchFamily="34" charset="-120"/>
              </a:rPr>
              <a:t> — </a:t>
            </a:r>
            <a:r>
              <a:rPr lang="en-US" sz="675" dirty="0">
                <a:solidFill>
                  <a:srgbClr val="141A24"/>
                </a:solidFill>
                <a:latin typeface="Sometype Mono" pitchFamily="34" charset="0"/>
                <a:ea typeface="Sometype Mono" pitchFamily="34" charset="-122"/>
                <a:cs typeface="Sometype Mono" pitchFamily="34" charset="-120"/>
              </a:rPr>
              <a:t>/api/capabilities</a:t>
            </a:r>
            <a:r>
              <a:rPr lang="en-US" sz="750" dirty="0">
                <a:solidFill>
                  <a:srgbClr val="606A79"/>
                </a:solidFill>
                <a:latin typeface="Saira" pitchFamily="34" charset="0"/>
                <a:ea typeface="Saira" pitchFamily="34" charset="-122"/>
                <a:cs typeface="Saira" pitchFamily="34" charset="-120"/>
              </a:rPr>
              <a:t> instead of silently finding fewer devices.</a:t>
            </a:r>
            <a:endParaRPr lang="en-US" sz="750" dirty="0"/>
          </a:p>
        </p:txBody>
      </p:sp>
      <p:sp>
        <p:nvSpPr>
          <p:cNvPr id="26" name="Text 23"/>
          <p:cNvSpPr txBox="1"/>
          <p:nvPr/>
        </p:nvSpPr>
        <p:spPr>
          <a:xfrm>
            <a:off x="6351880" y="1592539"/>
            <a:ext cx="5163160" cy="256032"/>
          </a:xfrm>
          <a:prstGeom prst="rect">
            <a:avLst/>
          </a:prstGeom>
          <a:noFill/>
          <a:ln/>
        </p:spPr>
        <p:txBody>
          <a:bodyPr wrap="square" lIns="0" tIns="0" rIns="0" bIns="0" rtlCol="0" anchor="t"/>
          <a:lstStyle/>
          <a:p>
            <a:pPr marL="0" indent="0" algn="l">
              <a:buNone/>
            </a:pPr>
            <a:r>
              <a:rPr lang="en-US" sz="1300" dirty="0">
                <a:solidFill>
                  <a:srgbClr val="D98A1F"/>
                </a:solidFill>
                <a:latin typeface="Saira Cond SemiBold" pitchFamily="34" charset="0"/>
                <a:ea typeface="Saira Cond SemiBold" pitchFamily="34" charset="-122"/>
                <a:cs typeface="Saira Cond SemiBold" pitchFamily="34" charset="-120"/>
              </a:rPr>
              <a:t>Where it doesn't — reach for something else</a:t>
            </a:r>
            <a:endParaRPr lang="en-US" sz="1300" dirty="0"/>
          </a:p>
        </p:txBody>
      </p:sp>
      <p:sp>
        <p:nvSpPr>
          <p:cNvPr id="27" name="Shape 24"/>
          <p:cNvSpPr/>
          <p:nvPr/>
        </p:nvSpPr>
        <p:spPr>
          <a:xfrm>
            <a:off x="6351880" y="1989938"/>
            <a:ext cx="5163160" cy="0"/>
          </a:xfrm>
          <a:prstGeom prst="line">
            <a:avLst/>
          </a:prstGeom>
          <a:noFill/>
          <a:ln w="20320">
            <a:solidFill>
              <a:srgbClr val="D98A1F"/>
            </a:solidFill>
            <a:prstDash val="solid"/>
          </a:ln>
        </p:spPr>
        <p:txBody>
          <a:bodyPr/>
          <a:lstStyle/>
          <a:p>
            <a:endParaRPr lang="en-TR"/>
          </a:p>
        </p:txBody>
      </p:sp>
      <p:sp>
        <p:nvSpPr>
          <p:cNvPr id="28" name="Shape 25"/>
          <p:cNvSpPr/>
          <p:nvPr/>
        </p:nvSpPr>
        <p:spPr>
          <a:xfrm>
            <a:off x="6383884" y="2201164"/>
            <a:ext cx="72009" cy="72009"/>
          </a:xfrm>
          <a:prstGeom prst="ellipse">
            <a:avLst/>
          </a:prstGeom>
          <a:solidFill>
            <a:srgbClr val="D98A1F"/>
          </a:solidFill>
          <a:ln/>
        </p:spPr>
        <p:txBody>
          <a:bodyPr/>
          <a:lstStyle/>
          <a:p>
            <a:endParaRPr lang="en-TR"/>
          </a:p>
        </p:txBody>
      </p:sp>
      <p:sp>
        <p:nvSpPr>
          <p:cNvPr id="29" name="Text 26"/>
          <p:cNvSpPr txBox="1"/>
          <p:nvPr/>
        </p:nvSpPr>
        <p:spPr>
          <a:xfrm>
            <a:off x="6589624" y="2125726"/>
            <a:ext cx="4925416" cy="489966"/>
          </a:xfrm>
          <a:prstGeom prst="rect">
            <a:avLst/>
          </a:prstGeom>
          <a:noFill/>
          <a:ln/>
        </p:spPr>
        <p:txBody>
          <a:bodyPr wrap="square" lIns="0" tIns="0" rIns="0" bIns="0" rtlCol="0" anchor="t"/>
          <a:lstStyle/>
          <a:p>
            <a:pPr marL="0" indent="0" algn="l">
              <a:lnSpc>
                <a:spcPts val="1065"/>
              </a:lnSpc>
              <a:buNone/>
            </a:pPr>
            <a:r>
              <a:rPr lang="en-US" sz="750" dirty="0">
                <a:solidFill>
                  <a:srgbClr val="141A24"/>
                </a:solidFill>
                <a:latin typeface="Saira Medium" pitchFamily="34" charset="0"/>
                <a:ea typeface="Saira Medium" pitchFamily="34" charset="-122"/>
                <a:cs typeface="Saira Medium" pitchFamily="34" charset="-120"/>
              </a:rPr>
              <a:t>Device fingerprinting.</a:t>
            </a:r>
            <a:r>
              <a:rPr lang="en-US" sz="750" dirty="0">
                <a:solidFill>
                  <a:srgbClr val="606A79"/>
                </a:solidFill>
                <a:latin typeface="Saira" pitchFamily="34" charset="0"/>
                <a:ea typeface="Saira" pitchFamily="34" charset="-122"/>
                <a:cs typeface="Saira" pitchFamily="34" charset="-120"/>
              </a:rPr>
              <a:t> Fing's crowdsourced database is far larger; obscure hardware stays unknown more often. This is the single biggest honest gap.</a:t>
            </a:r>
            <a:endParaRPr lang="en-US" sz="750" dirty="0"/>
          </a:p>
        </p:txBody>
      </p:sp>
      <p:sp>
        <p:nvSpPr>
          <p:cNvPr id="30" name="Shape 27"/>
          <p:cNvSpPr/>
          <p:nvPr/>
        </p:nvSpPr>
        <p:spPr>
          <a:xfrm>
            <a:off x="6383884" y="2654554"/>
            <a:ext cx="72009" cy="72009"/>
          </a:xfrm>
          <a:prstGeom prst="ellipse">
            <a:avLst/>
          </a:prstGeom>
          <a:solidFill>
            <a:srgbClr val="D98A1F"/>
          </a:solidFill>
          <a:ln/>
        </p:spPr>
        <p:txBody>
          <a:bodyPr/>
          <a:lstStyle/>
          <a:p>
            <a:endParaRPr lang="en-TR"/>
          </a:p>
        </p:txBody>
      </p:sp>
      <p:sp>
        <p:nvSpPr>
          <p:cNvPr id="31" name="Text 28"/>
          <p:cNvSpPr txBox="1"/>
          <p:nvPr/>
        </p:nvSpPr>
        <p:spPr>
          <a:xfrm>
            <a:off x="6589624" y="2579116"/>
            <a:ext cx="4925416" cy="354711"/>
          </a:xfrm>
          <a:prstGeom prst="rect">
            <a:avLst/>
          </a:prstGeom>
          <a:noFill/>
          <a:ln/>
        </p:spPr>
        <p:txBody>
          <a:bodyPr wrap="square" lIns="0" tIns="0" rIns="0" bIns="0" rtlCol="0" anchor="t"/>
          <a:lstStyle/>
          <a:p>
            <a:pPr marL="0" indent="0" algn="l">
              <a:lnSpc>
                <a:spcPts val="1065"/>
              </a:lnSpc>
              <a:buNone/>
            </a:pPr>
            <a:r>
              <a:rPr lang="en-US" sz="750" dirty="0">
                <a:solidFill>
                  <a:srgbClr val="141A24"/>
                </a:solidFill>
                <a:latin typeface="Saira Medium" pitchFamily="34" charset="0"/>
                <a:ea typeface="Saira Medium" pitchFamily="34" charset="-122"/>
                <a:cs typeface="Saira Medium" pitchFamily="34" charset="-120"/>
              </a:rPr>
              <a:t>WAN-side tooling.</a:t>
            </a:r>
            <a:r>
              <a:rPr lang="en-US" sz="750" dirty="0">
                <a:solidFill>
                  <a:srgbClr val="606A79"/>
                </a:solidFill>
                <a:latin typeface="Saira" pitchFamily="34" charset="0"/>
                <a:ea typeface="Saira" pitchFamily="34" charset="-122"/>
                <a:cs typeface="Saira" pitchFamily="34" charset="-120"/>
              </a:rPr>
              <a:t> No internet speed test, no ISP outage detection, no bandwidth analysis. → Fing / Fingbox.</a:t>
            </a:r>
            <a:endParaRPr lang="en-US" sz="750" dirty="0"/>
          </a:p>
        </p:txBody>
      </p:sp>
      <p:sp>
        <p:nvSpPr>
          <p:cNvPr id="32" name="Shape 29"/>
          <p:cNvSpPr/>
          <p:nvPr/>
        </p:nvSpPr>
        <p:spPr>
          <a:xfrm>
            <a:off x="6383884" y="2972689"/>
            <a:ext cx="72009" cy="72009"/>
          </a:xfrm>
          <a:prstGeom prst="ellipse">
            <a:avLst/>
          </a:prstGeom>
          <a:solidFill>
            <a:srgbClr val="D98A1F"/>
          </a:solidFill>
          <a:ln/>
        </p:spPr>
        <p:txBody>
          <a:bodyPr/>
          <a:lstStyle/>
          <a:p>
            <a:endParaRPr lang="en-TR"/>
          </a:p>
        </p:txBody>
      </p:sp>
      <p:sp>
        <p:nvSpPr>
          <p:cNvPr id="33" name="Text 30"/>
          <p:cNvSpPr txBox="1"/>
          <p:nvPr/>
        </p:nvSpPr>
        <p:spPr>
          <a:xfrm>
            <a:off x="6589624" y="2897251"/>
            <a:ext cx="4925416" cy="354711"/>
          </a:xfrm>
          <a:prstGeom prst="rect">
            <a:avLst/>
          </a:prstGeom>
          <a:noFill/>
          <a:ln/>
        </p:spPr>
        <p:txBody>
          <a:bodyPr wrap="square" lIns="0" tIns="0" rIns="0" bIns="0" rtlCol="0" anchor="t"/>
          <a:lstStyle/>
          <a:p>
            <a:pPr marL="0" indent="0" algn="l">
              <a:lnSpc>
                <a:spcPts val="1065"/>
              </a:lnSpc>
              <a:buNone/>
            </a:pPr>
            <a:r>
              <a:rPr lang="en-US" sz="750" dirty="0">
                <a:solidFill>
                  <a:srgbClr val="141A24"/>
                </a:solidFill>
                <a:latin typeface="Saira Medium" pitchFamily="34" charset="0"/>
                <a:ea typeface="Saira Medium" pitchFamily="34" charset="-122"/>
                <a:cs typeface="Saira Medium" pitchFamily="34" charset="-120"/>
              </a:rPr>
              <a:t>Enforcement.</a:t>
            </a:r>
            <a:r>
              <a:rPr lang="en-US" sz="750" dirty="0">
                <a:solidFill>
                  <a:srgbClr val="606A79"/>
                </a:solidFill>
                <a:latin typeface="Saira" pitchFamily="34" charset="0"/>
                <a:ea typeface="Saira" pitchFamily="34" charset="-122"/>
                <a:cs typeface="Saira" pitchFamily="34" charset="-120"/>
              </a:rPr>
              <a:t> MyNeS observes; it does not block a device or shape traffic. → Fingbox, or your router.</a:t>
            </a:r>
            <a:endParaRPr lang="en-US" sz="750" dirty="0"/>
          </a:p>
        </p:txBody>
      </p:sp>
      <p:sp>
        <p:nvSpPr>
          <p:cNvPr id="34" name="Shape 31"/>
          <p:cNvSpPr/>
          <p:nvPr/>
        </p:nvSpPr>
        <p:spPr>
          <a:xfrm>
            <a:off x="6383884" y="3290824"/>
            <a:ext cx="72009" cy="72009"/>
          </a:xfrm>
          <a:prstGeom prst="ellipse">
            <a:avLst/>
          </a:prstGeom>
          <a:solidFill>
            <a:srgbClr val="D98A1F"/>
          </a:solidFill>
          <a:ln/>
        </p:spPr>
        <p:txBody>
          <a:bodyPr/>
          <a:lstStyle/>
          <a:p>
            <a:endParaRPr lang="en-TR"/>
          </a:p>
        </p:txBody>
      </p:sp>
      <p:sp>
        <p:nvSpPr>
          <p:cNvPr id="35" name="Text 32"/>
          <p:cNvSpPr txBox="1"/>
          <p:nvPr/>
        </p:nvSpPr>
        <p:spPr>
          <a:xfrm>
            <a:off x="6589624" y="3215386"/>
            <a:ext cx="4925416" cy="354711"/>
          </a:xfrm>
          <a:prstGeom prst="rect">
            <a:avLst/>
          </a:prstGeom>
          <a:noFill/>
          <a:ln/>
        </p:spPr>
        <p:txBody>
          <a:bodyPr wrap="square" lIns="0" tIns="0" rIns="0" bIns="0" rtlCol="0" anchor="t"/>
          <a:lstStyle/>
          <a:p>
            <a:pPr marL="0" indent="0" algn="l">
              <a:lnSpc>
                <a:spcPts val="1065"/>
              </a:lnSpc>
              <a:buNone/>
            </a:pPr>
            <a:r>
              <a:rPr lang="en-US" sz="750" dirty="0">
                <a:solidFill>
                  <a:srgbClr val="141A24"/>
                </a:solidFill>
                <a:latin typeface="Saira Medium" pitchFamily="34" charset="0"/>
                <a:ea typeface="Saira Medium" pitchFamily="34" charset="-122"/>
                <a:cs typeface="Saira Medium" pitchFamily="34" charset="-120"/>
              </a:rPr>
              <a:t>One-tap install.</a:t>
            </a:r>
            <a:r>
              <a:rPr lang="en-US" sz="750" dirty="0">
                <a:solidFill>
                  <a:srgbClr val="606A79"/>
                </a:solidFill>
                <a:latin typeface="Saira" pitchFamily="34" charset="0"/>
                <a:ea typeface="Saira" pitchFamily="34" charset="-122"/>
                <a:cs typeface="Saira" pitchFamily="34" charset="-120"/>
              </a:rPr>
              <a:t> Fing is a tap; MyNeS is a container, host networking and a capabilities conversation.</a:t>
            </a:r>
            <a:endParaRPr lang="en-US" sz="750" dirty="0"/>
          </a:p>
        </p:txBody>
      </p:sp>
      <p:sp>
        <p:nvSpPr>
          <p:cNvPr id="36" name="Shape 33"/>
          <p:cNvSpPr/>
          <p:nvPr/>
        </p:nvSpPr>
        <p:spPr>
          <a:xfrm>
            <a:off x="6383884" y="3608959"/>
            <a:ext cx="72009" cy="72009"/>
          </a:xfrm>
          <a:prstGeom prst="ellipse">
            <a:avLst/>
          </a:prstGeom>
          <a:solidFill>
            <a:srgbClr val="D98A1F"/>
          </a:solidFill>
          <a:ln/>
        </p:spPr>
        <p:txBody>
          <a:bodyPr/>
          <a:lstStyle/>
          <a:p>
            <a:endParaRPr lang="en-TR"/>
          </a:p>
        </p:txBody>
      </p:sp>
      <p:sp>
        <p:nvSpPr>
          <p:cNvPr id="37" name="Text 34"/>
          <p:cNvSpPr txBox="1"/>
          <p:nvPr/>
        </p:nvSpPr>
        <p:spPr>
          <a:xfrm>
            <a:off x="6589624" y="3533521"/>
            <a:ext cx="4925416" cy="354711"/>
          </a:xfrm>
          <a:prstGeom prst="rect">
            <a:avLst/>
          </a:prstGeom>
          <a:noFill/>
          <a:ln/>
        </p:spPr>
        <p:txBody>
          <a:bodyPr wrap="square" lIns="0" tIns="0" rIns="0" bIns="0" rtlCol="0" anchor="t"/>
          <a:lstStyle/>
          <a:p>
            <a:pPr marL="0" indent="0" algn="l">
              <a:lnSpc>
                <a:spcPts val="1065"/>
              </a:lnSpc>
              <a:buNone/>
            </a:pPr>
            <a:r>
              <a:rPr lang="en-US" sz="750" dirty="0">
                <a:solidFill>
                  <a:srgbClr val="141A24"/>
                </a:solidFill>
                <a:latin typeface="Saira Medium" pitchFamily="34" charset="0"/>
                <a:ea typeface="Saira Medium" pitchFamily="34" charset="-122"/>
                <a:cs typeface="Saira Medium" pitchFamily="34" charset="-120"/>
              </a:rPr>
              <a:t>Big networks.</a:t>
            </a:r>
            <a:r>
              <a:rPr lang="en-US" sz="750" dirty="0">
                <a:solidFill>
                  <a:srgbClr val="606A79"/>
                </a:solidFill>
                <a:latin typeface="Saira" pitchFamily="34" charset="0"/>
                <a:ea typeface="Saira" pitchFamily="34" charset="-122"/>
                <a:cs typeface="Saira" pitchFamily="34" charset="-120"/>
              </a:rPr>
              <a:t> Python and Flask on a </a:t>
            </a:r>
            <a:r>
              <a:rPr lang="en-US" sz="675" dirty="0">
                <a:solidFill>
                  <a:srgbClr val="141A24"/>
                </a:solidFill>
                <a:latin typeface="Sometype Mono" pitchFamily="34" charset="0"/>
                <a:ea typeface="Sometype Mono" pitchFamily="34" charset="-122"/>
                <a:cs typeface="Sometype Mono" pitchFamily="34" charset="-120"/>
              </a:rPr>
              <a:t>/16</a:t>
            </a:r>
            <a:r>
              <a:rPr lang="en-US" sz="750" dirty="0">
                <a:solidFill>
                  <a:srgbClr val="606A79"/>
                </a:solidFill>
                <a:latin typeface="Saira" pitchFamily="34" charset="0"/>
                <a:ea typeface="Saira" pitchFamily="34" charset="-122"/>
                <a:cs typeface="Saira" pitchFamily="34" charset="-120"/>
              </a:rPr>
              <a:t> is minutes, not seconds. This is a home LAN tool, not a campus one.</a:t>
            </a:r>
            <a:endParaRPr lang="en-US" sz="750" dirty="0"/>
          </a:p>
        </p:txBody>
      </p:sp>
      <p:sp>
        <p:nvSpPr>
          <p:cNvPr id="38" name="Shape 35"/>
          <p:cNvSpPr/>
          <p:nvPr/>
        </p:nvSpPr>
        <p:spPr>
          <a:xfrm>
            <a:off x="6383884" y="3927094"/>
            <a:ext cx="72009" cy="72009"/>
          </a:xfrm>
          <a:prstGeom prst="ellipse">
            <a:avLst/>
          </a:prstGeom>
          <a:solidFill>
            <a:srgbClr val="D98A1F"/>
          </a:solidFill>
          <a:ln/>
        </p:spPr>
        <p:txBody>
          <a:bodyPr/>
          <a:lstStyle/>
          <a:p>
            <a:endParaRPr lang="en-TR"/>
          </a:p>
        </p:txBody>
      </p:sp>
      <p:sp>
        <p:nvSpPr>
          <p:cNvPr id="39" name="Text 36"/>
          <p:cNvSpPr txBox="1"/>
          <p:nvPr/>
        </p:nvSpPr>
        <p:spPr>
          <a:xfrm>
            <a:off x="6589624" y="3851656"/>
            <a:ext cx="4925416" cy="489966"/>
          </a:xfrm>
          <a:prstGeom prst="rect">
            <a:avLst/>
          </a:prstGeom>
          <a:noFill/>
          <a:ln/>
        </p:spPr>
        <p:txBody>
          <a:bodyPr wrap="square" lIns="0" tIns="0" rIns="0" bIns="0" rtlCol="0" anchor="t"/>
          <a:lstStyle/>
          <a:p>
            <a:pPr marL="0" indent="0" algn="l">
              <a:lnSpc>
                <a:spcPts val="1065"/>
              </a:lnSpc>
              <a:buNone/>
            </a:pPr>
            <a:r>
              <a:rPr lang="en-US" sz="750" dirty="0">
                <a:solidFill>
                  <a:srgbClr val="141A24"/>
                </a:solidFill>
                <a:latin typeface="Saira Medium" pitchFamily="34" charset="0"/>
                <a:ea typeface="Saira Medium" pitchFamily="34" charset="-122"/>
                <a:cs typeface="Saira Medium" pitchFamily="34" charset="-120"/>
              </a:rPr>
              <a:t>Maturity.</a:t>
            </a:r>
            <a:r>
              <a:rPr lang="en-US" sz="750" dirty="0">
                <a:solidFill>
                  <a:srgbClr val="606A79"/>
                </a:solidFill>
                <a:latin typeface="Saira" pitchFamily="34" charset="0"/>
                <a:ea typeface="Saira" pitchFamily="34" charset="-122"/>
                <a:cs typeface="Saira" pitchFamily="34" charset="-120"/>
              </a:rPr>
              <a:t> Young project, one maintainer, no decade of hardening. → NetAlertX for battle-tested presence detection.</a:t>
            </a:r>
            <a:endParaRPr lang="en-US" sz="750" dirty="0"/>
          </a:p>
        </p:txBody>
      </p:sp>
      <p:grpSp>
        <p:nvGrpSpPr>
          <p:cNvPr id="62" name="Group 61">
            <a:extLst>
              <a:ext uri="{FF2B5EF4-FFF2-40B4-BE49-F238E27FC236}">
                <a16:creationId xmlns:a16="http://schemas.microsoft.com/office/drawing/2014/main" id="{8FD16C5A-6E71-3031-3ACC-BB49F2F4A7BB}"/>
              </a:ext>
            </a:extLst>
          </p:cNvPr>
          <p:cNvGrpSpPr/>
          <p:nvPr/>
        </p:nvGrpSpPr>
        <p:grpSpPr>
          <a:xfrm>
            <a:off x="3347314" y="4452493"/>
            <a:ext cx="4985004" cy="1924629"/>
            <a:chOff x="676656" y="4498442"/>
            <a:chExt cx="10838383" cy="1924629"/>
          </a:xfrm>
        </p:grpSpPr>
        <p:sp>
          <p:nvSpPr>
            <p:cNvPr id="40" name="Shape 37"/>
            <p:cNvSpPr/>
            <p:nvPr/>
          </p:nvSpPr>
          <p:spPr>
            <a:xfrm>
              <a:off x="676656" y="4498442"/>
              <a:ext cx="10838383" cy="310896"/>
            </a:xfrm>
            <a:prstGeom prst="roundRect">
              <a:avLst>
                <a:gd name="adj" fmla="val 14706"/>
              </a:avLst>
            </a:prstGeom>
            <a:solidFill>
              <a:srgbClr val="EDF2FF"/>
            </a:solidFill>
            <a:ln/>
          </p:spPr>
          <p:txBody>
            <a:bodyPr/>
            <a:lstStyle/>
            <a:p>
              <a:endParaRPr lang="en-TR"/>
            </a:p>
          </p:txBody>
        </p:sp>
        <p:sp>
          <p:nvSpPr>
            <p:cNvPr id="41" name="Text 38"/>
            <p:cNvSpPr txBox="1"/>
            <p:nvPr/>
          </p:nvSpPr>
          <p:spPr>
            <a:xfrm>
              <a:off x="804672" y="4604634"/>
              <a:ext cx="7206461" cy="219456"/>
            </a:xfrm>
            <a:prstGeom prst="rect">
              <a:avLst/>
            </a:prstGeom>
            <a:noFill/>
            <a:ln/>
          </p:spPr>
          <p:txBody>
            <a:bodyPr wrap="none" lIns="0" tIns="0" rIns="0" bIns="0" rtlCol="0" anchor="t"/>
            <a:lstStyle/>
            <a:p>
              <a:pPr marL="0" indent="0" algn="l">
                <a:buNone/>
              </a:pPr>
              <a:r>
                <a:rPr lang="en-US" sz="600" b="1" dirty="0">
                  <a:solidFill>
                    <a:srgbClr val="141A24"/>
                  </a:solidFill>
                  <a:latin typeface="Saira Medium" pitchFamily="34" charset="0"/>
                  <a:ea typeface="Saira Medium" pitchFamily="34" charset="-122"/>
                  <a:cs typeface="Saira Medium" pitchFamily="34" charset="-120"/>
                </a:rPr>
                <a:t>If you need…</a:t>
              </a:r>
              <a:endParaRPr lang="en-US" sz="600" b="1" dirty="0"/>
            </a:p>
          </p:txBody>
        </p:sp>
        <p:sp>
          <p:nvSpPr>
            <p:cNvPr id="42" name="Text 39"/>
            <p:cNvSpPr txBox="1"/>
            <p:nvPr/>
          </p:nvSpPr>
          <p:spPr>
            <a:xfrm>
              <a:off x="8267165" y="4604634"/>
              <a:ext cx="3119858" cy="219456"/>
            </a:xfrm>
            <a:prstGeom prst="rect">
              <a:avLst/>
            </a:prstGeom>
            <a:noFill/>
            <a:ln/>
          </p:spPr>
          <p:txBody>
            <a:bodyPr wrap="none" lIns="0" tIns="0" rIns="0" bIns="0" rtlCol="0" anchor="t"/>
            <a:lstStyle/>
            <a:p>
              <a:pPr marL="0" indent="0" algn="l">
                <a:buNone/>
              </a:pPr>
              <a:r>
                <a:rPr lang="en-US" sz="600" b="1" dirty="0">
                  <a:solidFill>
                    <a:srgbClr val="141A24"/>
                  </a:solidFill>
                  <a:latin typeface="Saira Medium" pitchFamily="34" charset="0"/>
                  <a:ea typeface="Saira Medium" pitchFamily="34" charset="-122"/>
                  <a:cs typeface="Saira Medium" pitchFamily="34" charset="-120"/>
                </a:rPr>
                <a:t>Reach for</a:t>
              </a:r>
              <a:endParaRPr lang="en-US" sz="600" b="1" dirty="0"/>
            </a:p>
          </p:txBody>
        </p:sp>
        <p:sp>
          <p:nvSpPr>
            <p:cNvPr id="43" name="Shape 40"/>
            <p:cNvSpPr/>
            <p:nvPr/>
          </p:nvSpPr>
          <p:spPr>
            <a:xfrm>
              <a:off x="676656" y="4809338"/>
              <a:ext cx="10838383" cy="0"/>
            </a:xfrm>
            <a:prstGeom prst="line">
              <a:avLst/>
            </a:prstGeom>
            <a:noFill/>
            <a:ln w="7620">
              <a:solidFill>
                <a:srgbClr val="E2E7EF"/>
              </a:solidFill>
              <a:prstDash val="solid"/>
            </a:ln>
          </p:spPr>
          <p:txBody>
            <a:bodyPr/>
            <a:lstStyle/>
            <a:p>
              <a:endParaRPr lang="en-TR"/>
            </a:p>
          </p:txBody>
        </p:sp>
        <p:sp>
          <p:nvSpPr>
            <p:cNvPr id="44" name="Text 41"/>
            <p:cNvSpPr txBox="1"/>
            <p:nvPr/>
          </p:nvSpPr>
          <p:spPr>
            <a:xfrm>
              <a:off x="804672" y="4891451"/>
              <a:ext cx="7206461" cy="306324"/>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A self-hosted device inventory that also sees Zigbee, Z-Wave, BLE and Matter</a:t>
              </a:r>
              <a:endParaRPr lang="en-US" sz="600" dirty="0"/>
            </a:p>
          </p:txBody>
        </p:sp>
        <p:sp>
          <p:nvSpPr>
            <p:cNvPr id="45" name="Text 42"/>
            <p:cNvSpPr txBox="1"/>
            <p:nvPr/>
          </p:nvSpPr>
          <p:spPr>
            <a:xfrm>
              <a:off x="8267165" y="4891451"/>
              <a:ext cx="3119858" cy="306324"/>
            </a:xfrm>
            <a:prstGeom prst="rect">
              <a:avLst/>
            </a:prstGeom>
            <a:noFill/>
            <a:ln/>
          </p:spPr>
          <p:txBody>
            <a:bodyPr wrap="square" lIns="0" tIns="0" rIns="0" bIns="0" rtlCol="0" anchor="t"/>
            <a:lstStyle/>
            <a:p>
              <a:pPr marL="0" indent="0" algn="l">
                <a:lnSpc>
                  <a:spcPts val="756"/>
                </a:lnSpc>
                <a:buNone/>
              </a:pPr>
              <a:r>
                <a:rPr lang="en-US" sz="600" b="1" dirty="0">
                  <a:solidFill>
                    <a:srgbClr val="141A24"/>
                  </a:solidFill>
                  <a:latin typeface="Saira Medium" pitchFamily="34" charset="0"/>
                  <a:ea typeface="Saira Medium" pitchFamily="34" charset="-122"/>
                  <a:cs typeface="Saira Medium" pitchFamily="34" charset="-120"/>
                </a:rPr>
                <a:t>MyNeS</a:t>
              </a:r>
              <a:endParaRPr lang="en-US" sz="600" b="1" dirty="0"/>
            </a:p>
          </p:txBody>
        </p:sp>
        <p:sp>
          <p:nvSpPr>
            <p:cNvPr id="46" name="Shape 43"/>
            <p:cNvSpPr/>
            <p:nvPr/>
          </p:nvSpPr>
          <p:spPr>
            <a:xfrm>
              <a:off x="676656" y="5115662"/>
              <a:ext cx="10838383" cy="306324"/>
            </a:xfrm>
            <a:prstGeom prst="rect">
              <a:avLst/>
            </a:prstGeom>
            <a:solidFill>
              <a:srgbClr val="FAFCFF"/>
            </a:solidFill>
            <a:ln/>
          </p:spPr>
          <p:txBody>
            <a:bodyPr/>
            <a:lstStyle/>
            <a:p>
              <a:endParaRPr lang="en-TR"/>
            </a:p>
          </p:txBody>
        </p:sp>
        <p:sp>
          <p:nvSpPr>
            <p:cNvPr id="47" name="Shape 44"/>
            <p:cNvSpPr/>
            <p:nvPr/>
          </p:nvSpPr>
          <p:spPr>
            <a:xfrm>
              <a:off x="676656" y="5115662"/>
              <a:ext cx="10838383" cy="0"/>
            </a:xfrm>
            <a:prstGeom prst="line">
              <a:avLst/>
            </a:prstGeom>
            <a:noFill/>
            <a:ln w="7620">
              <a:solidFill>
                <a:srgbClr val="E2E7EF"/>
              </a:solidFill>
              <a:prstDash val="solid"/>
            </a:ln>
          </p:spPr>
          <p:txBody>
            <a:bodyPr/>
            <a:lstStyle/>
            <a:p>
              <a:endParaRPr lang="en-TR"/>
            </a:p>
          </p:txBody>
        </p:sp>
        <p:sp>
          <p:nvSpPr>
            <p:cNvPr id="48" name="Text 45"/>
            <p:cNvSpPr txBox="1"/>
            <p:nvPr/>
          </p:nvSpPr>
          <p:spPr>
            <a:xfrm>
              <a:off x="804672" y="5197775"/>
              <a:ext cx="7206461" cy="306324"/>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Every device in Home Assistant with no glue code</a:t>
              </a:r>
              <a:endParaRPr lang="en-US" sz="600" dirty="0"/>
            </a:p>
          </p:txBody>
        </p:sp>
        <p:sp>
          <p:nvSpPr>
            <p:cNvPr id="49" name="Text 46"/>
            <p:cNvSpPr txBox="1"/>
            <p:nvPr/>
          </p:nvSpPr>
          <p:spPr>
            <a:xfrm>
              <a:off x="8267165" y="5197775"/>
              <a:ext cx="3119858" cy="306324"/>
            </a:xfrm>
            <a:prstGeom prst="rect">
              <a:avLst/>
            </a:prstGeom>
            <a:noFill/>
            <a:ln/>
          </p:spPr>
          <p:txBody>
            <a:bodyPr wrap="square" lIns="0" tIns="0" rIns="0" bIns="0" rtlCol="0" anchor="t"/>
            <a:lstStyle/>
            <a:p>
              <a:pPr marL="0" indent="0" algn="l">
                <a:lnSpc>
                  <a:spcPts val="756"/>
                </a:lnSpc>
                <a:buNone/>
              </a:pPr>
              <a:r>
                <a:rPr lang="en-US" sz="600" b="1" dirty="0">
                  <a:solidFill>
                    <a:srgbClr val="141A24"/>
                  </a:solidFill>
                  <a:latin typeface="Saira Medium" pitchFamily="34" charset="0"/>
                  <a:ea typeface="Saira Medium" pitchFamily="34" charset="-122"/>
                  <a:cs typeface="Saira Medium" pitchFamily="34" charset="-120"/>
                </a:rPr>
                <a:t>MyNeS</a:t>
              </a:r>
              <a:endParaRPr lang="en-US" sz="600" b="1" dirty="0"/>
            </a:p>
          </p:txBody>
        </p:sp>
        <p:sp>
          <p:nvSpPr>
            <p:cNvPr id="50" name="Shape 47"/>
            <p:cNvSpPr/>
            <p:nvPr/>
          </p:nvSpPr>
          <p:spPr>
            <a:xfrm>
              <a:off x="676656" y="5421986"/>
              <a:ext cx="10838383" cy="0"/>
            </a:xfrm>
            <a:prstGeom prst="line">
              <a:avLst/>
            </a:prstGeom>
            <a:noFill/>
            <a:ln w="7620">
              <a:solidFill>
                <a:srgbClr val="E2E7EF"/>
              </a:solidFill>
              <a:prstDash val="solid"/>
            </a:ln>
          </p:spPr>
          <p:txBody>
            <a:bodyPr/>
            <a:lstStyle/>
            <a:p>
              <a:endParaRPr lang="en-TR"/>
            </a:p>
          </p:txBody>
        </p:sp>
        <p:sp>
          <p:nvSpPr>
            <p:cNvPr id="51" name="Text 48"/>
            <p:cNvSpPr txBox="1"/>
            <p:nvPr/>
          </p:nvSpPr>
          <p:spPr>
            <a:xfrm>
              <a:off x="804672" y="5504099"/>
              <a:ext cx="7206461" cy="306324"/>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A scanner on a phone with no server anywhere</a:t>
              </a:r>
              <a:endParaRPr lang="en-US" sz="600" dirty="0"/>
            </a:p>
          </p:txBody>
        </p:sp>
        <p:sp>
          <p:nvSpPr>
            <p:cNvPr id="52" name="Text 49"/>
            <p:cNvSpPr txBox="1"/>
            <p:nvPr/>
          </p:nvSpPr>
          <p:spPr>
            <a:xfrm>
              <a:off x="8267165" y="5504099"/>
              <a:ext cx="3119858" cy="306324"/>
            </a:xfrm>
            <a:prstGeom prst="rect">
              <a:avLst/>
            </a:prstGeom>
            <a:noFill/>
            <a:ln/>
          </p:spPr>
          <p:txBody>
            <a:bodyPr wrap="square" lIns="0" tIns="0" rIns="0" bIns="0" rtlCol="0" anchor="t"/>
            <a:lstStyle/>
            <a:p>
              <a:pPr marL="0" indent="0" algn="l">
                <a:lnSpc>
                  <a:spcPts val="756"/>
                </a:lnSpc>
                <a:buNone/>
              </a:pPr>
              <a:r>
                <a:rPr lang="en-US" sz="600" b="1" dirty="0">
                  <a:solidFill>
                    <a:srgbClr val="141A24"/>
                  </a:solidFill>
                  <a:latin typeface="Saira Medium" pitchFamily="34" charset="0"/>
                  <a:ea typeface="Saira Medium" pitchFamily="34" charset="-122"/>
                  <a:cs typeface="Saira Medium" pitchFamily="34" charset="-120"/>
                </a:rPr>
                <a:t>MyNeS Mobile</a:t>
              </a:r>
              <a:endParaRPr lang="en-US" sz="600" b="1" dirty="0"/>
            </a:p>
          </p:txBody>
        </p:sp>
        <p:sp>
          <p:nvSpPr>
            <p:cNvPr id="53" name="Shape 50"/>
            <p:cNvSpPr/>
            <p:nvPr/>
          </p:nvSpPr>
          <p:spPr>
            <a:xfrm>
              <a:off x="676656" y="5728310"/>
              <a:ext cx="10838383" cy="306324"/>
            </a:xfrm>
            <a:prstGeom prst="rect">
              <a:avLst/>
            </a:prstGeom>
            <a:solidFill>
              <a:srgbClr val="FAFCFF"/>
            </a:solidFill>
            <a:ln/>
          </p:spPr>
          <p:txBody>
            <a:bodyPr/>
            <a:lstStyle/>
            <a:p>
              <a:endParaRPr lang="en-TR"/>
            </a:p>
          </p:txBody>
        </p:sp>
        <p:sp>
          <p:nvSpPr>
            <p:cNvPr id="54" name="Shape 51"/>
            <p:cNvSpPr/>
            <p:nvPr/>
          </p:nvSpPr>
          <p:spPr>
            <a:xfrm>
              <a:off x="676656" y="5728310"/>
              <a:ext cx="10838383" cy="0"/>
            </a:xfrm>
            <a:prstGeom prst="line">
              <a:avLst/>
            </a:prstGeom>
            <a:noFill/>
            <a:ln w="7620">
              <a:solidFill>
                <a:srgbClr val="E2E7EF"/>
              </a:solidFill>
              <a:prstDash val="solid"/>
            </a:ln>
          </p:spPr>
          <p:txBody>
            <a:bodyPr/>
            <a:lstStyle/>
            <a:p>
              <a:endParaRPr lang="en-TR"/>
            </a:p>
          </p:txBody>
        </p:sp>
        <p:sp>
          <p:nvSpPr>
            <p:cNvPr id="55" name="Text 52"/>
            <p:cNvSpPr txBox="1"/>
            <p:nvPr/>
          </p:nvSpPr>
          <p:spPr>
            <a:xfrm>
              <a:off x="804672" y="5810423"/>
              <a:ext cx="7206461" cy="306324"/>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A speed test, ISP monitoring or network-level blocking</a:t>
              </a:r>
              <a:endParaRPr lang="en-US" sz="600" dirty="0"/>
            </a:p>
          </p:txBody>
        </p:sp>
        <p:sp>
          <p:nvSpPr>
            <p:cNvPr id="56" name="Text 53"/>
            <p:cNvSpPr txBox="1"/>
            <p:nvPr/>
          </p:nvSpPr>
          <p:spPr>
            <a:xfrm>
              <a:off x="8267165" y="5810423"/>
              <a:ext cx="3119858" cy="306324"/>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Fing / Fingbox</a:t>
              </a:r>
              <a:endParaRPr lang="en-US" sz="600" dirty="0"/>
            </a:p>
          </p:txBody>
        </p:sp>
        <p:sp>
          <p:nvSpPr>
            <p:cNvPr id="57" name="Shape 54"/>
            <p:cNvSpPr/>
            <p:nvPr/>
          </p:nvSpPr>
          <p:spPr>
            <a:xfrm>
              <a:off x="676656" y="6034634"/>
              <a:ext cx="10838383" cy="0"/>
            </a:xfrm>
            <a:prstGeom prst="line">
              <a:avLst/>
            </a:prstGeom>
            <a:noFill/>
            <a:ln w="7620">
              <a:solidFill>
                <a:srgbClr val="E2E7EF"/>
              </a:solidFill>
              <a:prstDash val="solid"/>
            </a:ln>
          </p:spPr>
          <p:txBody>
            <a:bodyPr/>
            <a:lstStyle/>
            <a:p>
              <a:endParaRPr lang="en-TR"/>
            </a:p>
          </p:txBody>
        </p:sp>
        <p:sp>
          <p:nvSpPr>
            <p:cNvPr id="58" name="Text 55"/>
            <p:cNvSpPr txBox="1"/>
            <p:nvPr/>
          </p:nvSpPr>
          <p:spPr>
            <a:xfrm>
              <a:off x="804672" y="6116747"/>
              <a:ext cx="7206461" cy="306324"/>
            </a:xfrm>
            <a:prstGeom prst="rect">
              <a:avLst/>
            </a:prstGeom>
            <a:noFill/>
            <a:ln/>
          </p:spPr>
          <p:txBody>
            <a:bodyPr wrap="square" lIns="0" tIns="0" rIns="0" bIns="0" rtlCol="0" anchor="t"/>
            <a:lstStyle/>
            <a:p>
              <a:pPr marL="0" indent="0" algn="l">
                <a:lnSpc>
                  <a:spcPts val="756"/>
                </a:lnSpc>
                <a:buNone/>
              </a:pPr>
              <a:r>
                <a:rPr lang="en-US" sz="600" dirty="0">
                  <a:solidFill>
                    <a:srgbClr val="141A24"/>
                  </a:solidFill>
                  <a:latin typeface="Saira" pitchFamily="34" charset="0"/>
                  <a:ea typeface="Saira" pitchFamily="34" charset="-122"/>
                  <a:cs typeface="Saira" pitchFamily="34" charset="-120"/>
                </a:rPr>
                <a:t>Deep port and service interrogation</a:t>
              </a:r>
              <a:endParaRPr lang="en-US" sz="600" dirty="0"/>
            </a:p>
          </p:txBody>
        </p:sp>
        <p:sp>
          <p:nvSpPr>
            <p:cNvPr id="59" name="Text 56"/>
            <p:cNvSpPr txBox="1"/>
            <p:nvPr/>
          </p:nvSpPr>
          <p:spPr>
            <a:xfrm>
              <a:off x="8267165" y="6116747"/>
              <a:ext cx="3119858" cy="306324"/>
            </a:xfrm>
            <a:prstGeom prst="rect">
              <a:avLst/>
            </a:prstGeom>
            <a:noFill/>
            <a:ln/>
          </p:spPr>
          <p:txBody>
            <a:bodyPr wrap="square" lIns="0" tIns="0" rIns="0" bIns="0" rtlCol="0" anchor="t"/>
            <a:lstStyle/>
            <a:p>
              <a:pPr marL="0" indent="0" algn="l">
                <a:lnSpc>
                  <a:spcPts val="756"/>
                </a:lnSpc>
                <a:buNone/>
              </a:pPr>
              <a:r>
                <a:rPr lang="en-US" sz="600" dirty="0">
                  <a:solidFill>
                    <a:srgbClr val="606A79"/>
                  </a:solidFill>
                  <a:latin typeface="Saira" pitchFamily="34" charset="0"/>
                  <a:ea typeface="Saira" pitchFamily="34" charset="-122"/>
                  <a:cs typeface="Saira" pitchFamily="34" charset="-120"/>
                </a:rPr>
                <a:t>nmap</a:t>
              </a:r>
              <a:endParaRPr lang="en-US" sz="600" dirty="0"/>
            </a:p>
          </p:txBody>
        </p:sp>
        <p:sp>
          <p:nvSpPr>
            <p:cNvPr id="60" name="Shape 57"/>
            <p:cNvSpPr/>
            <p:nvPr/>
          </p:nvSpPr>
          <p:spPr>
            <a:xfrm>
              <a:off x="676656" y="4498442"/>
              <a:ext cx="10838383" cy="1842516"/>
            </a:xfrm>
            <a:prstGeom prst="rect">
              <a:avLst/>
            </a:prstGeom>
            <a:ln w="11430">
              <a:solidFill>
                <a:srgbClr val="E2E7EF"/>
              </a:solidFill>
              <a:prstDash val="solid"/>
            </a:ln>
          </p:spPr>
          <p:txBody>
            <a:bodyPr/>
            <a:lstStyle/>
            <a:p>
              <a:endParaRPr lang="en-T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03504"/>
          </a:xfrm>
          <a:prstGeom prst="rect">
            <a:avLst/>
          </a:prstGeom>
          <a:solidFill>
            <a:srgbClr val="FFFFFF"/>
          </a:solidFill>
          <a:ln/>
        </p:spPr>
        <p:txBody>
          <a:bodyPr/>
          <a:lstStyle/>
          <a:p>
            <a:endParaRPr lang="en-TR"/>
          </a:p>
        </p:txBody>
      </p:sp>
      <p:sp>
        <p:nvSpPr>
          <p:cNvPr id="3" name="Shape 1"/>
          <p:cNvSpPr/>
          <p:nvPr/>
        </p:nvSpPr>
        <p:spPr>
          <a:xfrm>
            <a:off x="0" y="603504"/>
            <a:ext cx="12191695" cy="0"/>
          </a:xfrm>
          <a:prstGeom prst="line">
            <a:avLst/>
          </a:prstGeom>
          <a:noFill/>
          <a:ln w="12700">
            <a:solidFill>
              <a:srgbClr val="E2E7EF"/>
            </a:solidFill>
            <a:prstDash val="solid"/>
          </a:ln>
        </p:spPr>
        <p:txBody>
          <a:bodyPr/>
          <a:lstStyle/>
          <a:p>
            <a:endParaRPr lang="en-TR"/>
          </a:p>
        </p:txBody>
      </p:sp>
      <p:pic>
        <p:nvPicPr>
          <p:cNvPr id="4" name="Image 0" descr="/home/claude/decks/kit2/worlds/../logos/mynes-logo.png"/>
          <p:cNvPicPr>
            <a:picLocks noChangeAspect="1"/>
          </p:cNvPicPr>
          <p:nvPr/>
        </p:nvPicPr>
        <p:blipFill>
          <a:blip r:embed="rId3"/>
          <a:stretch>
            <a:fillRect/>
          </a:stretch>
        </p:blipFill>
        <p:spPr>
          <a:xfrm>
            <a:off x="676656" y="70307"/>
            <a:ext cx="310896" cy="310896"/>
          </a:xfrm>
          <a:prstGeom prst="rect">
            <a:avLst/>
          </a:prstGeom>
        </p:spPr>
      </p:pic>
      <p:sp>
        <p:nvSpPr>
          <p:cNvPr id="5" name="Text 2"/>
          <p:cNvSpPr txBox="1"/>
          <p:nvPr/>
        </p:nvSpPr>
        <p:spPr>
          <a:xfrm>
            <a:off x="1133856" y="129113"/>
            <a:ext cx="10058400" cy="625246"/>
          </a:xfrm>
          <a:prstGeom prst="rect">
            <a:avLst/>
          </a:prstGeom>
          <a:noFill/>
          <a:ln/>
        </p:spPr>
        <p:txBody>
          <a:bodyPr wrap="none" lIns="0" tIns="0" rIns="0" bIns="0" rtlCol="0" anchor="t"/>
          <a:lstStyle/>
          <a:p>
            <a:pPr marL="0" indent="0">
              <a:buNone/>
            </a:pPr>
            <a:r>
              <a:rPr lang="en-US" sz="1400" b="1" kern="0" spc="-25" dirty="0">
                <a:solidFill>
                  <a:srgbClr val="141A24"/>
                </a:solidFill>
                <a:latin typeface="Saira Cond" pitchFamily="34" charset="0"/>
                <a:ea typeface="Saira Cond" pitchFamily="34" charset="-122"/>
                <a:cs typeface="Saira Cond" pitchFamily="34" charset="-120"/>
              </a:rPr>
              <a:t>My Network Scann</a:t>
            </a:r>
            <a:r>
              <a:rPr lang="en-US" sz="1400" b="1" kern="0" spc="-25" dirty="0">
                <a:solidFill>
                  <a:srgbClr val="3D6FF5"/>
                </a:solidFill>
                <a:latin typeface="Saira Cond" pitchFamily="34" charset="0"/>
                <a:ea typeface="Saira Cond" pitchFamily="34" charset="-122"/>
                <a:cs typeface="Saira Cond" pitchFamily="34" charset="-120"/>
              </a:rPr>
              <a:t>er</a:t>
            </a:r>
            <a:endParaRPr lang="en-US" sz="1400" dirty="0"/>
          </a:p>
        </p:txBody>
      </p:sp>
      <p:sp>
        <p:nvSpPr>
          <p:cNvPr id="7" name="Shape 4"/>
          <p:cNvSpPr/>
          <p:nvPr/>
        </p:nvSpPr>
        <p:spPr>
          <a:xfrm>
            <a:off x="3510718" y="155448"/>
            <a:ext cx="1001916" cy="292608"/>
          </a:xfrm>
          <a:prstGeom prst="roundRect">
            <a:avLst>
              <a:gd name="adj" fmla="val 21875"/>
            </a:avLst>
          </a:prstGeom>
          <a:solidFill>
            <a:srgbClr val="EDF2FF"/>
          </a:solidFill>
          <a:ln/>
        </p:spPr>
        <p:txBody>
          <a:bodyPr/>
          <a:lstStyle/>
          <a:p>
            <a:endParaRPr lang="en-TR"/>
          </a:p>
        </p:txBody>
      </p:sp>
      <p:sp>
        <p:nvSpPr>
          <p:cNvPr id="8" name="Text 5"/>
          <p:cNvSpPr txBox="1"/>
          <p:nvPr/>
        </p:nvSpPr>
        <p:spPr>
          <a:xfrm>
            <a:off x="3510718" y="215707"/>
            <a:ext cx="1001916" cy="219456"/>
          </a:xfrm>
          <a:prstGeom prst="rect">
            <a:avLst/>
          </a:prstGeom>
          <a:noFill/>
          <a:ln/>
        </p:spPr>
        <p:txBody>
          <a:bodyPr wrap="square" lIns="0" tIns="0" rIns="0" bIns="0" rtlCol="0" anchor="t"/>
          <a:lstStyle/>
          <a:p>
            <a:pPr marL="0" indent="0" algn="ctr">
              <a:buNone/>
            </a:pPr>
            <a:r>
              <a:rPr lang="en-US" sz="1050" dirty="0">
                <a:solidFill>
                  <a:srgbClr val="3D6FF5"/>
                </a:solidFill>
                <a:latin typeface="Saira Medium" pitchFamily="34" charset="0"/>
                <a:ea typeface="Saira Medium" pitchFamily="34" charset="-122"/>
                <a:cs typeface="Saira Medium" pitchFamily="34" charset="-120"/>
              </a:rPr>
              <a:t>Get started</a:t>
            </a:r>
            <a:endParaRPr lang="en-US" sz="1050" dirty="0"/>
          </a:p>
        </p:txBody>
      </p:sp>
      <p:sp>
        <p:nvSpPr>
          <p:cNvPr id="9" name="Shape 6"/>
          <p:cNvSpPr/>
          <p:nvPr/>
        </p:nvSpPr>
        <p:spPr>
          <a:xfrm>
            <a:off x="11313871" y="269748"/>
            <a:ext cx="96012" cy="96012"/>
          </a:xfrm>
          <a:prstGeom prst="ellipse">
            <a:avLst/>
          </a:prstGeom>
          <a:solidFill>
            <a:srgbClr val="17A05C"/>
          </a:solidFill>
          <a:ln/>
        </p:spPr>
        <p:txBody>
          <a:bodyPr/>
          <a:lstStyle/>
          <a:p>
            <a:endParaRPr lang="en-TR"/>
          </a:p>
        </p:txBody>
      </p:sp>
      <p:sp>
        <p:nvSpPr>
          <p:cNvPr id="10" name="Text 7"/>
          <p:cNvSpPr txBox="1"/>
          <p:nvPr/>
        </p:nvSpPr>
        <p:spPr>
          <a:xfrm>
            <a:off x="9503359" y="218724"/>
            <a:ext cx="1700784" cy="201168"/>
          </a:xfrm>
          <a:prstGeom prst="rect">
            <a:avLst/>
          </a:prstGeom>
          <a:noFill/>
          <a:ln/>
        </p:spPr>
        <p:txBody>
          <a:bodyPr wrap="square" lIns="0" tIns="0" rIns="0" bIns="0" rtlCol="0" anchor="t"/>
          <a:lstStyle/>
          <a:p>
            <a:pPr marL="0" indent="0" algn="r">
              <a:buNone/>
            </a:pPr>
            <a:r>
              <a:rPr lang="en-US" sz="850" dirty="0">
                <a:solidFill>
                  <a:srgbClr val="8C95A3"/>
                </a:solidFill>
                <a:latin typeface="Sometype Mono" pitchFamily="34" charset="0"/>
                <a:ea typeface="Sometype Mono" pitchFamily="34" charset="-122"/>
                <a:cs typeface="Sometype Mono" pitchFamily="34" charset="-120"/>
              </a:rPr>
              <a:t>self-hosted</a:t>
            </a:r>
            <a:endParaRPr lang="en-US" sz="850" dirty="0"/>
          </a:p>
        </p:txBody>
      </p:sp>
      <p:sp>
        <p:nvSpPr>
          <p:cNvPr id="11" name="Text 8"/>
          <p:cNvSpPr txBox="1"/>
          <p:nvPr/>
        </p:nvSpPr>
        <p:spPr>
          <a:xfrm>
            <a:off x="676656" y="860816"/>
            <a:ext cx="10808208" cy="781050"/>
          </a:xfrm>
          <a:prstGeom prst="rect">
            <a:avLst/>
          </a:prstGeom>
          <a:noFill/>
          <a:ln/>
        </p:spPr>
        <p:txBody>
          <a:bodyPr wrap="square" lIns="0" tIns="0" rIns="0" bIns="0" rtlCol="0" anchor="t"/>
          <a:lstStyle/>
          <a:p>
            <a:pPr marL="0" indent="0" algn="l">
              <a:lnSpc>
                <a:spcPts val="3630"/>
              </a:lnSpc>
              <a:buNone/>
            </a:pPr>
            <a:r>
              <a:rPr lang="en-US" sz="3300" b="1" kern="0" spc="-46" dirty="0">
                <a:solidFill>
                  <a:srgbClr val="141A24"/>
                </a:solidFill>
                <a:latin typeface="Saira Cond" pitchFamily="34" charset="0"/>
                <a:ea typeface="Saira Cond" pitchFamily="34" charset="-122"/>
                <a:cs typeface="Saira Cond" pitchFamily="34" charset="-120"/>
              </a:rPr>
              <a:t>Five ways in — pick the one that matches your house.</a:t>
            </a:r>
            <a:endParaRPr lang="en-US" sz="3300" dirty="0"/>
          </a:p>
        </p:txBody>
      </p:sp>
      <p:sp>
        <p:nvSpPr>
          <p:cNvPr id="12" name="Text 9"/>
          <p:cNvSpPr txBox="1"/>
          <p:nvPr/>
        </p:nvSpPr>
        <p:spPr>
          <a:xfrm>
            <a:off x="676656" y="1542623"/>
            <a:ext cx="8778240" cy="624713"/>
          </a:xfrm>
          <a:prstGeom prst="rect">
            <a:avLst/>
          </a:prstGeom>
          <a:noFill/>
          <a:ln/>
        </p:spPr>
        <p:txBody>
          <a:bodyPr wrap="square" lIns="0" tIns="0" rIns="0" bIns="0" rtlCol="0" anchor="t"/>
          <a:lstStyle/>
          <a:p>
            <a:pPr marL="0" indent="0" algn="l">
              <a:lnSpc>
                <a:spcPts val="1668"/>
              </a:lnSpc>
              <a:buNone/>
            </a:pPr>
            <a:r>
              <a:rPr lang="en-US" sz="1150" dirty="0">
                <a:solidFill>
                  <a:srgbClr val="606A79"/>
                </a:solidFill>
                <a:latin typeface="Saira" pitchFamily="34" charset="0"/>
                <a:ea typeface="Saira" pitchFamily="34" charset="-122"/>
                <a:cs typeface="Saira" pitchFamily="34" charset="-120"/>
              </a:rPr>
              <a:t>The container is the reference install. The add-on and the CasaOS source are the same image with the setup already done; the phone needs no server at all.</a:t>
            </a:r>
            <a:endParaRPr lang="en-US" sz="1150" dirty="0"/>
          </a:p>
        </p:txBody>
      </p:sp>
      <p:sp>
        <p:nvSpPr>
          <p:cNvPr id="13" name="Text 10"/>
          <p:cNvSpPr txBox="1"/>
          <p:nvPr/>
        </p:nvSpPr>
        <p:spPr>
          <a:xfrm>
            <a:off x="676656" y="2273582"/>
            <a:ext cx="3442106" cy="237744"/>
          </a:xfrm>
          <a:prstGeom prst="rect">
            <a:avLst/>
          </a:prstGeom>
          <a:noFill/>
          <a:ln/>
        </p:spPr>
        <p:txBody>
          <a:bodyPr wrap="square" lIns="0" tIns="0" rIns="0" bIns="0" rtlCol="0" anchor="t"/>
          <a:lstStyle/>
          <a:p>
            <a:pPr marL="0" indent="0" algn="l">
              <a:buNone/>
            </a:pPr>
            <a:r>
              <a:rPr lang="en-US" sz="1200" dirty="0">
                <a:solidFill>
                  <a:srgbClr val="3D6FF5"/>
                </a:solidFill>
                <a:latin typeface="Saira Cond SemiBold" pitchFamily="34" charset="0"/>
                <a:ea typeface="Saira Cond SemiBold" pitchFamily="34" charset="-122"/>
                <a:cs typeface="Saira Cond SemiBold" pitchFamily="34" charset="-120"/>
              </a:rPr>
              <a:t>Docker · the reference</a:t>
            </a:r>
            <a:endParaRPr lang="en-US" sz="1200" dirty="0"/>
          </a:p>
        </p:txBody>
      </p:sp>
      <p:sp>
        <p:nvSpPr>
          <p:cNvPr id="14" name="Shape 11"/>
          <p:cNvSpPr/>
          <p:nvPr/>
        </p:nvSpPr>
        <p:spPr>
          <a:xfrm>
            <a:off x="676656" y="2648852"/>
            <a:ext cx="3442106" cy="1168146"/>
          </a:xfrm>
          <a:prstGeom prst="roundRect">
            <a:avLst>
              <a:gd name="adj" fmla="val 5479"/>
            </a:avLst>
          </a:prstGeom>
          <a:solidFill>
            <a:srgbClr val="0F1622"/>
          </a:solidFill>
          <a:ln w="9525">
            <a:solidFill>
              <a:srgbClr val="E2E7EF"/>
            </a:solidFill>
            <a:prstDash val="solid"/>
          </a:ln>
        </p:spPr>
        <p:txBody>
          <a:bodyPr/>
          <a:lstStyle/>
          <a:p>
            <a:endParaRPr lang="en-TR"/>
          </a:p>
        </p:txBody>
      </p:sp>
      <p:sp>
        <p:nvSpPr>
          <p:cNvPr id="15" name="Text 12"/>
          <p:cNvSpPr txBox="1"/>
          <p:nvPr/>
        </p:nvSpPr>
        <p:spPr>
          <a:xfrm>
            <a:off x="877824" y="2764798"/>
            <a:ext cx="3039770" cy="292608"/>
          </a:xfrm>
          <a:prstGeom prst="rect">
            <a:avLst/>
          </a:prstGeom>
          <a:noFill/>
          <a:ln/>
        </p:spPr>
        <p:txBody>
          <a:bodyPr wrap="none" lIns="0" tIns="0" rIns="0" bIns="0" rtlCol="0" anchor="t"/>
          <a:lstStyle/>
          <a:p>
            <a:pPr marL="0" indent="0">
              <a:buNone/>
            </a:pPr>
            <a:r>
              <a:rPr lang="en-US" sz="900" dirty="0">
                <a:solidFill>
                  <a:srgbClr val="7A8798"/>
                </a:solidFill>
                <a:latin typeface="Sometype Mono" pitchFamily="34" charset="0"/>
                <a:ea typeface="Sometype Mono" pitchFamily="34" charset="-122"/>
                <a:cs typeface="Sometype Mono" pitchFamily="34" charset="-120"/>
              </a:rPr>
              <a:t># host networking is what lets it see the LAN</a:t>
            </a:r>
            <a:endParaRPr lang="en-US" sz="900" dirty="0"/>
          </a:p>
        </p:txBody>
      </p:sp>
      <p:sp>
        <p:nvSpPr>
          <p:cNvPr id="16" name="Text 13"/>
          <p:cNvSpPr txBox="1"/>
          <p:nvPr/>
        </p:nvSpPr>
        <p:spPr>
          <a:xfrm>
            <a:off x="877824" y="2936248"/>
            <a:ext cx="3039770" cy="292608"/>
          </a:xfrm>
          <a:prstGeom prst="rect">
            <a:avLst/>
          </a:prstGeom>
          <a:noFill/>
          <a:ln/>
        </p:spPr>
        <p:txBody>
          <a:bodyPr wrap="none" lIns="0" tIns="0" rIns="0" bIns="0" rtlCol="0" anchor="t"/>
          <a:lstStyle/>
          <a:p>
            <a:pPr marL="0" indent="0">
              <a:buNone/>
            </a:pPr>
            <a:r>
              <a:rPr lang="en-US" sz="900" dirty="0">
                <a:solidFill>
                  <a:srgbClr val="7FA8FF"/>
                </a:solidFill>
                <a:latin typeface="Sometype Mono" pitchFamily="34" charset="0"/>
                <a:ea typeface="Sometype Mono" pitchFamily="34" charset="-122"/>
                <a:cs typeface="Sometype Mono" pitchFamily="34" charset="-120"/>
              </a:rPr>
              <a:t>docker</a:t>
            </a:r>
            <a:r>
              <a:rPr lang="en-US" sz="900" dirty="0">
                <a:solidFill>
                  <a:srgbClr val="E6EDF7"/>
                </a:solidFill>
                <a:latin typeface="Sometype Mono" pitchFamily="34" charset="0"/>
                <a:ea typeface="Sometype Mono" pitchFamily="34" charset="-122"/>
                <a:cs typeface="Sometype Mono" pitchFamily="34" charset="-120"/>
              </a:rPr>
              <a:t> compose up -d</a:t>
            </a:r>
            <a:endParaRPr lang="en-US" sz="900" dirty="0"/>
          </a:p>
        </p:txBody>
      </p:sp>
      <p:sp>
        <p:nvSpPr>
          <p:cNvPr id="17" name="Text 14"/>
          <p:cNvSpPr txBox="1"/>
          <p:nvPr/>
        </p:nvSpPr>
        <p:spPr>
          <a:xfrm>
            <a:off x="877824" y="3279148"/>
            <a:ext cx="3039770" cy="292608"/>
          </a:xfrm>
          <a:prstGeom prst="rect">
            <a:avLst/>
          </a:prstGeom>
          <a:noFill/>
          <a:ln/>
        </p:spPr>
        <p:txBody>
          <a:bodyPr wrap="none" lIns="0" tIns="0" rIns="0" bIns="0" rtlCol="0" anchor="t"/>
          <a:lstStyle/>
          <a:p>
            <a:pPr marL="0" indent="0">
              <a:buNone/>
            </a:pPr>
            <a:r>
              <a:rPr lang="en-US" sz="900" dirty="0">
                <a:solidFill>
                  <a:srgbClr val="7A8798"/>
                </a:solidFill>
                <a:latin typeface="Sometype Mono" pitchFamily="34" charset="0"/>
                <a:ea typeface="Sometype Mono" pitchFamily="34" charset="-122"/>
                <a:cs typeface="Sometype Mono" pitchFamily="34" charset="-120"/>
              </a:rPr>
              <a:t># then open</a:t>
            </a:r>
            <a:endParaRPr lang="en-US" sz="900" dirty="0"/>
          </a:p>
        </p:txBody>
      </p:sp>
      <p:sp>
        <p:nvSpPr>
          <p:cNvPr id="18" name="Text 15"/>
          <p:cNvSpPr txBox="1"/>
          <p:nvPr/>
        </p:nvSpPr>
        <p:spPr>
          <a:xfrm>
            <a:off x="877824" y="3450598"/>
            <a:ext cx="3039770" cy="292608"/>
          </a:xfrm>
          <a:prstGeom prst="rect">
            <a:avLst/>
          </a:prstGeom>
          <a:noFill/>
          <a:ln/>
        </p:spPr>
        <p:txBody>
          <a:bodyPr wrap="none" lIns="0" tIns="0" rIns="0" bIns="0" rtlCol="0" anchor="t"/>
          <a:lstStyle/>
          <a:p>
            <a:pPr marL="0" indent="0">
              <a:buNone/>
            </a:pPr>
            <a:r>
              <a:rPr lang="en-US" sz="900" dirty="0">
                <a:solidFill>
                  <a:srgbClr val="E6EDF7"/>
                </a:solidFill>
                <a:latin typeface="Sometype Mono" pitchFamily="34" charset="0"/>
                <a:ea typeface="Sometype Mono" pitchFamily="34" charset="-122"/>
                <a:cs typeface="Sometype Mono" pitchFamily="34" charset="-120"/>
              </a:rPr>
              <a:t>http://&lt;host-ip&gt;:5883</a:t>
            </a:r>
            <a:endParaRPr lang="en-US" sz="900" dirty="0"/>
          </a:p>
        </p:txBody>
      </p:sp>
      <p:sp>
        <p:nvSpPr>
          <p:cNvPr id="19" name="Text 16"/>
          <p:cNvSpPr txBox="1"/>
          <p:nvPr/>
        </p:nvSpPr>
        <p:spPr>
          <a:xfrm>
            <a:off x="4374794" y="2273582"/>
            <a:ext cx="3442106" cy="237744"/>
          </a:xfrm>
          <a:prstGeom prst="rect">
            <a:avLst/>
          </a:prstGeom>
          <a:noFill/>
          <a:ln/>
        </p:spPr>
        <p:txBody>
          <a:bodyPr wrap="square" lIns="0" tIns="0" rIns="0" bIns="0" rtlCol="0" anchor="t"/>
          <a:lstStyle/>
          <a:p>
            <a:pPr marL="0" indent="0" algn="l">
              <a:buNone/>
            </a:pPr>
            <a:r>
              <a:rPr lang="en-US" sz="1200" dirty="0">
                <a:solidFill>
                  <a:srgbClr val="17A05C"/>
                </a:solidFill>
                <a:latin typeface="Saira Cond SemiBold" pitchFamily="34" charset="0"/>
                <a:ea typeface="Saira Cond SemiBold" pitchFamily="34" charset="-122"/>
                <a:cs typeface="Saira Cond SemiBold" pitchFamily="34" charset="-120"/>
              </a:rPr>
              <a:t>Home Assistant add-on</a:t>
            </a:r>
            <a:endParaRPr lang="en-US" sz="1200" dirty="0"/>
          </a:p>
        </p:txBody>
      </p:sp>
      <p:sp>
        <p:nvSpPr>
          <p:cNvPr id="20" name="Shape 17"/>
          <p:cNvSpPr/>
          <p:nvPr/>
        </p:nvSpPr>
        <p:spPr>
          <a:xfrm>
            <a:off x="4374794" y="2648852"/>
            <a:ext cx="3442106" cy="977646"/>
          </a:xfrm>
          <a:prstGeom prst="roundRect">
            <a:avLst>
              <a:gd name="adj" fmla="val 6547"/>
            </a:avLst>
          </a:prstGeom>
          <a:solidFill>
            <a:srgbClr val="0F1622"/>
          </a:solidFill>
          <a:ln w="9525">
            <a:solidFill>
              <a:srgbClr val="E2E7EF"/>
            </a:solidFill>
            <a:prstDash val="solid"/>
          </a:ln>
        </p:spPr>
        <p:txBody>
          <a:bodyPr/>
          <a:lstStyle/>
          <a:p>
            <a:endParaRPr lang="en-TR"/>
          </a:p>
        </p:txBody>
      </p:sp>
      <p:sp>
        <p:nvSpPr>
          <p:cNvPr id="21" name="Text 18"/>
          <p:cNvSpPr txBox="1"/>
          <p:nvPr/>
        </p:nvSpPr>
        <p:spPr>
          <a:xfrm>
            <a:off x="4575962" y="2765895"/>
            <a:ext cx="3039770" cy="287528"/>
          </a:xfrm>
          <a:prstGeom prst="rect">
            <a:avLst/>
          </a:prstGeom>
          <a:noFill/>
          <a:ln/>
        </p:spPr>
        <p:txBody>
          <a:bodyPr wrap="none" lIns="0" tIns="0" rIns="0" bIns="0" rtlCol="0" anchor="t"/>
          <a:lstStyle/>
          <a:p>
            <a:pPr marL="0" indent="0">
              <a:buNone/>
            </a:pPr>
            <a:r>
              <a:rPr lang="en-US" sz="875" dirty="0">
                <a:solidFill>
                  <a:srgbClr val="7A8798"/>
                </a:solidFill>
                <a:latin typeface="Sometype Mono" pitchFamily="34" charset="0"/>
                <a:ea typeface="Sometype Mono" pitchFamily="34" charset="-122"/>
                <a:cs typeface="Sometype Mono" pitchFamily="34" charset="-120"/>
              </a:rPr>
              <a:t># Settings → Add-ons → Store → ⋮ → Repositories</a:t>
            </a:r>
            <a:endParaRPr lang="en-US" sz="875" dirty="0"/>
          </a:p>
        </p:txBody>
      </p:sp>
      <p:sp>
        <p:nvSpPr>
          <p:cNvPr id="22" name="Text 19"/>
          <p:cNvSpPr txBox="1"/>
          <p:nvPr/>
        </p:nvSpPr>
        <p:spPr>
          <a:xfrm>
            <a:off x="4575962" y="2932582"/>
            <a:ext cx="3039770" cy="287528"/>
          </a:xfrm>
          <a:prstGeom prst="rect">
            <a:avLst/>
          </a:prstGeom>
          <a:noFill/>
          <a:ln/>
        </p:spPr>
        <p:txBody>
          <a:bodyPr wrap="none" lIns="0" tIns="0" rIns="0" bIns="0" rtlCol="0" anchor="t"/>
          <a:lstStyle/>
          <a:p>
            <a:pPr marL="0" indent="0">
              <a:buNone/>
            </a:pPr>
            <a:r>
              <a:rPr lang="en-US" sz="875" dirty="0">
                <a:solidFill>
                  <a:srgbClr val="E6EDF7"/>
                </a:solidFill>
                <a:latin typeface="Sometype Mono" pitchFamily="34" charset="0"/>
                <a:ea typeface="Sometype Mono" pitchFamily="34" charset="-122"/>
                <a:cs typeface="Sometype Mono" pitchFamily="34" charset="-120"/>
              </a:rPr>
              <a:t>github.com/fxerkan/mynes-addon</a:t>
            </a:r>
            <a:endParaRPr lang="en-US" sz="875" dirty="0"/>
          </a:p>
        </p:txBody>
      </p:sp>
      <p:sp>
        <p:nvSpPr>
          <p:cNvPr id="23" name="Text 20"/>
          <p:cNvSpPr txBox="1"/>
          <p:nvPr/>
        </p:nvSpPr>
        <p:spPr>
          <a:xfrm>
            <a:off x="4575962" y="3265957"/>
            <a:ext cx="3039770" cy="287528"/>
          </a:xfrm>
          <a:prstGeom prst="rect">
            <a:avLst/>
          </a:prstGeom>
          <a:noFill/>
          <a:ln/>
        </p:spPr>
        <p:txBody>
          <a:bodyPr wrap="none" lIns="0" tIns="0" rIns="0" bIns="0" rtlCol="0" anchor="t"/>
          <a:lstStyle/>
          <a:p>
            <a:pPr marL="0" indent="0">
              <a:buNone/>
            </a:pPr>
            <a:r>
              <a:rPr lang="en-US" sz="875" dirty="0">
                <a:solidFill>
                  <a:srgbClr val="7A8798"/>
                </a:solidFill>
                <a:latin typeface="Sometype Mono" pitchFamily="34" charset="0"/>
                <a:ea typeface="Sometype Mono" pitchFamily="34" charset="-122"/>
                <a:cs typeface="Sometype Mono" pitchFamily="34" charset="-120"/>
              </a:rPr>
              <a:t># install, start, open on port 5883</a:t>
            </a:r>
            <a:endParaRPr lang="en-US" sz="875" dirty="0"/>
          </a:p>
        </p:txBody>
      </p:sp>
      <p:sp>
        <p:nvSpPr>
          <p:cNvPr id="24" name="Text 21"/>
          <p:cNvSpPr txBox="1"/>
          <p:nvPr/>
        </p:nvSpPr>
        <p:spPr>
          <a:xfrm>
            <a:off x="8072933" y="2273582"/>
            <a:ext cx="3442106" cy="237744"/>
          </a:xfrm>
          <a:prstGeom prst="rect">
            <a:avLst/>
          </a:prstGeom>
          <a:noFill/>
          <a:ln/>
        </p:spPr>
        <p:txBody>
          <a:bodyPr wrap="square" lIns="0" tIns="0" rIns="0" bIns="0" rtlCol="0" anchor="t"/>
          <a:lstStyle/>
          <a:p>
            <a:pPr marL="0" indent="0" algn="l">
              <a:buNone/>
            </a:pPr>
            <a:r>
              <a:rPr lang="en-US" sz="1200" dirty="0">
                <a:solidFill>
                  <a:srgbClr val="D98A1F"/>
                </a:solidFill>
                <a:latin typeface="Saira Cond SemiBold" pitchFamily="34" charset="0"/>
                <a:ea typeface="Saira Cond SemiBold" pitchFamily="34" charset="-122"/>
                <a:cs typeface="Saira Cond SemiBold" pitchFamily="34" charset="-120"/>
              </a:rPr>
              <a:t>CasaOS / ZimaOS</a:t>
            </a:r>
            <a:endParaRPr lang="en-US" sz="1200" dirty="0"/>
          </a:p>
        </p:txBody>
      </p:sp>
      <p:sp>
        <p:nvSpPr>
          <p:cNvPr id="25" name="Shape 22"/>
          <p:cNvSpPr/>
          <p:nvPr/>
        </p:nvSpPr>
        <p:spPr>
          <a:xfrm>
            <a:off x="8072933" y="2648852"/>
            <a:ext cx="3442106" cy="839534"/>
          </a:xfrm>
          <a:prstGeom prst="roundRect">
            <a:avLst>
              <a:gd name="adj" fmla="val 7624"/>
            </a:avLst>
          </a:prstGeom>
          <a:solidFill>
            <a:srgbClr val="0F1622"/>
          </a:solidFill>
          <a:ln w="9525">
            <a:solidFill>
              <a:srgbClr val="E2E7EF"/>
            </a:solidFill>
            <a:prstDash val="solid"/>
          </a:ln>
        </p:spPr>
        <p:txBody>
          <a:bodyPr/>
          <a:lstStyle/>
          <a:p>
            <a:endParaRPr lang="en-TR"/>
          </a:p>
        </p:txBody>
      </p:sp>
      <p:sp>
        <p:nvSpPr>
          <p:cNvPr id="26" name="Text 23"/>
          <p:cNvSpPr txBox="1"/>
          <p:nvPr/>
        </p:nvSpPr>
        <p:spPr>
          <a:xfrm>
            <a:off x="8274101" y="2763700"/>
            <a:ext cx="3039770" cy="297688"/>
          </a:xfrm>
          <a:prstGeom prst="rect">
            <a:avLst/>
          </a:prstGeom>
          <a:noFill/>
          <a:ln/>
        </p:spPr>
        <p:txBody>
          <a:bodyPr wrap="none" lIns="0" tIns="0" rIns="0" bIns="0" rtlCol="0" anchor="t"/>
          <a:lstStyle/>
          <a:p>
            <a:pPr marL="0" indent="0">
              <a:buNone/>
            </a:pPr>
            <a:r>
              <a:rPr lang="en-US" sz="925" dirty="0">
                <a:solidFill>
                  <a:srgbClr val="7A8798"/>
                </a:solidFill>
                <a:latin typeface="Sometype Mono" pitchFamily="34" charset="0"/>
                <a:ea typeface="Sometype Mono" pitchFamily="34" charset="-122"/>
                <a:cs typeface="Sometype Mono" pitchFamily="34" charset="-120"/>
              </a:rPr>
              <a:t># App Store → ⋮ → Add Source</a:t>
            </a:r>
            <a:endParaRPr lang="en-US" sz="925" dirty="0"/>
          </a:p>
        </p:txBody>
      </p:sp>
      <p:sp>
        <p:nvSpPr>
          <p:cNvPr id="27" name="Text 24"/>
          <p:cNvSpPr txBox="1"/>
          <p:nvPr/>
        </p:nvSpPr>
        <p:spPr>
          <a:xfrm>
            <a:off x="8274101" y="2939913"/>
            <a:ext cx="3039770" cy="297688"/>
          </a:xfrm>
          <a:prstGeom prst="rect">
            <a:avLst/>
          </a:prstGeom>
          <a:noFill/>
          <a:ln/>
        </p:spPr>
        <p:txBody>
          <a:bodyPr wrap="none" lIns="0" tIns="0" rIns="0" bIns="0" rtlCol="0" anchor="t"/>
          <a:lstStyle/>
          <a:p>
            <a:pPr marL="0" indent="0">
              <a:buNone/>
            </a:pPr>
            <a:r>
              <a:rPr lang="en-US" sz="925" dirty="0">
                <a:solidFill>
                  <a:srgbClr val="E6EDF7"/>
                </a:solidFill>
                <a:latin typeface="Sometype Mono" pitchFamily="34" charset="0"/>
                <a:ea typeface="Sometype Mono" pitchFamily="34" charset="-122"/>
                <a:cs typeface="Sometype Mono" pitchFamily="34" charset="-120"/>
              </a:rPr>
              <a:t>https://cdn.jsdelivr.net/gh/fxerkan/</a:t>
            </a:r>
            <a:endParaRPr lang="en-US" sz="925" dirty="0"/>
          </a:p>
        </p:txBody>
      </p:sp>
      <p:sp>
        <p:nvSpPr>
          <p:cNvPr id="28" name="Text 25"/>
          <p:cNvSpPr txBox="1"/>
          <p:nvPr/>
        </p:nvSpPr>
        <p:spPr>
          <a:xfrm>
            <a:off x="8274101" y="3116125"/>
            <a:ext cx="3039770" cy="297688"/>
          </a:xfrm>
          <a:prstGeom prst="rect">
            <a:avLst/>
          </a:prstGeom>
          <a:noFill/>
          <a:ln/>
        </p:spPr>
        <p:txBody>
          <a:bodyPr wrap="none" lIns="0" tIns="0" rIns="0" bIns="0" rtlCol="0" anchor="t"/>
          <a:lstStyle/>
          <a:p>
            <a:pPr marL="0" indent="0">
              <a:buNone/>
            </a:pPr>
            <a:r>
              <a:rPr lang="en-US" sz="925" dirty="0">
                <a:solidFill>
                  <a:srgbClr val="E6EDF7"/>
                </a:solidFill>
                <a:latin typeface="Sometype Mono" pitchFamily="34" charset="0"/>
                <a:ea typeface="Sometype Mono" pitchFamily="34" charset="-122"/>
                <a:cs typeface="Sometype Mono" pitchFamily="34" charset="-120"/>
              </a:rPr>
              <a:t>  mynes-casaos-store@gh-pages/store/main.zip</a:t>
            </a:r>
            <a:endParaRPr lang="en-US" sz="9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3D6FF5"/>
          </a:solidFill>
          <a:ln/>
        </p:spPr>
        <p:txBody>
          <a:bodyPr/>
          <a:lstStyle/>
          <a:p>
            <a:endParaRPr lang="en-TR"/>
          </a:p>
        </p:txBody>
      </p:sp>
      <p:pic>
        <p:nvPicPr>
          <p:cNvPr id="3" name="Image 0" descr="/home/claude/decks/kit2/worlds/../logos/mynes-logo.png"/>
          <p:cNvPicPr>
            <a:picLocks noChangeAspect="1"/>
          </p:cNvPicPr>
          <p:nvPr/>
        </p:nvPicPr>
        <p:blipFill>
          <a:blip r:embed="rId3"/>
          <a:stretch>
            <a:fillRect/>
          </a:stretch>
        </p:blipFill>
        <p:spPr>
          <a:xfrm>
            <a:off x="676656" y="705917"/>
            <a:ext cx="731520" cy="731520"/>
          </a:xfrm>
          <a:prstGeom prst="rect">
            <a:avLst/>
          </a:prstGeom>
        </p:spPr>
      </p:pic>
      <p:sp>
        <p:nvSpPr>
          <p:cNvPr id="4" name="Text 1"/>
          <p:cNvSpPr txBox="1"/>
          <p:nvPr/>
        </p:nvSpPr>
        <p:spPr>
          <a:xfrm>
            <a:off x="1554480" y="794431"/>
            <a:ext cx="10058400" cy="817474"/>
          </a:xfrm>
          <a:prstGeom prst="rect">
            <a:avLst/>
          </a:prstGeom>
          <a:noFill/>
          <a:ln/>
        </p:spPr>
        <p:txBody>
          <a:bodyPr wrap="none" lIns="0" tIns="0" rIns="0" bIns="0" rtlCol="0" anchor="t"/>
          <a:lstStyle/>
          <a:p>
            <a:pPr marL="0" indent="0">
              <a:buNone/>
            </a:pPr>
            <a:r>
              <a:rPr lang="en-US" sz="3600" b="1" kern="0" spc="-65" dirty="0">
                <a:solidFill>
                  <a:srgbClr val="141A24"/>
                </a:solidFill>
                <a:latin typeface="Saira Cond" pitchFamily="34" charset="0"/>
                <a:ea typeface="Saira Cond" pitchFamily="34" charset="-122"/>
                <a:cs typeface="Saira Cond" pitchFamily="34" charset="-120"/>
              </a:rPr>
              <a:t>My Network Scann</a:t>
            </a:r>
            <a:r>
              <a:rPr lang="en-US" sz="3600" b="1" kern="0" spc="-65" dirty="0">
                <a:solidFill>
                  <a:srgbClr val="3D6FF5"/>
                </a:solidFill>
                <a:latin typeface="Saira Cond" pitchFamily="34" charset="0"/>
                <a:ea typeface="Saira Cond" pitchFamily="34" charset="-122"/>
                <a:cs typeface="Saira Cond" pitchFamily="34" charset="-120"/>
              </a:rPr>
              <a:t>er</a:t>
            </a:r>
            <a:endParaRPr lang="en-US" sz="3600" dirty="0"/>
          </a:p>
        </p:txBody>
      </p:sp>
      <p:sp>
        <p:nvSpPr>
          <p:cNvPr id="5" name="Text 2"/>
          <p:cNvSpPr txBox="1"/>
          <p:nvPr/>
        </p:nvSpPr>
        <p:spPr>
          <a:xfrm>
            <a:off x="1581912" y="1461486"/>
            <a:ext cx="6400800" cy="429768"/>
          </a:xfrm>
          <a:prstGeom prst="rect">
            <a:avLst/>
          </a:prstGeom>
          <a:noFill/>
          <a:ln/>
        </p:spPr>
        <p:txBody>
          <a:bodyPr wrap="none" lIns="0" tIns="0" rIns="0" bIns="0" rtlCol="0" anchor="t"/>
          <a:lstStyle/>
          <a:p>
            <a:pPr marL="0" indent="0" algn="l">
              <a:buNone/>
            </a:pPr>
            <a:r>
              <a:rPr lang="en-US" sz="850" kern="0" spc="102" dirty="0">
                <a:solidFill>
                  <a:srgbClr val="606A79"/>
                </a:solidFill>
                <a:latin typeface="Saira Medium" pitchFamily="34" charset="0"/>
                <a:ea typeface="Saira Medium" pitchFamily="34" charset="-122"/>
                <a:cs typeface="Saira Medium" pitchFamily="34" charset="-120"/>
              </a:rPr>
              <a:t>MyNeS</a:t>
            </a:r>
            <a:endParaRPr lang="en-US" sz="850" dirty="0"/>
          </a:p>
        </p:txBody>
      </p:sp>
      <p:sp>
        <p:nvSpPr>
          <p:cNvPr id="6" name="Text 3"/>
          <p:cNvSpPr txBox="1"/>
          <p:nvPr/>
        </p:nvSpPr>
        <p:spPr>
          <a:xfrm>
            <a:off x="676656" y="1913311"/>
            <a:ext cx="6254496" cy="1252728"/>
          </a:xfrm>
          <a:prstGeom prst="rect">
            <a:avLst/>
          </a:prstGeom>
          <a:noFill/>
          <a:ln/>
        </p:spPr>
        <p:txBody>
          <a:bodyPr wrap="square" lIns="0" tIns="0" rIns="0" bIns="0" rtlCol="0" anchor="t"/>
          <a:lstStyle/>
          <a:p>
            <a:pPr marL="0" indent="0" algn="l">
              <a:lnSpc>
                <a:spcPts val="3672"/>
              </a:lnSpc>
              <a:buNone/>
            </a:pPr>
            <a:r>
              <a:rPr lang="en-US" sz="3400" b="1" kern="0" spc="-54" dirty="0">
                <a:solidFill>
                  <a:srgbClr val="141A24"/>
                </a:solidFill>
                <a:latin typeface="Saira Cond" pitchFamily="34" charset="0"/>
                <a:ea typeface="Saira Cond" pitchFamily="34" charset="-122"/>
                <a:cs typeface="Saira Cond" pitchFamily="34" charset="-120"/>
              </a:rPr>
              <a:t>An IP scan shows you addresses. MyNeS shows you your house.</a:t>
            </a:r>
            <a:endParaRPr lang="en-US" sz="3400" dirty="0"/>
          </a:p>
        </p:txBody>
      </p:sp>
      <p:sp>
        <p:nvSpPr>
          <p:cNvPr id="7" name="Text 4"/>
          <p:cNvSpPr txBox="1"/>
          <p:nvPr/>
        </p:nvSpPr>
        <p:spPr>
          <a:xfrm>
            <a:off x="676656" y="3088488"/>
            <a:ext cx="6035040" cy="661543"/>
          </a:xfrm>
          <a:prstGeom prst="rect">
            <a:avLst/>
          </a:prstGeom>
          <a:noFill/>
          <a:ln/>
        </p:spPr>
        <p:txBody>
          <a:bodyPr wrap="square" lIns="0" tIns="0" rIns="0" bIns="0" rtlCol="0" anchor="t"/>
          <a:lstStyle/>
          <a:p>
            <a:pPr marL="0" indent="0" algn="l">
              <a:lnSpc>
                <a:spcPts val="1813"/>
              </a:lnSpc>
              <a:buNone/>
            </a:pPr>
            <a:r>
              <a:rPr lang="en-US" sz="1250" dirty="0">
                <a:solidFill>
                  <a:srgbClr val="606A79"/>
                </a:solidFill>
                <a:latin typeface="Saira" pitchFamily="34" charset="0"/>
                <a:ea typeface="Saira" pitchFamily="34" charset="-122"/>
                <a:cs typeface="Saira" pitchFamily="34" charset="-120"/>
              </a:rPr>
              <a:t>Self-hosted. No account. No cloud. And it finds the devices that were never on the map.</a:t>
            </a:r>
            <a:endParaRPr lang="en-US" sz="1250" dirty="0"/>
          </a:p>
        </p:txBody>
      </p:sp>
      <p:sp>
        <p:nvSpPr>
          <p:cNvPr id="8" name="Shape 5"/>
          <p:cNvSpPr/>
          <p:nvPr/>
        </p:nvSpPr>
        <p:spPr>
          <a:xfrm>
            <a:off x="676656" y="3859949"/>
            <a:ext cx="2728487" cy="310896"/>
          </a:xfrm>
          <a:prstGeom prst="roundRect">
            <a:avLst>
              <a:gd name="adj" fmla="val 50000"/>
            </a:avLst>
          </a:prstGeom>
          <a:solidFill>
            <a:srgbClr val="EDF2FF"/>
          </a:solidFill>
          <a:ln w="12700">
            <a:solidFill>
              <a:srgbClr val="D6E2FF"/>
            </a:solidFill>
            <a:prstDash val="solid"/>
          </a:ln>
        </p:spPr>
        <p:txBody>
          <a:bodyPr/>
          <a:lstStyle/>
          <a:p>
            <a:endParaRPr lang="en-TR"/>
          </a:p>
        </p:txBody>
      </p:sp>
      <p:sp>
        <p:nvSpPr>
          <p:cNvPr id="9" name="Text 6"/>
          <p:cNvSpPr txBox="1"/>
          <p:nvPr/>
        </p:nvSpPr>
        <p:spPr>
          <a:xfrm>
            <a:off x="676656" y="3937409"/>
            <a:ext cx="2728487" cy="310896"/>
          </a:xfrm>
          <a:prstGeom prst="rect">
            <a:avLst/>
          </a:prstGeom>
          <a:noFill/>
          <a:ln/>
        </p:spPr>
        <p:txBody>
          <a:bodyPr wrap="square" lIns="0" tIns="0" rIns="0" bIns="0" rtlCol="0" anchor="t"/>
          <a:lstStyle/>
          <a:p>
            <a:pPr marL="0" indent="0" algn="ctr">
              <a:buNone/>
            </a:pPr>
            <a:r>
              <a:rPr lang="en-US" sz="950" dirty="0">
                <a:solidFill>
                  <a:srgbClr val="3D6FF5"/>
                </a:solidFill>
                <a:latin typeface="Saira Medium" pitchFamily="34" charset="0"/>
                <a:ea typeface="Saira Medium" pitchFamily="34" charset="-122"/>
                <a:cs typeface="Saira Medium" pitchFamily="34" charset="-120"/>
              </a:rPr>
              <a:t>docker pull fxerkan/my_network_scanner</a:t>
            </a:r>
            <a:endParaRPr lang="en-US" sz="950" dirty="0"/>
          </a:p>
        </p:txBody>
      </p:sp>
      <p:sp>
        <p:nvSpPr>
          <p:cNvPr id="10" name="Shape 7"/>
          <p:cNvSpPr/>
          <p:nvPr/>
        </p:nvSpPr>
        <p:spPr>
          <a:xfrm>
            <a:off x="3496583" y="3859949"/>
            <a:ext cx="973392" cy="310896"/>
          </a:xfrm>
          <a:prstGeom prst="roundRect">
            <a:avLst>
              <a:gd name="adj" fmla="val 50000"/>
            </a:avLst>
          </a:prstGeom>
          <a:solidFill>
            <a:srgbClr val="EDF2FF"/>
          </a:solidFill>
          <a:ln w="12700">
            <a:solidFill>
              <a:srgbClr val="D6E2FF"/>
            </a:solidFill>
            <a:prstDash val="solid"/>
          </a:ln>
        </p:spPr>
        <p:txBody>
          <a:bodyPr/>
          <a:lstStyle/>
          <a:p>
            <a:endParaRPr lang="en-TR"/>
          </a:p>
        </p:txBody>
      </p:sp>
      <p:sp>
        <p:nvSpPr>
          <p:cNvPr id="11" name="Text 8"/>
          <p:cNvSpPr txBox="1"/>
          <p:nvPr/>
        </p:nvSpPr>
        <p:spPr>
          <a:xfrm>
            <a:off x="3496583" y="3937409"/>
            <a:ext cx="973392" cy="310896"/>
          </a:xfrm>
          <a:prstGeom prst="rect">
            <a:avLst/>
          </a:prstGeom>
          <a:noFill/>
          <a:ln/>
        </p:spPr>
        <p:txBody>
          <a:bodyPr wrap="square" lIns="0" tIns="0" rIns="0" bIns="0" rtlCol="0" anchor="t"/>
          <a:lstStyle/>
          <a:p>
            <a:pPr marL="0" indent="0" algn="ctr">
              <a:buNone/>
            </a:pPr>
            <a:r>
              <a:rPr lang="en-US" sz="950" dirty="0">
                <a:solidFill>
                  <a:srgbClr val="3D6FF5"/>
                </a:solidFill>
                <a:latin typeface="Saira Medium" pitchFamily="34" charset="0"/>
                <a:ea typeface="Saira Medium" pitchFamily="34" charset="-122"/>
                <a:cs typeface="Saira Medium" pitchFamily="34" charset="-120"/>
              </a:rPr>
              <a:t>AGPL-3.0</a:t>
            </a:r>
            <a:endParaRPr lang="en-US" sz="950" dirty="0"/>
          </a:p>
        </p:txBody>
      </p:sp>
      <p:sp>
        <p:nvSpPr>
          <p:cNvPr id="12" name="Shape 9"/>
          <p:cNvSpPr/>
          <p:nvPr/>
        </p:nvSpPr>
        <p:spPr>
          <a:xfrm>
            <a:off x="4561415" y="3859949"/>
            <a:ext cx="1306747" cy="310896"/>
          </a:xfrm>
          <a:prstGeom prst="roundRect">
            <a:avLst>
              <a:gd name="adj" fmla="val 50000"/>
            </a:avLst>
          </a:prstGeom>
          <a:solidFill>
            <a:srgbClr val="EDF2FF"/>
          </a:solidFill>
          <a:ln w="12700">
            <a:solidFill>
              <a:srgbClr val="D6E2FF"/>
            </a:solidFill>
            <a:prstDash val="solid"/>
          </a:ln>
        </p:spPr>
        <p:txBody>
          <a:bodyPr/>
          <a:lstStyle/>
          <a:p>
            <a:endParaRPr lang="en-TR"/>
          </a:p>
        </p:txBody>
      </p:sp>
      <p:sp>
        <p:nvSpPr>
          <p:cNvPr id="13" name="Text 10"/>
          <p:cNvSpPr txBox="1"/>
          <p:nvPr/>
        </p:nvSpPr>
        <p:spPr>
          <a:xfrm>
            <a:off x="4561415" y="3937409"/>
            <a:ext cx="1306747" cy="310896"/>
          </a:xfrm>
          <a:prstGeom prst="rect">
            <a:avLst/>
          </a:prstGeom>
          <a:noFill/>
          <a:ln/>
        </p:spPr>
        <p:txBody>
          <a:bodyPr wrap="square" lIns="0" tIns="0" rIns="0" bIns="0" rtlCol="0" anchor="t"/>
          <a:lstStyle/>
          <a:p>
            <a:pPr marL="0" indent="0" algn="ctr">
              <a:buNone/>
            </a:pPr>
            <a:r>
              <a:rPr lang="en-US" sz="950" dirty="0">
                <a:solidFill>
                  <a:srgbClr val="3D6FF5"/>
                </a:solidFill>
                <a:latin typeface="Saira Medium" pitchFamily="34" charset="0"/>
                <a:ea typeface="Saira Medium" pitchFamily="34" charset="-122"/>
                <a:cs typeface="Saira Medium" pitchFamily="34" charset="-120"/>
              </a:rPr>
              <a:t>amd64 · arm64</a:t>
            </a:r>
            <a:endParaRPr lang="en-US" sz="950" dirty="0"/>
          </a:p>
        </p:txBody>
      </p:sp>
      <p:sp>
        <p:nvSpPr>
          <p:cNvPr id="14" name="Shape 11"/>
          <p:cNvSpPr/>
          <p:nvPr/>
        </p:nvSpPr>
        <p:spPr>
          <a:xfrm>
            <a:off x="676656" y="4262285"/>
            <a:ext cx="1747603" cy="310896"/>
          </a:xfrm>
          <a:prstGeom prst="roundRect">
            <a:avLst>
              <a:gd name="adj" fmla="val 50000"/>
            </a:avLst>
          </a:prstGeom>
          <a:solidFill>
            <a:srgbClr val="EDF2FF"/>
          </a:solidFill>
          <a:ln w="12700">
            <a:solidFill>
              <a:srgbClr val="D6E2FF"/>
            </a:solidFill>
            <a:prstDash val="solid"/>
          </a:ln>
        </p:spPr>
        <p:txBody>
          <a:bodyPr/>
          <a:lstStyle/>
          <a:p>
            <a:endParaRPr lang="en-TR"/>
          </a:p>
        </p:txBody>
      </p:sp>
      <p:sp>
        <p:nvSpPr>
          <p:cNvPr id="15" name="Text 12"/>
          <p:cNvSpPr txBox="1"/>
          <p:nvPr/>
        </p:nvSpPr>
        <p:spPr>
          <a:xfrm>
            <a:off x="676656" y="4339745"/>
            <a:ext cx="1747603" cy="310896"/>
          </a:xfrm>
          <a:prstGeom prst="rect">
            <a:avLst/>
          </a:prstGeom>
          <a:noFill/>
          <a:ln/>
        </p:spPr>
        <p:txBody>
          <a:bodyPr wrap="square" lIns="0" tIns="0" rIns="0" bIns="0" rtlCol="0" anchor="t"/>
          <a:lstStyle/>
          <a:p>
            <a:pPr marL="0" indent="0" algn="ctr">
              <a:buNone/>
            </a:pPr>
            <a:r>
              <a:rPr lang="en-US" sz="950" dirty="0">
                <a:solidFill>
                  <a:srgbClr val="3D6FF5"/>
                </a:solidFill>
                <a:latin typeface="Saira Medium" pitchFamily="34" charset="0"/>
                <a:ea typeface="Saira Medium" pitchFamily="34" charset="-122"/>
                <a:cs typeface="Saira Medium" pitchFamily="34" charset="-120"/>
              </a:rPr>
              <a:t>Home Assistant add-on</a:t>
            </a:r>
            <a:endParaRPr lang="en-US" sz="950" dirty="0"/>
          </a:p>
        </p:txBody>
      </p:sp>
      <p:sp>
        <p:nvSpPr>
          <p:cNvPr id="16" name="Shape 13"/>
          <p:cNvSpPr/>
          <p:nvPr/>
        </p:nvSpPr>
        <p:spPr>
          <a:xfrm>
            <a:off x="2515699" y="4262285"/>
            <a:ext cx="1409903" cy="310896"/>
          </a:xfrm>
          <a:prstGeom prst="roundRect">
            <a:avLst>
              <a:gd name="adj" fmla="val 50000"/>
            </a:avLst>
          </a:prstGeom>
          <a:solidFill>
            <a:srgbClr val="EDF2FF"/>
          </a:solidFill>
          <a:ln w="12700">
            <a:solidFill>
              <a:srgbClr val="D6E2FF"/>
            </a:solidFill>
            <a:prstDash val="solid"/>
          </a:ln>
        </p:spPr>
        <p:txBody>
          <a:bodyPr/>
          <a:lstStyle/>
          <a:p>
            <a:endParaRPr lang="en-TR"/>
          </a:p>
        </p:txBody>
      </p:sp>
      <p:sp>
        <p:nvSpPr>
          <p:cNvPr id="17" name="Text 14"/>
          <p:cNvSpPr txBox="1"/>
          <p:nvPr/>
        </p:nvSpPr>
        <p:spPr>
          <a:xfrm>
            <a:off x="2515699" y="4339745"/>
            <a:ext cx="1409903" cy="310896"/>
          </a:xfrm>
          <a:prstGeom prst="rect">
            <a:avLst/>
          </a:prstGeom>
          <a:noFill/>
          <a:ln/>
        </p:spPr>
        <p:txBody>
          <a:bodyPr wrap="square" lIns="0" tIns="0" rIns="0" bIns="0" rtlCol="0" anchor="t"/>
          <a:lstStyle/>
          <a:p>
            <a:pPr marL="0" indent="0" algn="ctr">
              <a:buNone/>
            </a:pPr>
            <a:r>
              <a:rPr lang="en-US" sz="950" dirty="0">
                <a:solidFill>
                  <a:srgbClr val="3D6FF5"/>
                </a:solidFill>
                <a:latin typeface="Saira Medium" pitchFamily="34" charset="0"/>
                <a:ea typeface="Saira Medium" pitchFamily="34" charset="-122"/>
                <a:cs typeface="Saira Medium" pitchFamily="34" charset="-120"/>
              </a:rPr>
              <a:t>CasaOS / ZimaOS</a:t>
            </a:r>
            <a:endParaRPr lang="en-US" sz="950" dirty="0"/>
          </a:p>
        </p:txBody>
      </p:sp>
      <p:sp>
        <p:nvSpPr>
          <p:cNvPr id="18" name="Shape 15"/>
          <p:cNvSpPr/>
          <p:nvPr/>
        </p:nvSpPr>
        <p:spPr>
          <a:xfrm>
            <a:off x="4017042" y="4262285"/>
            <a:ext cx="1198404" cy="310896"/>
          </a:xfrm>
          <a:prstGeom prst="roundRect">
            <a:avLst>
              <a:gd name="adj" fmla="val 50000"/>
            </a:avLst>
          </a:prstGeom>
          <a:solidFill>
            <a:srgbClr val="EDF2FF"/>
          </a:solidFill>
          <a:ln w="12700">
            <a:solidFill>
              <a:srgbClr val="D6E2FF"/>
            </a:solidFill>
            <a:prstDash val="solid"/>
          </a:ln>
        </p:spPr>
        <p:txBody>
          <a:bodyPr/>
          <a:lstStyle/>
          <a:p>
            <a:endParaRPr lang="en-TR"/>
          </a:p>
        </p:txBody>
      </p:sp>
      <p:sp>
        <p:nvSpPr>
          <p:cNvPr id="19" name="Text 16"/>
          <p:cNvSpPr txBox="1"/>
          <p:nvPr/>
        </p:nvSpPr>
        <p:spPr>
          <a:xfrm>
            <a:off x="4017042" y="4339745"/>
            <a:ext cx="1198404" cy="310896"/>
          </a:xfrm>
          <a:prstGeom prst="rect">
            <a:avLst/>
          </a:prstGeom>
          <a:noFill/>
          <a:ln/>
        </p:spPr>
        <p:txBody>
          <a:bodyPr wrap="square" lIns="0" tIns="0" rIns="0" bIns="0" rtlCol="0" anchor="t"/>
          <a:lstStyle/>
          <a:p>
            <a:pPr marL="0" indent="0" algn="ctr">
              <a:buNone/>
            </a:pPr>
            <a:r>
              <a:rPr lang="en-US" sz="950" dirty="0">
                <a:solidFill>
                  <a:srgbClr val="3D6FF5"/>
                </a:solidFill>
                <a:latin typeface="Saira Medium" pitchFamily="34" charset="0"/>
                <a:ea typeface="Saira Medium" pitchFamily="34" charset="-122"/>
                <a:cs typeface="Saira Medium" pitchFamily="34" charset="-120"/>
              </a:rPr>
              <a:t>iOS + Android</a:t>
            </a:r>
            <a:endParaRPr lang="en-US" sz="950" dirty="0"/>
          </a:p>
        </p:txBody>
      </p:sp>
      <p:sp>
        <p:nvSpPr>
          <p:cNvPr id="20" name="Shape 17"/>
          <p:cNvSpPr/>
          <p:nvPr/>
        </p:nvSpPr>
        <p:spPr>
          <a:xfrm>
            <a:off x="704088" y="4967557"/>
            <a:ext cx="91440" cy="91440"/>
          </a:xfrm>
          <a:prstGeom prst="ellipse">
            <a:avLst/>
          </a:prstGeom>
          <a:solidFill>
            <a:srgbClr val="3D6FF5"/>
          </a:solidFill>
          <a:ln/>
        </p:spPr>
        <p:txBody>
          <a:bodyPr/>
          <a:lstStyle/>
          <a:p>
            <a:endParaRPr lang="en-TR"/>
          </a:p>
        </p:txBody>
      </p:sp>
      <p:sp>
        <p:nvSpPr>
          <p:cNvPr id="21" name="Text 18"/>
          <p:cNvSpPr txBox="1"/>
          <p:nvPr/>
        </p:nvSpPr>
        <p:spPr>
          <a:xfrm>
            <a:off x="932688" y="4913902"/>
            <a:ext cx="5852160" cy="219456"/>
          </a:xfrm>
          <a:prstGeom prst="rect">
            <a:avLst/>
          </a:prstGeom>
          <a:noFill/>
          <a:ln/>
        </p:spPr>
        <p:txBody>
          <a:bodyPr wrap="none" lIns="0" tIns="0" rIns="0" bIns="0" rtlCol="0" anchor="t"/>
          <a:lstStyle/>
          <a:p>
            <a:pPr marL="0" indent="0" algn="l">
              <a:buNone/>
            </a:pPr>
            <a:r>
              <a:rPr lang="en-US" sz="652" dirty="0">
                <a:solidFill>
                  <a:srgbClr val="141A24"/>
                </a:solidFill>
                <a:latin typeface="Saira Medium" pitchFamily="34" charset="0"/>
                <a:ea typeface="Saira Medium" pitchFamily="34" charset="-122"/>
                <a:cs typeface="Saira Medium" pitchFamily="34" charset="-120"/>
              </a:rPr>
              <a:t>github.com/fxerkan/my_network_scanner</a:t>
            </a:r>
            <a:endParaRPr lang="en-US" sz="652" dirty="0"/>
          </a:p>
        </p:txBody>
      </p:sp>
      <p:sp>
        <p:nvSpPr>
          <p:cNvPr id="22" name="Shape 19"/>
          <p:cNvSpPr/>
          <p:nvPr/>
        </p:nvSpPr>
        <p:spPr>
          <a:xfrm>
            <a:off x="704088" y="5153858"/>
            <a:ext cx="91440" cy="91440"/>
          </a:xfrm>
          <a:prstGeom prst="ellipse">
            <a:avLst/>
          </a:prstGeom>
          <a:solidFill>
            <a:srgbClr val="3D6FF5"/>
          </a:solidFill>
          <a:ln/>
        </p:spPr>
        <p:txBody>
          <a:bodyPr/>
          <a:lstStyle/>
          <a:p>
            <a:endParaRPr lang="en-TR"/>
          </a:p>
        </p:txBody>
      </p:sp>
      <p:sp>
        <p:nvSpPr>
          <p:cNvPr id="23" name="Text 20"/>
          <p:cNvSpPr txBox="1"/>
          <p:nvPr/>
        </p:nvSpPr>
        <p:spPr>
          <a:xfrm>
            <a:off x="932688" y="5100204"/>
            <a:ext cx="5852160" cy="219456"/>
          </a:xfrm>
          <a:prstGeom prst="rect">
            <a:avLst/>
          </a:prstGeom>
          <a:noFill/>
          <a:ln/>
        </p:spPr>
        <p:txBody>
          <a:bodyPr wrap="none" lIns="0" tIns="0" rIns="0" bIns="0" rtlCol="0" anchor="t"/>
          <a:lstStyle/>
          <a:p>
            <a:pPr marL="0" indent="0" algn="l">
              <a:buNone/>
            </a:pPr>
            <a:r>
              <a:rPr lang="en-US" sz="652" dirty="0">
                <a:solidFill>
                  <a:srgbClr val="141A24"/>
                </a:solidFill>
                <a:latin typeface="Saira Medium" pitchFamily="34" charset="0"/>
                <a:ea typeface="Saira Medium" pitchFamily="34" charset="-122"/>
                <a:cs typeface="Saira Medium" pitchFamily="34" charset="-120"/>
              </a:rPr>
              <a:t>Docker Hub</a:t>
            </a:r>
            <a:endParaRPr lang="en-US" sz="652" dirty="0"/>
          </a:p>
        </p:txBody>
      </p:sp>
      <p:sp>
        <p:nvSpPr>
          <p:cNvPr id="24" name="Shape 21"/>
          <p:cNvSpPr/>
          <p:nvPr/>
        </p:nvSpPr>
        <p:spPr>
          <a:xfrm>
            <a:off x="704088" y="5340160"/>
            <a:ext cx="91440" cy="91440"/>
          </a:xfrm>
          <a:prstGeom prst="ellipse">
            <a:avLst/>
          </a:prstGeom>
          <a:solidFill>
            <a:srgbClr val="3D6FF5"/>
          </a:solidFill>
          <a:ln/>
        </p:spPr>
        <p:txBody>
          <a:bodyPr/>
          <a:lstStyle/>
          <a:p>
            <a:endParaRPr lang="en-TR"/>
          </a:p>
        </p:txBody>
      </p:sp>
      <p:sp>
        <p:nvSpPr>
          <p:cNvPr id="25" name="Text 22"/>
          <p:cNvSpPr txBox="1"/>
          <p:nvPr/>
        </p:nvSpPr>
        <p:spPr>
          <a:xfrm>
            <a:off x="932688" y="5286505"/>
            <a:ext cx="5852160" cy="219456"/>
          </a:xfrm>
          <a:prstGeom prst="rect">
            <a:avLst/>
          </a:prstGeom>
          <a:noFill/>
          <a:ln/>
        </p:spPr>
        <p:txBody>
          <a:bodyPr wrap="none" lIns="0" tIns="0" rIns="0" bIns="0" rtlCol="0" anchor="t"/>
          <a:lstStyle/>
          <a:p>
            <a:pPr marL="0" indent="0" algn="l">
              <a:buNone/>
            </a:pPr>
            <a:r>
              <a:rPr lang="en-US" sz="652" dirty="0">
                <a:solidFill>
                  <a:srgbClr val="141A24"/>
                </a:solidFill>
                <a:latin typeface="Saira Medium" pitchFamily="34" charset="0"/>
                <a:ea typeface="Saira Medium" pitchFamily="34" charset="-122"/>
                <a:cs typeface="Saira Medium" pitchFamily="34" charset="-120"/>
              </a:rPr>
              <a:t>mynes-mobile</a:t>
            </a:r>
            <a:endParaRPr lang="en-US" sz="652" dirty="0"/>
          </a:p>
        </p:txBody>
      </p:sp>
      <p:sp>
        <p:nvSpPr>
          <p:cNvPr id="26" name="Shape 23"/>
          <p:cNvSpPr/>
          <p:nvPr/>
        </p:nvSpPr>
        <p:spPr>
          <a:xfrm>
            <a:off x="704088" y="5526461"/>
            <a:ext cx="91440" cy="91440"/>
          </a:xfrm>
          <a:prstGeom prst="ellipse">
            <a:avLst/>
          </a:prstGeom>
          <a:solidFill>
            <a:srgbClr val="3D6FF5"/>
          </a:solidFill>
          <a:ln/>
        </p:spPr>
        <p:txBody>
          <a:bodyPr/>
          <a:lstStyle/>
          <a:p>
            <a:endParaRPr lang="en-TR"/>
          </a:p>
        </p:txBody>
      </p:sp>
      <p:sp>
        <p:nvSpPr>
          <p:cNvPr id="27" name="Text 24"/>
          <p:cNvSpPr txBox="1"/>
          <p:nvPr/>
        </p:nvSpPr>
        <p:spPr>
          <a:xfrm>
            <a:off x="932688" y="5472806"/>
            <a:ext cx="5852160" cy="219456"/>
          </a:xfrm>
          <a:prstGeom prst="rect">
            <a:avLst/>
          </a:prstGeom>
          <a:noFill/>
          <a:ln/>
        </p:spPr>
        <p:txBody>
          <a:bodyPr wrap="none" lIns="0" tIns="0" rIns="0" bIns="0" rtlCol="0" anchor="t"/>
          <a:lstStyle/>
          <a:p>
            <a:pPr marL="0" indent="0" algn="l">
              <a:buNone/>
            </a:pPr>
            <a:r>
              <a:rPr lang="en-US" sz="652" dirty="0">
                <a:solidFill>
                  <a:srgbClr val="141A24"/>
                </a:solidFill>
                <a:latin typeface="Saira Medium" pitchFamily="34" charset="0"/>
                <a:ea typeface="Saira Medium" pitchFamily="34" charset="-122"/>
                <a:cs typeface="Saira Medium" pitchFamily="34" charset="-120"/>
              </a:rPr>
              <a:t>mynes-ai</a:t>
            </a:r>
            <a:endParaRPr lang="en-US" sz="652" dirty="0"/>
          </a:p>
        </p:txBody>
      </p:sp>
      <p:sp>
        <p:nvSpPr>
          <p:cNvPr id="28" name="Shape 25"/>
          <p:cNvSpPr/>
          <p:nvPr/>
        </p:nvSpPr>
        <p:spPr>
          <a:xfrm>
            <a:off x="704088" y="5712763"/>
            <a:ext cx="91440" cy="91440"/>
          </a:xfrm>
          <a:prstGeom prst="ellipse">
            <a:avLst/>
          </a:prstGeom>
          <a:solidFill>
            <a:srgbClr val="3D6FF5"/>
          </a:solidFill>
          <a:ln/>
        </p:spPr>
        <p:txBody>
          <a:bodyPr/>
          <a:lstStyle/>
          <a:p>
            <a:endParaRPr lang="en-TR"/>
          </a:p>
        </p:txBody>
      </p:sp>
      <p:sp>
        <p:nvSpPr>
          <p:cNvPr id="29" name="Text 26"/>
          <p:cNvSpPr txBox="1"/>
          <p:nvPr/>
        </p:nvSpPr>
        <p:spPr>
          <a:xfrm>
            <a:off x="932688" y="5659108"/>
            <a:ext cx="5852160" cy="219456"/>
          </a:xfrm>
          <a:prstGeom prst="rect">
            <a:avLst/>
          </a:prstGeom>
          <a:noFill/>
          <a:ln/>
        </p:spPr>
        <p:txBody>
          <a:bodyPr wrap="none" lIns="0" tIns="0" rIns="0" bIns="0" rtlCol="0" anchor="t"/>
          <a:lstStyle/>
          <a:p>
            <a:pPr marL="0" indent="0" algn="l">
              <a:buNone/>
            </a:pPr>
            <a:r>
              <a:rPr lang="en-US" sz="652" dirty="0">
                <a:solidFill>
                  <a:srgbClr val="141A24"/>
                </a:solidFill>
                <a:latin typeface="Saira Medium" pitchFamily="34" charset="0"/>
                <a:ea typeface="Saira Medium" pitchFamily="34" charset="-122"/>
                <a:cs typeface="Saira Medium" pitchFamily="34" charset="-120"/>
              </a:rPr>
              <a:t>HA add-on</a:t>
            </a:r>
            <a:endParaRPr lang="en-US" sz="652" dirty="0"/>
          </a:p>
        </p:txBody>
      </p:sp>
      <p:sp>
        <p:nvSpPr>
          <p:cNvPr id="30" name="Shape 27"/>
          <p:cNvSpPr/>
          <p:nvPr/>
        </p:nvSpPr>
        <p:spPr>
          <a:xfrm>
            <a:off x="7082028" y="1065934"/>
            <a:ext cx="4498848" cy="4204923"/>
          </a:xfrm>
          <a:prstGeom prst="rect">
            <a:avLst/>
          </a:prstGeom>
          <a:solidFill>
            <a:srgbClr val="8894A8">
              <a:alpha val="30000"/>
            </a:srgbClr>
          </a:solidFill>
          <a:ln/>
        </p:spPr>
        <p:txBody>
          <a:bodyPr/>
          <a:lstStyle/>
          <a:p>
            <a:endParaRPr lang="en-TR"/>
          </a:p>
        </p:txBody>
      </p:sp>
      <p:pic>
        <p:nvPicPr>
          <p:cNvPr id="31" name="Image 1" descr="../products/mynes/img/hero.jpg"/>
          <p:cNvPicPr>
            <a:picLocks noChangeAspect="1"/>
          </p:cNvPicPr>
          <p:nvPr/>
        </p:nvPicPr>
        <p:blipFill>
          <a:blip r:embed="rId4"/>
          <a:stretch>
            <a:fillRect/>
          </a:stretch>
        </p:blipFill>
        <p:spPr>
          <a:xfrm>
            <a:off x="7040880" y="1015642"/>
            <a:ext cx="4498848" cy="4204923"/>
          </a:xfrm>
          <a:prstGeom prst="rect">
            <a:avLst/>
          </a:prstGeom>
        </p:spPr>
      </p:pic>
      <p:sp>
        <p:nvSpPr>
          <p:cNvPr id="32" name="Shape 28"/>
          <p:cNvSpPr/>
          <p:nvPr/>
        </p:nvSpPr>
        <p:spPr>
          <a:xfrm>
            <a:off x="7040880" y="1015642"/>
            <a:ext cx="4498848" cy="4204923"/>
          </a:xfrm>
          <a:prstGeom prst="rect">
            <a:avLst/>
          </a:prstGeom>
          <a:ln w="12700">
            <a:solidFill>
              <a:srgbClr val="E2E7EF"/>
            </a:solidFill>
            <a:prstDash val="solid"/>
          </a:ln>
        </p:spPr>
        <p:txBody>
          <a:bodyPr/>
          <a:lstStyle/>
          <a:p>
            <a:endParaRPr lang="en-TR"/>
          </a:p>
        </p:txBody>
      </p:sp>
      <p:sp>
        <p:nvSpPr>
          <p:cNvPr id="33" name="Shape 29"/>
          <p:cNvSpPr/>
          <p:nvPr/>
        </p:nvSpPr>
        <p:spPr>
          <a:xfrm>
            <a:off x="676656" y="6126480"/>
            <a:ext cx="10838383" cy="0"/>
          </a:xfrm>
          <a:prstGeom prst="line">
            <a:avLst/>
          </a:prstGeom>
          <a:noFill/>
          <a:ln w="11430">
            <a:solidFill>
              <a:srgbClr val="E2E7EF"/>
            </a:solidFill>
            <a:prstDash val="solid"/>
          </a:ln>
        </p:spPr>
        <p:txBody>
          <a:bodyPr/>
          <a:lstStyle/>
          <a:p>
            <a:endParaRPr lang="en-TR"/>
          </a:p>
        </p:txBody>
      </p:sp>
      <p:sp>
        <p:nvSpPr>
          <p:cNvPr id="34" name="Text 30"/>
          <p:cNvSpPr txBox="1"/>
          <p:nvPr/>
        </p:nvSpPr>
        <p:spPr>
          <a:xfrm>
            <a:off x="676656" y="6306434"/>
            <a:ext cx="6503030" cy="219456"/>
          </a:xfrm>
          <a:prstGeom prst="rect">
            <a:avLst/>
          </a:prstGeom>
          <a:noFill/>
          <a:ln/>
        </p:spPr>
        <p:txBody>
          <a:bodyPr wrap="square" lIns="0" tIns="0" rIns="0" bIns="0" rtlCol="0" anchor="t"/>
          <a:lstStyle/>
          <a:p>
            <a:pPr marL="0" indent="0" algn="l">
              <a:buNone/>
            </a:pPr>
            <a:r>
              <a:rPr lang="en-US" sz="900" dirty="0">
                <a:solidFill>
                  <a:srgbClr val="8C95A3"/>
                </a:solidFill>
                <a:latin typeface="Sometype Mono" pitchFamily="34" charset="0"/>
                <a:ea typeface="Sometype Mono" pitchFamily="34" charset="-122"/>
                <a:cs typeface="Sometype Mono" pitchFamily="34" charset="-120"/>
              </a:rPr>
              <a:t>MyNeS v1.8.1 · Mobile v1.0 · AGPL-3.0 · Developed by </a:t>
            </a:r>
            <a:r>
              <a:rPr lang="en-US" sz="900" dirty="0">
                <a:solidFill>
                  <a:srgbClr val="8C95A3"/>
                </a:solidFill>
                <a:latin typeface="Sometype Mono" pitchFamily="34" charset="0"/>
                <a:ea typeface="Sometype Mono" pitchFamily="34" charset="-122"/>
                <a:cs typeface="Sometype Mono" pitchFamily="34" charset="-120"/>
                <a:hlinkClick r:id="rId5"/>
              </a:rPr>
              <a:t>FXerkan</a:t>
            </a:r>
            <a:r>
              <a:rPr lang="en-US" sz="900" dirty="0">
                <a:solidFill>
                  <a:srgbClr val="8C95A3"/>
                </a:solidFill>
                <a:latin typeface="Sometype Mono" pitchFamily="34" charset="0"/>
                <a:ea typeface="Sometype Mono" pitchFamily="34" charset="-122"/>
                <a:cs typeface="Sometype Mono" pitchFamily="34" charset="-120"/>
              </a:rPr>
              <a:t> — </a:t>
            </a:r>
            <a:r>
              <a:rPr lang="en-US" sz="900" b="1" dirty="0">
                <a:solidFill>
                  <a:srgbClr val="8C95A3"/>
                </a:solidFill>
                <a:latin typeface="Sometype Mono" pitchFamily="34" charset="0"/>
                <a:ea typeface="Sometype Mono" pitchFamily="34" charset="-122"/>
                <a:cs typeface="Sometype Mono" pitchFamily="34" charset="-120"/>
              </a:rPr>
              <a:t>Code more, worry less.</a:t>
            </a:r>
            <a:endParaRPr lang="en-US" sz="9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4364</Words>
  <Application>Microsoft Macintosh PowerPoint</Application>
  <PresentationFormat>Widescreen</PresentationFormat>
  <Paragraphs>530</Paragraphs>
  <Slides>24</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Saira</vt:lpstr>
      <vt:lpstr>Saira Cond</vt:lpstr>
      <vt:lpstr>Saira Cond SemiBold</vt:lpstr>
      <vt:lpstr>Saira Medium</vt:lpstr>
      <vt:lpstr>Sometype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fxerkan.com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MyNeS — My Network Scanner — Pitch Deck (EN)</dc:title>
  <dc:subject>PptxGenJS Presentation</dc:subject>
  <dc:creator>FXerkan</dc:creator>
  <cp:lastModifiedBy>Erkan Çiftçi</cp:lastModifiedBy>
  <cp:revision>2</cp:revision>
  <dcterms:created xsi:type="dcterms:W3CDTF">2026-09-13T18:24:46Z</dcterms:created>
  <dcterms:modified xsi:type="dcterms:W3CDTF">2026-09-27T14:07:36Z</dcterms:modified>
</cp:coreProperties>
</file>