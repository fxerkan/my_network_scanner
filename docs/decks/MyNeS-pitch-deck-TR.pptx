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373558" y="146304"/>
            <a:ext cx="748913" cy="310896"/>
          </a:xfrm>
          <a:prstGeom prst="roundRect">
            <a:avLst>
              <a:gd name="adj" fmla="val 20588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1135"/>
            <a:ext cx="748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Devices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369359" y="211135"/>
            <a:ext cx="8813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360416" y="211135"/>
            <a:ext cx="6420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Alerts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112243" y="211135"/>
            <a:ext cx="788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010089" y="211135"/>
            <a:ext cx="729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History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849527" y="211135"/>
            <a:ext cx="791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Settings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pic>
        <p:nvPicPr>
          <p:cNvPr id="16" name="Image 1" descr="/home/claude/decks/kit2/worlds/../logos/myne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887984"/>
            <a:ext cx="804672" cy="8046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27632" y="980237"/>
            <a:ext cx="10058400" cy="85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000" b="1" spc="-72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4000" b="1" spc="-72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1655064" y="1721579"/>
            <a:ext cx="6400800" cy="446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40" spc="113" kern="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676656" y="2222216"/>
            <a:ext cx="4334256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spc="-35" kern="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Adını koyamadığınız şeyi koruyamazsınız.</a:t>
            </a:r>
            <a:endParaRPr lang="en-US" sz="29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" y="3295416"/>
            <a:ext cx="4224528" cy="126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Çoğu ev ağında, sahibinin sayabileceğinden çok daha fazla cihaz vardır. MyNeS hepsini bulur; üreticisinden, portlarından ve protokollerinden ne olduğunu çıkarır, ona anlamlı bir ad vermenizi sağlar ve ağa yeni bir şey katıldığında size haber verir.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76656" y="4652914"/>
            <a:ext cx="862292" cy="29260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76656" y="4721230"/>
            <a:ext cx="862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648676" y="4652914"/>
            <a:ext cx="1862118" cy="29260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648676" y="4721230"/>
            <a:ext cx="1862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Home Assistant eklentisi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20522" y="4652914"/>
            <a:ext cx="902468" cy="29260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620522" y="4721230"/>
            <a:ext cx="902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CasaOS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676656" y="5212253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MyNeS Mobile — aynı motor, cebinizde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76656" y="5494162"/>
            <a:ext cx="1938528" cy="438912"/>
          </a:xfrm>
          <a:prstGeom prst="roundRect">
            <a:avLst>
              <a:gd name="adj" fmla="val 18750"/>
            </a:avLst>
          </a:prstGeom>
          <a:solidFill>
            <a:srgbClr val="141A2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77824" y="5534213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77824" y="5740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6B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iOS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2761488" y="5494162"/>
            <a:ext cx="1938528" cy="438912"/>
          </a:xfrm>
          <a:prstGeom prst="roundRect">
            <a:avLst>
              <a:gd name="adj" fmla="val 18750"/>
            </a:avLst>
          </a:prstGeom>
          <a:solidFill>
            <a:srgbClr val="141A2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2962656" y="5534213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Google Play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2962656" y="5740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6B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Android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676656" y="6115954"/>
            <a:ext cx="4224528" cy="0"/>
          </a:xfrm>
          <a:prstGeom prst="line">
            <a:avLst/>
          </a:prstGeom>
          <a:noFill/>
          <a:ln w="11430">
            <a:solidFill>
              <a:srgbClr val="E2E7E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76656" y="6298103"/>
            <a:ext cx="25347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github.com/fxerkan/my_network_scanner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718270" y="996696"/>
            <a:ext cx="5400308" cy="5047488"/>
          </a:xfrm>
          <a:prstGeom prst="rect">
            <a:avLst/>
          </a:prstGeom>
          <a:solidFill>
            <a:srgbClr val="8894A8">
              <a:alpha val="28000"/>
            </a:srgbClr>
          </a:solidFill>
          <a:ln/>
        </p:spPr>
      </p:sp>
      <p:pic>
        <p:nvPicPr>
          <p:cNvPr id="37" name="Image 2" descr="../products/mynes/img/her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50" y="932688"/>
            <a:ext cx="5400308" cy="504748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5672550" y="932688"/>
            <a:ext cx="5400308" cy="5047488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230368" y="6162324"/>
            <a:ext cx="6284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Cihazlar — her kart ağınızdaki gerçek bir cihaz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373558" y="146304"/>
            <a:ext cx="748913" cy="310896"/>
          </a:xfrm>
          <a:prstGeom prst="roundRect">
            <a:avLst>
              <a:gd name="adj" fmla="val 20588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1135"/>
            <a:ext cx="748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Devices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369359" y="211135"/>
            <a:ext cx="8813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360416" y="211135"/>
            <a:ext cx="6420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Alerts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112243" y="211135"/>
            <a:ext cx="788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010089" y="211135"/>
            <a:ext cx="729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History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849527" y="211135"/>
            <a:ext cx="791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Settings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76656" y="1018642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spc="-60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Üstelik bir liste değil, ağın şeklini çizer.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" y="1715658"/>
            <a:ext cx="5029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Grafik görünümü uplink'leri izler; kabloda görünmeyen bir köprü anahtar ya da erişim noktası bile doğru yerde belirir. Bir cihaza tıklayın, tüm yol aydınlansın.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944" y="2793187"/>
            <a:ext cx="146304" cy="146304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9" name="Shape 16"/>
          <p:cNvSpPr/>
          <p:nvPr/>
        </p:nvSpPr>
        <p:spPr>
          <a:xfrm>
            <a:off x="768096" y="2939491"/>
            <a:ext cx="0" cy="274320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7552" y="271244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ARP + TCP taraması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602736" y="272543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kim cevap veriyor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94944" y="3195523"/>
            <a:ext cx="146304" cy="146304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3" name="Shape 20"/>
          <p:cNvSpPr/>
          <p:nvPr/>
        </p:nvSpPr>
        <p:spPr>
          <a:xfrm>
            <a:off x="768096" y="3341827"/>
            <a:ext cx="0" cy="274320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7552" y="311478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IEEE OUI tablosu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602736" y="312776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hangi üretici, çevrimdışı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4944" y="3597859"/>
            <a:ext cx="146304" cy="146304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7" name="Shape 24"/>
          <p:cNvSpPr/>
          <p:nvPr/>
        </p:nvSpPr>
        <p:spPr>
          <a:xfrm>
            <a:off x="768096" y="3744163"/>
            <a:ext cx="0" cy="274320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87552" y="351711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mDNS · SSDP · NetBIOS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3602736" y="353010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kendini nasıl tanıtıyor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94944" y="4000195"/>
            <a:ext cx="146304" cy="146304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31" name="Shape 28"/>
          <p:cNvSpPr/>
          <p:nvPr/>
        </p:nvSpPr>
        <p:spPr>
          <a:xfrm>
            <a:off x="768096" y="4146499"/>
            <a:ext cx="0" cy="274320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87552" y="391945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Portlar + banner'lar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3602736" y="393243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gerçekte ne olduğu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94944" y="4402531"/>
            <a:ext cx="146304" cy="146304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87552" y="432179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MQTT ile Home Assistant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3602736" y="433477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nereye bağlandığı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76656" y="6053328"/>
            <a:ext cx="5029200" cy="0"/>
          </a:xfrm>
          <a:prstGeom prst="line">
            <a:avLst/>
          </a:prstGeom>
          <a:noFill/>
          <a:ln w="11430">
            <a:solidFill>
              <a:srgbClr val="E2E7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6656" y="62354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docs/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057900" y="1453536"/>
            <a:ext cx="5504688" cy="4069799"/>
          </a:xfrm>
          <a:prstGeom prst="rect">
            <a:avLst/>
          </a:prstGeom>
          <a:solidFill>
            <a:srgbClr val="8894A8">
              <a:alpha val="28000"/>
            </a:srgbClr>
          </a:solidFill>
          <a:ln/>
        </p:spPr>
      </p:sp>
      <p:pic>
        <p:nvPicPr>
          <p:cNvPr id="40" name="Image 1" descr="../products/mynes/img/topolog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03244"/>
            <a:ext cx="5504688" cy="4069799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6016752" y="1403244"/>
            <a:ext cx="5504688" cy="4069799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016752" y="6034308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Grafik görünümü — uplink'ler tahmin değil, takip edilir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82962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829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14476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2026 akıllı evinin yarısının IP adresi yok.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03504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Bu kategorideki her tarayıcı IP aralığını dolaşır. 2015'te ağın tamamı buydu. Bugün en çok önem taşıyan cihazlar — izleyen, dinleyen ve kapı açanlar — çoğu zaman o aralıkta hiç yok.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6656" y="2495677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6656" y="2536459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2104" y="2824861"/>
            <a:ext cx="0" cy="281432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52144" y="2471720"/>
            <a:ext cx="5486400" cy="61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Zigbee ampul, priz ve sensörler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802.15.4 üzerinden bir hub ile konuşur, router'ınla asla.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" y="3124581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7A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656" y="3165363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2104" y="3453765"/>
            <a:ext cx="0" cy="256032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52144" y="310062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Z-Wave kilit ve termostatlar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kendi 868/908 MHz mesh ağındadır.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" y="3728085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D98A1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6656" y="3768867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32104" y="4057269"/>
            <a:ext cx="0" cy="256032"/>
          </a:xfrm>
          <a:prstGeom prst="line">
            <a:avLst/>
          </a:prstGeom>
          <a:noFill/>
          <a:ln w="17780">
            <a:solidFill>
              <a:srgbClr val="E2E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52144" y="3704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Bluetooth LE etiket, tartı ve giyilebilirler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sürekli yayın yapar — ama IP'leri yoktur.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6656" y="4331589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DC3F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6656" y="4372371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" y="430763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Matter cihazları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kendini mDNS üzerinden duyurur; çoğu tarayıcı bunu hiç ayrıştırmaz.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992490"/>
            <a:ext cx="4291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MyNeS neleri dinliyor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23760" y="1426464"/>
            <a:ext cx="983666" cy="1060704"/>
          </a:xfrm>
          <a:prstGeom prst="roundRect">
            <a:avLst>
              <a:gd name="adj" fmla="val 8366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24928" y="1561429"/>
            <a:ext cx="6179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415784" y="2149612"/>
            <a:ext cx="636194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700" spc="42" kern="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KEŞIF PROTOKOLÜ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8326298" y="1426464"/>
            <a:ext cx="983666" cy="1060704"/>
          </a:xfrm>
          <a:prstGeom prst="roundRect">
            <a:avLst>
              <a:gd name="adj" fmla="val 8366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27466" y="1561429"/>
            <a:ext cx="6179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A05C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518322" y="2149612"/>
            <a:ext cx="636194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700" spc="42" kern="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HARITAYI OKUMA YOLU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428836" y="1426464"/>
            <a:ext cx="983666" cy="1060704"/>
          </a:xfrm>
          <a:prstGeom prst="roundRect">
            <a:avLst>
              <a:gd name="adj" fmla="val 8366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30004" y="1561429"/>
            <a:ext cx="6179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8A1F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37b+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620860" y="2166539"/>
            <a:ext cx="636194" cy="31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50" spc="39" kern="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IEEE ÜRETICI KAYDI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10531373" y="1426464"/>
            <a:ext cx="983666" cy="1060704"/>
          </a:xfrm>
          <a:prstGeom prst="roundRect">
            <a:avLst>
              <a:gd name="adj" fmla="val 8366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732541" y="1561429"/>
            <a:ext cx="6179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3F4A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0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10723397" y="2149612"/>
            <a:ext cx="636194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700" spc="42" kern="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AĞDAN ÇIKAN PAKET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255764" y="2939613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61504" y="2828971"/>
            <a:ext cx="4053535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Bir IP taraması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“hangi adresler ayakta”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sorusunu yanıtlar. Bu,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“evimde ne var”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sorusuyla aynı şey değildir.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255764" y="3519241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461504" y="3408599"/>
            <a:ext cx="4053535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MyNeS ikisini birden yapar: IP tarafı için ARP + nmap, geri kalan her şey için beş protokol daha.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255764" y="4098869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461504" y="3988227"/>
            <a:ext cx="4053535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Zigbee ve Z-Wave görünürlüğü,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zaten çalışan bir Zigbee2MQTT / Z-Wave JS broker'ından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MQTT ile okunur — MyNeS bir radyoyla kendisi konuşmaz.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14401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144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Ürün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Ailenizin kullanıcı dostu ağ tarayıcısı.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Yerel ağdaki her cihazı keşfeden, tanıyan, isimlendiren ve izleyen — ve tüm envanteri Home Assistant'a teslim eden tek bir web uygulaması.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33401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22337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Keşfet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otomatik aralık tespiti, ham ARP layer-2 taraması, nmap ile 1000+ port servis tespiti.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715268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60462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Tanı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IEEE OUI (37.000+ üretici), hostname kalıpları, servis imzaları ve isteğe bağlı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Identify with AI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adımı.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294896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184253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İsimlendir ve sahiplen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her cihazı düzenle; alias, not, tip ve güven seviyesi ekle; tüm envanteri JSON olarak yedekle.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874524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76388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İzle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zamanlanmış yeniden taramalar, önceki tarama ile fark ve gerçekten önemli olana uyarı.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4255778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14513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Entegre et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Home Assistant MQTT Discovery, InfluxDB, Prometheus ve tam belgelenmiş REST API.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8660" y="4835406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724763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Sahibi ol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AGPL-3.0, tek konteyner, zaten elindeki Raspberry Pi'de çalışır.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39228" y="1720905"/>
            <a:ext cx="4016959" cy="3754518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6" name="Image 1" descr="/home/claude/decks/products/mynes/img/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70613"/>
            <a:ext cx="4016959" cy="375451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98080" y="1670613"/>
            <a:ext cx="4016959" cy="3754518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28402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2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Keşif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Bir değil, altı protokol.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MyNeS kendini duyuran her şeyi dinler ve hepsini tek bir cihaz kaydında birleştirir.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122241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01159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ARP (katman 2)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ham paketler, ping'e yanıt vermeyen cihazları da bulur. Yetki yoksa ping sweep + işletim sistemi ARP önbelleğine düşer ve bunu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söyler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701869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59122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mDNS / Bonjour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yazıcılar, NAS'lar, Chromecast'ler, HomeKit köprüleri.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083123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97248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Matter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mDNS üzerinden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_matter._tcp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duyuruları.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464377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35373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SSDP / UPnP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router'lar, akıllı TV'ler, kameralar, konsollar.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3845631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3734989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Bluetooth LE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hiç IP adresi olmayan cihazlar.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8660" y="4226885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116243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MQTT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Zigbee2MQTT, Z-Wave JS ve Tasmota retained konuları (mevcut broker'ını ister).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08660" y="4608139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449749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çalışan konteynerler, sanal ağları ve IP atamaları; onları çalıştıran host'un altında gruplanmış olarak.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539228" y="1848109"/>
            <a:ext cx="4016959" cy="3500110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8" name="Image 1" descr="/home/claude/decks/products/mynes/img/discove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797817"/>
            <a:ext cx="4016959" cy="350011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498080" y="1797817"/>
            <a:ext cx="4016959" cy="3500110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mynes/discovery/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104338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1043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Görünümler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Cihaz listesi bir ağ değildir.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Aynı envanter, beş farklı okuma biçimi — araç çubuğundaki tek bir anahtarla değişir.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122241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011599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Kart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Tablo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ayrıntı, toplu düzenleme, sıralanabilir ve yeri değiştirilebilir kolonlar.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503495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392853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Grafik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ağın bütünü tek bakışta, merkezde alt ağ geçitleri. Bir host'un Docker bridge ağları, komşu LAN'lar gibi değil, o host'un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altında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gruplanır.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083123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97248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Topoloji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neyin neye bağlı olduğu: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İnternet → router → switch/AP → grup → cihaz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464377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35373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 planı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her cihazı evinin gerçek planına sürükle.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3845631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3734989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Beşi de aynı veriyi okur; birinde yapılan isim değişikliği her yerde geçerlidir.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39228" y="2489483"/>
            <a:ext cx="4016959" cy="2217361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4" name="Image 1" descr="/home/claude/decks/products/mynes/img/grap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439191"/>
            <a:ext cx="4016959" cy="221736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498080" y="2439191"/>
            <a:ext cx="4016959" cy="2217361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CHANGELOG.md v1.8.1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104338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1043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Görünümler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Kablo yolundan oturma odasına.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Bu kategoride başka kimsenin sunmadığı iki görünüm.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122241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01159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Topoloji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bir listenin yanıtlayamadığı soruyu yanıtlar: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bu cihaz aslında neyin üzerinden bağlı?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Bir switch ya da access point sorun çıkardığı anda işe yarar.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701869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59122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 planı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envanteri gerçekten yaşadığın yere taşır — kamerayı koridora, prizi mutfağa sürükle.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083123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97248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Planda yanlış odada duran bir cihaz, genellikle sahip olduğunu unuttuğun bir cihazdır.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464377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35373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Her iki görünüm de aynı tarama verisinden üretilir — ek yapılandırma yok, bakımı yapılacak ayrı bir diyagram yok.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39228" y="2113228"/>
            <a:ext cx="4016959" cy="2969872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2" name="Image 1" descr="/home/claude/decks/products/mynes/img/topolog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62936"/>
            <a:ext cx="4016959" cy="29698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98080" y="2062936"/>
            <a:ext cx="4016959" cy="2969872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770687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770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Tanıma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MAC adresinden “Ebru'nun Pixel 10'u”na.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Tanıma, ağ taramasının zor yarısıdır. MyNeS önce ucuz olan tüm sinyalleri üst üste koyar; yapay zekâ çağrısını ancak ondan sonra teklif eder.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33401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22337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OUI / üretici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IEEE OUI, MA-M, OUI-36, IAB ve CID kayıtları; 37.000+ organizasyon, IEEE'den güncellenir, bilinmeyenler için online API yedeği vardır.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913642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80299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Hostname kalıpları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açık port ve servis imzaları, yalnızca zaten açık olduğu bilinen portlarda banner okuma.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493270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38262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Güven skorları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otomatik alias önerileri; IoT / Sunucu / Router / Telefon gibi kategorilere sınıflandırma.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4072898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962255"/>
            <a:ext cx="607161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Identify with AI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yalnızca toplanan sinyaller (üretici, OUI, hostname, açık portlar, banner'lar) Anthropic, OpenAI veya OpenRouter'a gider; geriye sıralı adaylar döner ve her aday gerçek bir MyNeS cihaz tipine eşlenir.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4850900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74025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Anahtar yoksa düğme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hiç görünmez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: bu bir bağımlılık değil, tercihe bağlı bir özellik.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8660" y="5232154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512151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Dürüst açık: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Fing'in kitle kaynaklı parmak izi veritabanı daha büyük. Sıra dışı donanımda Fing bilirken MyNeS tahmin eder.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39228" y="1949872"/>
            <a:ext cx="4016959" cy="3296585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6" name="Image 1" descr="/home/claude/decks/products/mynes/img/identify-a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99580"/>
            <a:ext cx="4016959" cy="329658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98080" y="1899580"/>
            <a:ext cx="4016959" cy="3296585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770687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770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Tanıma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32764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LLM'den önce yanıtlayan bir bilgi tabanı.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21792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mynes-ai, web ve mobil uygulamaların paylaştığı, isteğe bağlı Identify-with-AI arka ucudur. Önce yerel bilgiyi dener; LLM çağrısını ancak bu yetmediğinde harcar — yani yanıtların çoğu bedava gelir.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6656" y="2477389"/>
            <a:ext cx="6217920" cy="310896"/>
          </a:xfrm>
          <a:prstGeom prst="roundRect">
            <a:avLst>
              <a:gd name="adj" fmla="val 14706"/>
            </a:avLst>
          </a:prstGeom>
          <a:solidFill>
            <a:srgbClr val="EDF2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554849"/>
            <a:ext cx="1476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Adım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537535" y="2554849"/>
            <a:ext cx="422902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 yapar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6656" y="2788285"/>
            <a:ext cx="6217920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2870672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1 · OUI DB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537535" y="2870672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Üreticiyi doğrudan MAC'ten çözer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6656" y="3178048"/>
            <a:ext cx="6217920" cy="389763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76656" y="3178048"/>
            <a:ext cx="6217920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" y="3260435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 · Katalog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537535" y="3260435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Herhangi bir özellik üzerinde tam metin eşleşme (SQLite FTS5)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76656" y="3567811"/>
            <a:ext cx="6217920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3650198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3 · Doc RAG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2537535" y="3650198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En yakın kılavuz / sorun giderme parçaları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76656" y="3957574"/>
            <a:ext cx="6217920" cy="389763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27" name="Shape 24"/>
          <p:cNvSpPr/>
          <p:nvPr/>
        </p:nvSpPr>
        <p:spPr>
          <a:xfrm>
            <a:off x="676656" y="3957574"/>
            <a:ext cx="6217920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" y="4039961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4 · LLM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537535" y="4039961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OUI, kılavuz ve üretici siteleri üzerinde web araması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76656" y="4347337"/>
            <a:ext cx="6217920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4429724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5 · Crawl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2537535" y="4429724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Web araması engellendiğinde headless yedek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76656" y="2477389"/>
            <a:ext cx="6217920" cy="2259711"/>
          </a:xfrm>
          <a:prstGeom prst="rect">
            <a:avLst/>
          </a:prstGeom>
          <a:ln w="11430">
            <a:solidFill>
              <a:srgbClr val="E2E7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6656" y="4993132"/>
            <a:ext cx="6217920" cy="1368171"/>
          </a:xfrm>
          <a:prstGeom prst="roundRect">
            <a:avLst>
              <a:gd name="adj" fmla="val 4678"/>
            </a:avLst>
          </a:prstGeom>
          <a:solidFill>
            <a:srgbClr val="0F1622"/>
          </a:solidFill>
          <a:ln w="9525">
            <a:solidFill>
              <a:srgbClr val="E2E7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5107981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7A879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# güvenli bir katalog eşleşmesi, LLM olmadan ve maliyetsiz yanıtlar</a:t>
            </a:r>
            <a:endParaRPr lang="en-US" sz="925" dirty="0"/>
          </a:p>
        </p:txBody>
      </p:sp>
      <p:sp>
        <p:nvSpPr>
          <p:cNvPr id="36" name="Text 33"/>
          <p:cNvSpPr txBox="1"/>
          <p:nvPr/>
        </p:nvSpPr>
        <p:spPr>
          <a:xfrm>
            <a:off x="877824" y="5284193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7FA8FF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curl</a:t>
            </a:r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-X POST localhost:8182/identify -H </a:t>
            </a:r>
            <a:pPr indent="0" marL="0">
              <a:buNone/>
            </a:pPr>
            <a:r>
              <a:rPr lang="en-US" sz="925" dirty="0">
                <a:solidFill>
                  <a:srgbClr val="6BD7A0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'content-type: application/json'</a:t>
            </a:r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-d </a:t>
            </a:r>
            <a:pPr indent="0" marL="0">
              <a:buNone/>
            </a:pPr>
            <a:r>
              <a:rPr lang="en-US" sz="925" dirty="0">
                <a:solidFill>
                  <a:srgbClr val="6BD7A0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'{</a:t>
            </a:r>
            <a:endParaRPr lang="en-US" sz="925" dirty="0"/>
          </a:p>
        </p:txBody>
      </p:sp>
      <p:sp>
        <p:nvSpPr>
          <p:cNvPr id="37" name="Text 34"/>
          <p:cNvSpPr txBox="1"/>
          <p:nvPr/>
        </p:nvSpPr>
        <p:spPr>
          <a:xfrm>
            <a:off x="877824" y="5460406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 "query_type": "identify",</a:t>
            </a:r>
            <a:endParaRPr lang="en-US" sz="925" dirty="0"/>
          </a:p>
        </p:txBody>
      </p:sp>
      <p:sp>
        <p:nvSpPr>
          <p:cNvPr id="38" name="Text 35"/>
          <p:cNvSpPr txBox="1"/>
          <p:nvPr/>
        </p:nvSpPr>
        <p:spPr>
          <a:xfrm>
            <a:off x="877824" y="5636618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 "facts": {"mac":"a8:41:f4:…",</a:t>
            </a:r>
            <a:endParaRPr lang="en-US" sz="925" dirty="0"/>
          </a:p>
        </p:txBody>
      </p:sp>
      <p:sp>
        <p:nvSpPr>
          <p:cNvPr id="39" name="Text 36"/>
          <p:cNvSpPr txBox="1"/>
          <p:nvPr/>
        </p:nvSpPr>
        <p:spPr>
          <a:xfrm>
            <a:off x="877824" y="5812831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           "oui_vendor":"AzureWave", "open_ports":[80]}</a:t>
            </a:r>
            <a:endParaRPr lang="en-US" sz="925" dirty="0"/>
          </a:p>
        </p:txBody>
      </p:sp>
      <p:sp>
        <p:nvSpPr>
          <p:cNvPr id="40" name="Text 37"/>
          <p:cNvSpPr txBox="1"/>
          <p:nvPr/>
        </p:nvSpPr>
        <p:spPr>
          <a:xfrm>
            <a:off x="877824" y="5989043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}'</a:t>
            </a:r>
            <a:endParaRPr lang="en-US" sz="925" dirty="0"/>
          </a:p>
        </p:txBody>
      </p:sp>
      <p:sp>
        <p:nvSpPr>
          <p:cNvPr id="41" name="Shape 38"/>
          <p:cNvSpPr/>
          <p:nvPr/>
        </p:nvSpPr>
        <p:spPr>
          <a:xfrm>
            <a:off x="7447788" y="2306757"/>
            <a:ext cx="4108399" cy="2582814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42" name="Image 1" descr="/home/claude/decks/products/mynes/img/ou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6465"/>
            <a:ext cx="4108399" cy="2582814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7406640" y="2256465"/>
            <a:ext cx="4108399" cy="2582814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mynes-ai/README.md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719747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7197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İzleme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Tara, farkı çıkar, sonra beni rahatsız et.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MyNeS belirli aralıklarla yeniden tarar, sonucu bir öncekiyle karşılaştırır ve yalnızca bilmek isteyeceğin değişiklikleri bildirir.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33401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22337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Yeni cihaz katıldı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·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cihaz çevrimdışı oldu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·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 değişti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715268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60462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Bilinen bir IP'nin MAC'i değişti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ARP spoofing sinyali.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096522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985879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Dün olmayan bir cihazda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yeni bir port açıldı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477776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367133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Düşük voltaj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(Raspberry Pi güç sorunları),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düşük pil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yüksek gecikme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zayıf sinyal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3859030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374838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Kanallar: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MyNeS'in kendi Web Push'u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(Home Assistant ya da üçüncü taraf servis gerekmez), Home Assistant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notify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ntfy, Telegram, Webhook, Slack, Discord ve e-posta.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8660" y="4438658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32801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Yeniden başlatmayı atlatan, gün seçicili döner günlük loglar sayesinde “saat 03:00'te ne oldu” sorusu yanıtlanabilir.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39228" y="1865516"/>
            <a:ext cx="4016959" cy="3465297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6" name="Image 1" descr="/home/claude/decks/products/mynes/img/aler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15224"/>
            <a:ext cx="4016959" cy="346529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98080" y="1815224"/>
            <a:ext cx="4016959" cy="3465297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mynes/monitoring/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848297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8482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Güvenlik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Tüm ağın maruziyeti, en riskliden başlayarak.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Filo riski ve bilinen CVE maruziyeti tek ekranda; canlı bir besleme değil, küratörlü çevrimdışı eşleme üzerinden.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33401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22337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Filo risk skoru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şiddet dağılımı — Critical / High / Medium / Low.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715268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60462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Önce neyi düzeltmeli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açık Telnet, SMB/NetBIOS (EternalBlue), VNC ve benzerleri; her biri etkilenen cihaz sayısıyla.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294896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184253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Cihaz bazında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tara, acknowledge, izle &amp; uyar, dışa aktar.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676150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56550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SSH, FTP, HTTP ve SNMP için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şifreli credential depolama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(Fernet / AES-256) ve kısıtlı dosya izinleri.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4255778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14513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Dışa aktarımda hassas veri temizlenir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böylece paylaşılan envanter dosyası güvenlidir.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8660" y="4637032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52638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Konteyner sertleştirilmiştir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: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perl-base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debconf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gosu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curl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pip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setuptools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yok — Debian'ın yama yayınlamadığı 70 CVE, silinerek kaldırıldı. uid 1000 ile çalışır, asla privileged değildir.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39228" y="1680735"/>
            <a:ext cx="4016959" cy="3834857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6" name="Image 1" descr="/home/claude/decks/products/mynes/img/securit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30443"/>
            <a:ext cx="4016959" cy="383485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98080" y="1630443"/>
            <a:ext cx="4016959" cy="3834857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mynes/security/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75481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754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Geçmiş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Ağın, zaman içinde.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Her tarama saklanır; böylece envanter bir anlık görüntü değil, bir geçmiş olur.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122241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011599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Tarama bazında sonuçlar, cihaz sayıları ve geriye doğru sayfalanabilen istatistikler.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503495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392853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 cihaz ilk ne zaman göründü?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bilinmeyen bir MAC'i bir hikâyeye çeviren soru.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2884749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77410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Tüm envanter için JSON yedekleme ve geri yükleme: alias'lar, notlar, özel tipler, güven seviyeleri.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3464377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35373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Her kayıt öncesinde önceki depo anlık olarak yedeklenir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(v1.8.1) — bozuk bir tarama artık bir yıllık cihaz düzenlemesini sessizce silemez.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39228" y="909479"/>
            <a:ext cx="4016959" cy="5377369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2" name="Image 1" descr="/home/claude/decks/products/mynes/img/histo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859187"/>
            <a:ext cx="4016959" cy="537736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98080" y="859187"/>
            <a:ext cx="4016959" cy="5377369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CHANGELOG.md v1.8.1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1263282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12632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Entegrasyonlar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Sonradan eklenmiş değil, birinci sınıf hedef.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5148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Bu envanterin çoğu zaten Home Assistant'a gitmek ister — bu yüzden MyNeS onun ana dilini konuşur.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" y="233401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22337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MQTT Discovery push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keşfedilen her cihaz, tek satır tutkal kod ve template YAML olmadan bir HA entity'si olur.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" y="2913642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80299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HA'dan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REST / WebSocket pull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MyNeS bulduklarını HA'nın kendi cihaz kaydıyla karşılaştırır ve sessizce fişi çekilenleri işaretler.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" y="3493270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38262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Home Assistant eklentisi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mynes-addon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aarch64 + amd64) Add-on Store'dan diğerleri gibi kurulur.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" y="4072898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96225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Grafana panoları için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InfluxDB 2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push ve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Prometheus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scrape.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8660" y="4454152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34350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Çalışan uygulamadan canlı okunan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REST API kataloğu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; OpenAPI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swagger.json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) olarak indirilebilir.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8660" y="5033780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92313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GET /api/capabilities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hangi keşif yöntemlerinin çalıştığını ve diğerlerinin neden çalışmadığını tam olarak söyler.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39228" y="1739651"/>
            <a:ext cx="4016959" cy="3717026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6" name="Image 1" descr="/home/claude/decks/products/mynes/img/integrat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89359"/>
            <a:ext cx="4016959" cy="371702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98080" y="1689359"/>
            <a:ext cx="4016959" cy="3717026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github.com/fxerkan/mynes-addon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56406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564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Mobil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571439" y="876178"/>
            <a:ext cx="6053328" cy="72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spc="-41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Tarayıcı telefonun kendisi.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5571439" y="1507673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Bir sunucunun uzaktan kumandası değil — tüm tarama motorunu cihaz üzerinde çalıştıran bağımsız bir uygulama. Kurulacak sunucu yok, Docker yok, eşleştirme yok.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03443" y="2316538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09183" y="2205896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React Native + Expo + TypeScript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tek kod tabanı, Android ve iOS; buradaki görüntüler gerçek bir iPhone ve Pixel 10 Pro XL üzerinde, canlı bir ev ağı taranırken alındı.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03443" y="2896166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09183" y="2785524"/>
            <a:ext cx="570585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Ping / TCP-connect taraması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çekirdeğin ARP önbelleğini doldurur, ardından gömülü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mynes-ping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native modülü MAC adreslerini oradan okur —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root olmadan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 iOS'ta doğrudan route buffer'dan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NET_RT_FLAGS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) okur.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03443" y="3674168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9183" y="3563526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Üretici çevrimdışı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gömülü IEEE tablosundan; isimler ters DNS, ardından mDNS, SSDP ve NetBIOS'tan; tip portlardan, banner okumayla rafine edilerek.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03443" y="4253796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09183" y="4143154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Tasarım eşitliği kopyalanmaz, üretilir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web uygulamasının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design-system.css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ikon seti mobil temaya derlenir; ikisi asla ayrışmaz.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03443" y="483342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09183" y="4722782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Dürüst kısıt: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root'lanmamış bir telefon ham ARP gönderemez, bu yüzden bazı saf IP cihazlarının MAC'i bilinmez kalır. Yetenekler ekranı bunu gizlemek yerine söyler.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373047" y="873252"/>
            <a:ext cx="1072233" cy="2386584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4" name="Image 1" descr="/home/claude/decks/products/mynes/img/ph-devic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899" y="822960"/>
            <a:ext cx="1072233" cy="238658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331899" y="822960"/>
            <a:ext cx="1072233" cy="2386584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331899" y="3355116"/>
            <a:ext cx="107223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Cihazlar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373047" y="3808476"/>
            <a:ext cx="1072233" cy="2386584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8" name="Image 2" descr="/home/claude/decks/products/mynes/img/ph-capabiliti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899" y="3758184"/>
            <a:ext cx="1072233" cy="238658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2331899" y="3758184"/>
            <a:ext cx="1072233" cy="2386584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331899" y="6290340"/>
            <a:ext cx="107223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Yetenekler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mynes-mobile/README.md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56406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564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Mobil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4657"/>
            <a:ext cx="10808208" cy="76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4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Web uygulamasının yaptığı her şey, cebinde.</a:t>
            </a:r>
            <a:endParaRPr lang="en-US" sz="3200" dirty="0"/>
          </a:p>
        </p:txBody>
      </p:sp>
      <p:pic>
        <p:nvPicPr>
          <p:cNvPr id="12" name="Image 1" descr="/home/claude/decks/products/mynes/img/s-devic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58" y="1651203"/>
            <a:ext cx="1423952" cy="309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" y="4872939"/>
            <a:ext cx="16387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Cihazlar</a:t>
            </a:r>
            <a:endParaRPr lang="en-US" sz="1000" dirty="0"/>
          </a:p>
        </p:txBody>
      </p:sp>
      <p:pic>
        <p:nvPicPr>
          <p:cNvPr id="14" name="Image 2" descr="/home/claude/decks/products/mynes/img/s-discover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984" y="1651203"/>
            <a:ext cx="1423952" cy="30955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16581" y="4872939"/>
            <a:ext cx="16387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Keşif</a:t>
            </a:r>
            <a:endParaRPr lang="en-US" sz="1000" dirty="0"/>
          </a:p>
        </p:txBody>
      </p:sp>
      <p:pic>
        <p:nvPicPr>
          <p:cNvPr id="16" name="Image 3" descr="/home/claude/decks/products/mynes/img/s-alert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909" y="1651203"/>
            <a:ext cx="1423952" cy="309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356506" y="4872939"/>
            <a:ext cx="16387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Uyarılar</a:t>
            </a:r>
            <a:endParaRPr lang="en-US" sz="1000" dirty="0"/>
          </a:p>
        </p:txBody>
      </p:sp>
      <p:pic>
        <p:nvPicPr>
          <p:cNvPr id="18" name="Image 4" descr="/home/claude/decks/products/mynes/img/s-securit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834" y="1651203"/>
            <a:ext cx="1423952" cy="309554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96432" y="4872939"/>
            <a:ext cx="16387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Güvenlik</a:t>
            </a:r>
            <a:endParaRPr lang="en-US" sz="1000" dirty="0"/>
          </a:p>
        </p:txBody>
      </p:sp>
      <p:pic>
        <p:nvPicPr>
          <p:cNvPr id="20" name="Image 5" descr="/home/claude/decks/products/mynes/img/s-history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759" y="1651203"/>
            <a:ext cx="1423952" cy="3095549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36357" y="4872939"/>
            <a:ext cx="16387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Geçmiş</a:t>
            </a:r>
            <a:endParaRPr lang="en-US" sz="1000" dirty="0"/>
          </a:p>
        </p:txBody>
      </p:sp>
      <p:pic>
        <p:nvPicPr>
          <p:cNvPr id="22" name="Image 6" descr="/home/claude/decks/products/mynes/img/s-setting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3684" y="1651203"/>
            <a:ext cx="1423952" cy="309554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876282" y="4872939"/>
            <a:ext cx="16387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Ayarlar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708660" y="5247843"/>
            <a:ext cx="96012" cy="96012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5" name="Text 16"/>
          <p:cNvSpPr txBox="1"/>
          <p:nvPr/>
        </p:nvSpPr>
        <p:spPr>
          <a:xfrm>
            <a:off x="914400" y="5147259"/>
            <a:ext cx="4925416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Cihazlar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canlı sayaçlar (toplam / çevrimiçi / tip / üretici), arama ve web uygulamasındaki kart, tablo, grafik, topoloji, ev planı anahtarlarının aynısı.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708660" y="5754827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914400" y="5654243"/>
            <a:ext cx="4925416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Keşif · Uyarılar · Güvenlik · Geçmiş · Ayarlar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aynı beş sütun, başparmak için düzenlenmiş.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6383884" y="5247843"/>
            <a:ext cx="96012" cy="96012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9" name="Text 20"/>
          <p:cNvSpPr txBox="1"/>
          <p:nvPr/>
        </p:nvSpPr>
        <p:spPr>
          <a:xfrm>
            <a:off x="6589624" y="5147259"/>
            <a:ext cx="4925416" cy="399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Açık ve koyu tema işletim sisteminden gelir; arayüz 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Türkçe ve İngilizce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olarak gelir.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mynes-mobile/docs/screenshots — iPhone ve Pixel 10 Pro XL üzerinde alındı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56406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564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Mobil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571439" y="876178"/>
            <a:ext cx="6053328" cy="72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spc="-41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Aynı entegrasyonlar, telefondan.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5571439" y="1507673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Mobil uygulama, web uygulamasının sahip olduğu ayarları taşır — indirgenmiş bir alt küme değil.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03443" y="2316538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09183" y="2205896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MQTT broker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Zigbee2MQTT / Z-Wave JS / Tasmota'ya yönlendir, radyo cihazları telefonda da görünsün.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03443" y="2896166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09183" y="2785524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Home Assistant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Router (FRITZ!Box / TR-064)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her cihazın MAC ve adını router'ın kendi hosts tablosundan çek.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03443" y="3475794"/>
            <a:ext cx="105613" cy="1056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9183" y="3365152"/>
            <a:ext cx="570585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Identify-with-AI arka ucu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kendi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mynes-ai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örneğine yönlendir ya da boş bırakıp çevrimdışı sezgisel yöntemi kullan.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Sağlayıcı anahtarları sunucuda kalır, telefona hiç inmez.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03443" y="4253796"/>
            <a:ext cx="105613" cy="105613"/>
          </a:xfrm>
          <a:prstGeom prst="ellipse">
            <a:avLst/>
          </a:prstGeom>
          <a:solidFill>
            <a:srgbClr val="DC3F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09183" y="4143154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Arka plan taraması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30 dk / 1 sa / 2 sa / 6 sa aralıklarla; zamanlamayı işletim sistemi belirler, değişiklikte bildirim gelir.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03443" y="4833424"/>
            <a:ext cx="105613" cy="1056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09183" y="4722782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Tarama aralığı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Wi-Fi'dan otomatik algılanır ya da CIDR elle girilir.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03443" y="5214678"/>
            <a:ext cx="105613" cy="105613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09183" y="5104036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Koyu mod ve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 / TR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anahtarı doğrudan Ayarlar'da.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373047" y="873252"/>
            <a:ext cx="1072233" cy="2386584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26" name="Image 1" descr="/home/claude/decks/products/mynes/img/ph-integrat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899" y="822960"/>
            <a:ext cx="1072233" cy="238658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2331899" y="822960"/>
            <a:ext cx="1072233" cy="2386584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331899" y="3355116"/>
            <a:ext cx="107223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Entegrasyonlar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373047" y="3808476"/>
            <a:ext cx="1072233" cy="2386584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30" name="Image 2" descr="/home/claude/decks/products/mynes/img/ph-mqt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899" y="3758184"/>
            <a:ext cx="1072233" cy="238658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331899" y="3758184"/>
            <a:ext cx="1072233" cy="2386584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331899" y="6290340"/>
            <a:ext cx="107223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MQTT broker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mynes-mobile/src · README.md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950309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950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Ekosistem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0816"/>
            <a:ext cx="1080820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spc="-46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MyNeS tek bir uygulama değil — küçük bir ekosistem.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42623"/>
            <a:ext cx="8595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Her parça tek başına işe yarar ve ilki dışında hepsi isteğe bağlıdır.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4088" y="213532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C9D3E2">
              <a:alpha val="4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76656" y="208960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2107895"/>
            <a:ext cx="822960" cy="0"/>
          </a:xfrm>
          <a:prstGeom prst="line">
            <a:avLst/>
          </a:prstGeom>
          <a:noFill/>
          <a:ln w="38100">
            <a:solidFill>
              <a:srgbClr val="3D6F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6112" y="2255662"/>
            <a:ext cx="158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3D6FF5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Çekirdek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2496881"/>
            <a:ext cx="1619037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my_network_scanner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" y="2827934"/>
            <a:ext cx="1582461" cy="112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Tarayıcı, web arayüzü ve API. Python + Flask, AGPL-3.0; amd64 ve arm64 için Docker Hub'da yayında.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08341" y="213532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C9D3E2">
              <a:alpha val="4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880909" y="208960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82077" y="2107895"/>
            <a:ext cx="822960" cy="0"/>
          </a:xfrm>
          <a:prstGeom prst="line">
            <a:avLst/>
          </a:prstGeom>
          <a:noFill/>
          <a:ln w="38100">
            <a:solidFill>
              <a:srgbClr val="17A0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00365" y="2255662"/>
            <a:ext cx="158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17A05C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Mobil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3100365" y="2496881"/>
            <a:ext cx="1619037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mynes-mobile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100365" y="2827934"/>
            <a:ext cx="1582461" cy="112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Tarama motorunu cihaz üzerinde çalıştıran bağımsız Android ve iOS uygulaması. React Native + Expo + TypeScript.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12593" y="213532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C9D3E2">
              <a:alpha val="4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085161" y="208960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29" y="2107895"/>
            <a:ext cx="822960" cy="0"/>
          </a:xfrm>
          <a:prstGeom prst="line">
            <a:avLst/>
          </a:prstGeom>
          <a:noFill/>
          <a:ln w="38100">
            <a:solidFill>
              <a:srgbClr val="D98A1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04617" y="2255662"/>
            <a:ext cx="158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98A1F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Yapay zekâ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5304617" y="2496881"/>
            <a:ext cx="1619037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mynes-ai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304617" y="2827934"/>
            <a:ext cx="1582461" cy="112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İsteğe bağlı Identify-with-AI arka ucu. Önce yerel katalog + RAG, gerekirse LLM. Anahtarlar dışarı çıkmaz.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316846" y="213532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C9D3E2">
              <a:alpha val="4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289414" y="208960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0582" y="2107895"/>
            <a:ext cx="822960" cy="0"/>
          </a:xfrm>
          <a:prstGeom prst="line">
            <a:avLst/>
          </a:prstGeom>
          <a:noFill/>
          <a:ln w="38100">
            <a:solidFill>
              <a:srgbClr val="DC3F4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508870" y="2255662"/>
            <a:ext cx="158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C3F4A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Home Assistant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7508870" y="2496881"/>
            <a:ext cx="1619037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mynes-addon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508870" y="2827934"/>
            <a:ext cx="1582461" cy="112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Home Assistant eklenti deposu. Add-on Store'dan kurulur; aarch64 ve amd64.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521099" y="213532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C9D3E2">
              <a:alpha val="45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9493667" y="2089607"/>
            <a:ext cx="2021373" cy="1903476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94835" y="2107895"/>
            <a:ext cx="822960" cy="0"/>
          </a:xfrm>
          <a:prstGeom prst="line">
            <a:avLst/>
          </a:prstGeom>
          <a:noFill/>
          <a:ln w="38100">
            <a:solidFill>
              <a:srgbClr val="3D6F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713123" y="2255662"/>
            <a:ext cx="158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3D6FF5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CasaOS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9713123" y="2496881"/>
            <a:ext cx="1619037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dirty="0">
                <a:solidFill>
                  <a:srgbClr val="141A24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mynes-casaos-store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9713123" y="2827934"/>
            <a:ext cx="1582461" cy="112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CasaOS ve ZimaOS için üçüncü taraf uygulama mağazası kaynağı; MyNeS orada da tek tıkla kurulur.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github.com/fxerkan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91083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910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Kimin için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76656" y="987552"/>
            <a:ext cx="1129792" cy="274320"/>
          </a:xfrm>
          <a:prstGeom prst="roundRect">
            <a:avLst>
              <a:gd name="adj" fmla="val 50000"/>
            </a:avLst>
          </a:prstGeom>
          <a:solidFill>
            <a:srgbClr val="3D6FF5"/>
          </a:solidFill>
          <a:ln w="12700">
            <a:solidFill>
              <a:srgbClr val="3D6F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" y="1052321"/>
            <a:ext cx="112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Persona 01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269919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spc="-50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Homelab / Self-hoster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1971172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Üzerinde on iki konteyner olan bir Pi, NAS ya da mini-PC çalıştırıyor. Yerel ağda tam olarak ne olduğunu bilmek istiyor — ve onun yerel ağda kalmasını.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2700210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6FF5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Bugünkü acı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" y="3077400"/>
            <a:ext cx="3307994" cy="0"/>
          </a:xfrm>
          <a:prstGeom prst="line">
            <a:avLst/>
          </a:prstGeom>
          <a:noFill/>
          <a:ln w="22860">
            <a:solidFill>
              <a:srgbClr val="3D6F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" y="3307281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201667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Fing hesap istiyor ve envanter başkasının sunucusunda duruyor.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" y="3868875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763261"/>
            <a:ext cx="3070250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Angry IP Scanner tek seferlik bir araç: geçmiş yok, isimlendirme yok, taramalar arasında hiçbir şey kalmıyor.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8660" y="4619826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514212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Üç Docker ağındaki on iki konteyner, hiçbir bağlamı olmayan gizemli IP'ler olarak görünüyor.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08660" y="5181420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5075806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Bir cihazın ilk ne zaman göründüğüne ya da bir portun ne zaman açıldığına dair kayıt yok.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08660" y="5743014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637400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Grafana zaten çalışıyor ama içinde olmayan tek şey yerel ağ.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41850" y="2700210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7A05C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Ne kullanır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41850" y="3077400"/>
            <a:ext cx="3307994" cy="0"/>
          </a:xfrm>
          <a:prstGeom prst="line">
            <a:avLst/>
          </a:prstGeom>
          <a:noFill/>
          <a:ln w="22860">
            <a:solidFill>
              <a:srgbClr val="17A0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73854" y="3302617"/>
            <a:ext cx="93612" cy="936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9594" y="3204548"/>
            <a:ext cx="3070250" cy="74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network_mode: host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ile Docker Compose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artı </a:t>
            </a:r>
            <a:pPr algn="l" indent="0" marL="0">
              <a:lnSpc>
                <a:spcPts val="1385"/>
              </a:lnSpc>
              <a:buNone/>
            </a:pPr>
            <a:r>
              <a:rPr lang="en-US" sz="878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NET_RAW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</a:t>
            </a:r>
            <a:pPr algn="l" indent="0" marL="0">
              <a:lnSpc>
                <a:spcPts val="1385"/>
              </a:lnSpc>
              <a:buNone/>
            </a:pPr>
            <a:r>
              <a:rPr lang="en-US" sz="878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NET_ADMIN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ham ARP ve multicast'in LAN'ı gerçekten görmesini sağlayan asgari yetki.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4473854" y="4012992"/>
            <a:ext cx="93612" cy="936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9594" y="3914922"/>
            <a:ext cx="3070250" cy="74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GET /api/capabilities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hangi keşif yöntemlerinin canlı, hangilerinin neden olmadığını söyler; sessizce daha az cihaz bulmaz.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4473854" y="4723366"/>
            <a:ext cx="93612" cy="936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9594" y="4625297"/>
            <a:ext cx="3070250" cy="57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 farkındalığı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konteynerler, sanal ağlar ve IP atamaları; onları çalıştıran host'un altında.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4473854" y="5257909"/>
            <a:ext cx="93612" cy="936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9594" y="5159840"/>
            <a:ext cx="3070250" cy="57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InfluxDB 2 push / Prometheus scrape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doğrudan zaten ayakta olan Grafana'ya.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4473854" y="5792452"/>
            <a:ext cx="93612" cy="936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9594" y="5694383"/>
            <a:ext cx="3070250" cy="57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Uyarılar için 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ntfy, Telegram, Discord, Slack ya da webhook</a:t>
            </a:r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; geri kalan her şey için tam REST API.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8207045" y="2700210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98A1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Ne kazanır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8207045" y="3077400"/>
            <a:ext cx="3307994" cy="0"/>
          </a:xfrm>
          <a:prstGeom prst="line">
            <a:avLst/>
          </a:prstGeom>
          <a:noFill/>
          <a:ln w="22860">
            <a:solidFill>
              <a:srgbClr val="D98A1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39049" y="3307281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444789" y="3201667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AGPL-3.0, tek konteyner, hesap yok ve dışarı konuşan hiçbir şey yok.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39049" y="3868875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44789" y="3763261"/>
            <a:ext cx="3070250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linux/amd64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linux/arm64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dolaptaki Pi yeter.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39049" y="4241112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44789" y="4135498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uid 1000 ile, asla privileged olmadan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çalışır; taban imaj 70 yamalanmamış CVE'den arındırılmıştır.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39049" y="4802706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44789" y="4697092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Yeniden başlatmayı atlatan tarama geçmişi ve döner günlük loglar.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39049" y="5364300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44789" y="5258686"/>
            <a:ext cx="3070250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Her kayıttan önce kendini yedekleyen bir cihaz deposu — bozuk bir tarama tek dosya kopyası uzaklıkta geri alınır.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README.md · deploy/ · mynes/integrations/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91083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910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Kimin için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76656" y="987552"/>
            <a:ext cx="1129792" cy="274320"/>
          </a:xfrm>
          <a:prstGeom prst="roundRect">
            <a:avLst>
              <a:gd name="adj" fmla="val 50000"/>
            </a:avLst>
          </a:prstGeom>
          <a:solidFill>
            <a:srgbClr val="3D6FF5"/>
          </a:solidFill>
          <a:ln w="12700">
            <a:solidFill>
              <a:srgbClr val="3D6F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" y="1052321"/>
            <a:ext cx="112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Persona 02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269919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spc="-50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Akıllı ev sahibi / Home Assistant kullanıcısı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1971172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Home Assistant'ta kırk cihazı var ve ağda daha kaç tane olduğuna dair hiçbir fikri yok. Evin yarısı Zigbee konuşuyor ve hiçbir tarayıcı bunların hiçbirini göstermedi.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2700210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6FF5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Bugünkü acı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" y="3077400"/>
            <a:ext cx="3307994" cy="0"/>
          </a:xfrm>
          <a:prstGeom prst="line">
            <a:avLst/>
          </a:prstGeom>
          <a:noFill/>
          <a:ln w="22860">
            <a:solidFill>
              <a:srgbClr val="3D6F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" y="3307281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201667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Zigbee ampuller ve Z-Wave kilitler, denediği her IP tarayıcısına görünmez.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" y="3868875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763261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Geçen hafta bir cihaz yanıt vermeyi bıraktı ve otomasyon bozulana kadar kimse fark etmedi.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8660" y="4430469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324855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HA'nın cihaz kaydı ile gerçek ağ sessizce birbirinden ayrıldı.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08660" y="4992063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886449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HA'ya yeni cihaz eklemek, IP'sini elle avlamak demek.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08660" y="5553657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448043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NetAlertX IP cihazlarını buluyor ama radyo cihazlarını bulmuyor.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41850" y="2700210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7A05C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Ne kullanır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41850" y="3077400"/>
            <a:ext cx="3307994" cy="0"/>
          </a:xfrm>
          <a:prstGeom prst="line">
            <a:avLst/>
          </a:prstGeom>
          <a:noFill/>
          <a:ln w="22860">
            <a:solidFill>
              <a:srgbClr val="17A0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73854" y="3297954"/>
            <a:ext cx="86411" cy="86411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9594" y="3207428"/>
            <a:ext cx="307025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MQTT keşfi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MyNeS'i zaten çalışan Zigbee2MQTT / Z-Wave JS broker'ına yönlendir, radyo cihazları envantere düşsün.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473854" y="3967752"/>
            <a:ext cx="86411" cy="86411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9594" y="3877226"/>
            <a:ext cx="307025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Geri kalan için 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mDNS üzerinden Matter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_matter._tcp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) ve 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Bluetooth LE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yayınları.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473854" y="4475244"/>
            <a:ext cx="86411" cy="86411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9594" y="4384718"/>
            <a:ext cx="307025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MQTT Discovery push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her cihaz otomatik olarak bir HA entity'si olur, template YAML yok.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473854" y="4982736"/>
            <a:ext cx="86411" cy="86411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9594" y="4892210"/>
            <a:ext cx="307025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HA'dan 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REST / WebSocket pull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bulunan cihazları HA kaydıyla karşılaştır, fişi çekilenleri işaretle.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473854" y="5490228"/>
            <a:ext cx="86411" cy="86411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9594" y="5399702"/>
            <a:ext cx="307025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Home Assistant eklentisi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(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mynes-addon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) ile Add-on Store'dan diğerleri gibi kurulum.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473854" y="5997720"/>
            <a:ext cx="86411" cy="86411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679594" y="5907194"/>
            <a:ext cx="307025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 planı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her cihazı gerçekten bulunduğu odaya sürükle.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207045" y="2700210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98A1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Ne kazanır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07045" y="3077400"/>
            <a:ext cx="3307994" cy="0"/>
          </a:xfrm>
          <a:prstGeom prst="line">
            <a:avLst/>
          </a:prstGeom>
          <a:noFill/>
          <a:ln w="22860">
            <a:solidFill>
              <a:srgbClr val="D98A1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39049" y="3307281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44789" y="3201667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Ağ haritasında hiç olmayan cihazlar artık haritada.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39049" y="3868875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44789" y="3763261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Bir otomasyon bozulmadan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önce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çalışan çevrimdışı tespiti.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39049" y="4430469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44789" y="4324855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Hem HA'nın hem bir insanın okuyabildiği tek envanter.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39049" y="4992063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44789" y="4886449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Uyarılar HA'nın kendi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notify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servisiyle — ya da HA hiç devrede olmadan MyNeS'in Web Push'uyla.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39049" y="5553657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444789" y="5448043"/>
            <a:ext cx="3070250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Açıkça belirtilen bağımlılık: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Zigbee/Z-Wave görünürlüğü mevcut bir MQTT broker'ı ister. MyNeS onun retained konularını okur; bir radyoyu kendisi sürmez.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README.md · mynes/discovery/mqtt.py · github.com/fxerkan/mynes-addon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910838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910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Kimin için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76656" y="987552"/>
            <a:ext cx="1129792" cy="274320"/>
          </a:xfrm>
          <a:prstGeom prst="roundRect">
            <a:avLst>
              <a:gd name="adj" fmla="val 50000"/>
            </a:avLst>
          </a:prstGeom>
          <a:solidFill>
            <a:srgbClr val="3D6FF5"/>
          </a:solidFill>
          <a:ln w="12700">
            <a:solidFill>
              <a:srgbClr val="3D6F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" y="1052321"/>
            <a:ext cx="112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Persona 03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269919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spc="-50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Son kullanıcı / aile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1971172"/>
            <a:ext cx="95097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DevOps mühendisi değil ve asla Docker çalıştırmayacak. Tek bir soruya dürüst bir yanıt istiyor: şu anda Wi-Fi'ımda kim var?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2488438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6FF5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Bugünkü acı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" y="2865628"/>
            <a:ext cx="3307994" cy="0"/>
          </a:xfrm>
          <a:prstGeom prst="line">
            <a:avLst/>
          </a:prstGeom>
          <a:noFill/>
          <a:ln w="22860">
            <a:solidFill>
              <a:srgbClr val="3D6F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" y="3095508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989895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Router'ın yönetim sayfası yirmi MAC adresi listeliyor ve hiçbirine isim vermiyor.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" y="3657102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551489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“Şu bilinmeyen cihaz komşu mu, yoksa benim robot süpürgem mi?”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8660" y="4218696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113083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Kullanıcı dostu her uygulama hesap istiyor ve ev envanterini birinin bulutuna koyuyor.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08660" y="4780290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674677"/>
            <a:ext cx="3070250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Evde sunucu yok ve asla olmayacak.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08660" y="5152527"/>
            <a:ext cx="100813" cy="100813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046914"/>
            <a:ext cx="3070250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Bu araçların çoğu yalnızca İngilizce.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41850" y="2488438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7A05C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Ne kullanır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41850" y="2865628"/>
            <a:ext cx="3307994" cy="0"/>
          </a:xfrm>
          <a:prstGeom prst="line">
            <a:avLst/>
          </a:prstGeom>
          <a:noFill/>
          <a:ln w="22860">
            <a:solidFill>
              <a:srgbClr val="17A0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73854" y="3093954"/>
            <a:ext cx="98412" cy="984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9594" y="2990855"/>
            <a:ext cx="3070250" cy="589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Mobil uygulama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kur, aç, tara. Motoru telefon çalıştırır; 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kurulacak hiçbir sunucu yoktur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1025" dirty="0"/>
          </a:p>
        </p:txBody>
      </p:sp>
      <p:sp>
        <p:nvSpPr>
          <p:cNvPr id="31" name="Shape 28"/>
          <p:cNvSpPr/>
          <p:nvPr/>
        </p:nvSpPr>
        <p:spPr>
          <a:xfrm>
            <a:off x="4473854" y="3646531"/>
            <a:ext cx="98412" cy="984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9594" y="3543432"/>
            <a:ext cx="3070250" cy="589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Kart görünümü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ve sade özet: toplam, çevrimiçi, tip, üretici.</a:t>
            </a:r>
            <a:endParaRPr lang="en-US" sz="1025" dirty="0"/>
          </a:p>
        </p:txBody>
      </p:sp>
      <p:sp>
        <p:nvSpPr>
          <p:cNvPr id="33" name="Shape 30"/>
          <p:cNvSpPr/>
          <p:nvPr/>
        </p:nvSpPr>
        <p:spPr>
          <a:xfrm>
            <a:off x="4473854" y="4199108"/>
            <a:ext cx="98412" cy="984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9594" y="4096009"/>
            <a:ext cx="3070250" cy="589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Güven seviyeleri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her cihazı Known, Unknown ya da Trusted olarak işaretle, sonra kalanları filtrele.</a:t>
            </a:r>
            <a:endParaRPr lang="en-US" sz="1025" dirty="0"/>
          </a:p>
        </p:txBody>
      </p:sp>
      <p:sp>
        <p:nvSpPr>
          <p:cNvPr id="35" name="Shape 32"/>
          <p:cNvSpPr/>
          <p:nvPr/>
        </p:nvSpPr>
        <p:spPr>
          <a:xfrm>
            <a:off x="4473854" y="4751685"/>
            <a:ext cx="98412" cy="984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9594" y="4648586"/>
            <a:ext cx="3070250" cy="589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Arka plan taraması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saatte bir; yeni cihaz katıldığında bildirim.</a:t>
            </a:r>
            <a:endParaRPr lang="en-US" sz="1025" dirty="0"/>
          </a:p>
        </p:txBody>
      </p:sp>
      <p:sp>
        <p:nvSpPr>
          <p:cNvPr id="37" name="Shape 34"/>
          <p:cNvSpPr/>
          <p:nvPr/>
        </p:nvSpPr>
        <p:spPr>
          <a:xfrm>
            <a:off x="4473854" y="5304262"/>
            <a:ext cx="98412" cy="984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9594" y="5201163"/>
            <a:ext cx="3070250" cy="40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Masaüstünü koltuktan açmak için 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Wake-on-LAN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1025" dirty="0"/>
          </a:p>
        </p:txBody>
      </p:sp>
      <p:sp>
        <p:nvSpPr>
          <p:cNvPr id="39" name="Shape 36"/>
          <p:cNvSpPr/>
          <p:nvPr/>
        </p:nvSpPr>
        <p:spPr>
          <a:xfrm>
            <a:off x="4473854" y="5671990"/>
            <a:ext cx="98412" cy="984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679594" y="5568892"/>
            <a:ext cx="307025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Ya da ortak bir bilgisayarda: 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PWA</a:t>
            </a:r>
            <a:pPr algn="l" indent="0" marL="0">
              <a:lnSpc>
                <a:spcPts val="1456"/>
              </a:lnSpc>
              <a:buNone/>
            </a:pPr>
            <a:r>
              <a:rPr lang="en-US" sz="1025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web uygulamasını ana ekrana ekle, mağazaya gerek yok.</a:t>
            </a:r>
            <a:endParaRPr lang="en-US" sz="1025" dirty="0"/>
          </a:p>
        </p:txBody>
      </p:sp>
      <p:sp>
        <p:nvSpPr>
          <p:cNvPr id="41" name="Text 38"/>
          <p:cNvSpPr txBox="1"/>
          <p:nvPr/>
        </p:nvSpPr>
        <p:spPr>
          <a:xfrm>
            <a:off x="8207045" y="2488438"/>
            <a:ext cx="330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98A1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Ne kazanır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07045" y="2865628"/>
            <a:ext cx="3307994" cy="0"/>
          </a:xfrm>
          <a:prstGeom prst="line">
            <a:avLst/>
          </a:prstGeom>
          <a:noFill/>
          <a:ln w="22860">
            <a:solidFill>
              <a:srgbClr val="D98A1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39049" y="3095508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44789" y="2989895"/>
            <a:ext cx="3070250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Bir dakikada yanıt; hesap yok, bulut yok.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39049" y="3467745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44789" y="3362132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Her cihazın gerçek bir adı, tipi ve odası var — çünkü bir kez sen isimlendirdin.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39049" y="4029339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44789" y="3923726"/>
            <a:ext cx="3070250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Arayüz baştan sona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Türkçe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, yarım bir çeviri değil.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39049" y="4401576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44789" y="4295963"/>
            <a:ext cx="30702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Açık/koyu tema telefondan gelir; düzen 320px'den TV'ye kadar çalışır.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39049" y="4963170"/>
            <a:ext cx="100813" cy="100813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444789" y="4857557"/>
            <a:ext cx="3070250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Dürüst sınır: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root'lanmamış bir telefon her MAC'i okuyamaz, bu yüzden bazı cihazlar kısmen bilinmez kalır — ve uygulama hangileri olduğunu söyler.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mynes-mobile/README.md · README.md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67741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67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Pazar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72338"/>
            <a:ext cx="10808208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spc="-42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Kendi sunucunda çalışan, üstelik IP'siz cihazları da gören Fing.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2326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✓ var   ~ kısmen   ✕ yok   ★ yalnızca MyNeS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76656" y="1871472"/>
            <a:ext cx="10838383" cy="310896"/>
          </a:xfrm>
          <a:prstGeom prst="roundRect">
            <a:avLst>
              <a:gd name="adj" fmla="val 14706"/>
            </a:avLst>
          </a:prstGeom>
          <a:solidFill>
            <a:srgbClr val="EDF2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Yetenek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2353012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600" dirty="0"/>
          </a:p>
        </p:txBody>
      </p:sp>
      <p:sp>
        <p:nvSpPr>
          <p:cNvPr id="16" name="Text 13"/>
          <p:cNvSpPr txBox="1"/>
          <p:nvPr/>
        </p:nvSpPr>
        <p:spPr>
          <a:xfrm>
            <a:off x="3901353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Fing</a:t>
            </a:r>
            <a:endParaRPr lang="en-US" sz="600" dirty="0"/>
          </a:p>
        </p:txBody>
      </p:sp>
      <p:sp>
        <p:nvSpPr>
          <p:cNvPr id="17" name="Text 14"/>
          <p:cNvSpPr txBox="1"/>
          <p:nvPr/>
        </p:nvSpPr>
        <p:spPr>
          <a:xfrm>
            <a:off x="5449693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Angry IP Scanner</a:t>
            </a:r>
            <a:endParaRPr lang="en-US" sz="600" dirty="0"/>
          </a:p>
        </p:txBody>
      </p:sp>
      <p:sp>
        <p:nvSpPr>
          <p:cNvPr id="18" name="Text 15"/>
          <p:cNvSpPr txBox="1"/>
          <p:nvPr/>
        </p:nvSpPr>
        <p:spPr>
          <a:xfrm>
            <a:off x="6998034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Advanced IP Scanner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8546374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NetAlertX</a:t>
            </a:r>
            <a:endParaRPr lang="en-US" sz="600" dirty="0"/>
          </a:p>
        </p:txBody>
      </p:sp>
      <p:sp>
        <p:nvSpPr>
          <p:cNvPr id="20" name="Text 17"/>
          <p:cNvSpPr txBox="1"/>
          <p:nvPr/>
        </p:nvSpPr>
        <p:spPr>
          <a:xfrm>
            <a:off x="10094715" y="1977664"/>
            <a:ext cx="1292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nmap / Zenmap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676656" y="2182368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4672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Lisans ve maliyet</a:t>
            </a:r>
            <a:endParaRPr lang="en-US" sz="600" dirty="0"/>
          </a:p>
        </p:txBody>
      </p:sp>
      <p:sp>
        <p:nvSpPr>
          <p:cNvPr id="23" name="Text 20"/>
          <p:cNvSpPr txBox="1"/>
          <p:nvPr/>
        </p:nvSpPr>
        <p:spPr>
          <a:xfrm>
            <a:off x="2353012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AGPL-3.0 · ücretsiz</a:t>
            </a:r>
            <a:endParaRPr lang="en-US" sz="600" dirty="0"/>
          </a:p>
        </p:txBody>
      </p:sp>
      <p:sp>
        <p:nvSpPr>
          <p:cNvPr id="24" name="Text 21"/>
          <p:cNvSpPr txBox="1"/>
          <p:nvPr/>
        </p:nvSpPr>
        <p:spPr>
          <a:xfrm>
            <a:off x="3901353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Tescilli · ücretsiz uygulama, ücretli kutu/paket</a:t>
            </a:r>
            <a:endParaRPr lang="en-US" sz="600" dirty="0"/>
          </a:p>
        </p:txBody>
      </p:sp>
      <p:sp>
        <p:nvSpPr>
          <p:cNvPr id="25" name="Text 22"/>
          <p:cNvSpPr txBox="1"/>
          <p:nvPr/>
        </p:nvSpPr>
        <p:spPr>
          <a:xfrm>
            <a:off x="5449693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GPL-2.0 · ücretsiz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6998034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Tescilli · freeware</a:t>
            </a:r>
            <a:endParaRPr lang="en-US" sz="600" dirty="0"/>
          </a:p>
        </p:txBody>
      </p:sp>
      <p:sp>
        <p:nvSpPr>
          <p:cNvPr id="27" name="Text 24"/>
          <p:cNvSpPr txBox="1"/>
          <p:nvPr/>
        </p:nvSpPr>
        <p:spPr>
          <a:xfrm>
            <a:off x="8546374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GPL-3.0 · ücretsiz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10094715" y="2237049"/>
            <a:ext cx="129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NPSL · ücretsiz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676656" y="252984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76656" y="252984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Hesap gerekir</a:t>
            </a:r>
            <a:endParaRPr lang="en-US" sz="600" dirty="0"/>
          </a:p>
        </p:txBody>
      </p:sp>
      <p:sp>
        <p:nvSpPr>
          <p:cNvPr id="32" name="Text 29"/>
          <p:cNvSpPr txBox="1"/>
          <p:nvPr/>
        </p:nvSpPr>
        <p:spPr>
          <a:xfrm>
            <a:off x="2353012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gerekmez</a:t>
            </a:r>
            <a:endParaRPr lang="en-US" sz="600" dirty="0"/>
          </a:p>
        </p:txBody>
      </p:sp>
      <p:sp>
        <p:nvSpPr>
          <p:cNvPr id="33" name="Text 30"/>
          <p:cNvSpPr txBox="1"/>
          <p:nvPr/>
        </p:nvSpPr>
        <p:spPr>
          <a:xfrm>
            <a:off x="3901353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faydalı özelliklerin çoğu için</a:t>
            </a:r>
            <a:endParaRPr lang="en-US" sz="600" dirty="0"/>
          </a:p>
        </p:txBody>
      </p:sp>
      <p:sp>
        <p:nvSpPr>
          <p:cNvPr id="34" name="Text 31"/>
          <p:cNvSpPr txBox="1"/>
          <p:nvPr/>
        </p:nvSpPr>
        <p:spPr>
          <a:xfrm>
            <a:off x="5449693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35" name="Text 32"/>
          <p:cNvSpPr txBox="1"/>
          <p:nvPr/>
        </p:nvSpPr>
        <p:spPr>
          <a:xfrm>
            <a:off x="6998034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36" name="Text 33"/>
          <p:cNvSpPr txBox="1"/>
          <p:nvPr/>
        </p:nvSpPr>
        <p:spPr>
          <a:xfrm>
            <a:off x="8546374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37" name="Text 34"/>
          <p:cNvSpPr txBox="1"/>
          <p:nvPr/>
        </p:nvSpPr>
        <p:spPr>
          <a:xfrm>
            <a:off x="10094715" y="25845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676656" y="278130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4672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Bulut / telemetri</a:t>
            </a:r>
            <a:endParaRPr lang="en-US" sz="600" dirty="0"/>
          </a:p>
        </p:txBody>
      </p:sp>
      <p:sp>
        <p:nvSpPr>
          <p:cNvPr id="40" name="Text 37"/>
          <p:cNvSpPr txBox="1"/>
          <p:nvPr/>
        </p:nvSpPr>
        <p:spPr>
          <a:xfrm>
            <a:off x="2353012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yok</a:t>
            </a:r>
            <a:endParaRPr lang="en-US" sz="600" dirty="0"/>
          </a:p>
        </p:txBody>
      </p:sp>
      <p:sp>
        <p:nvSpPr>
          <p:cNvPr id="41" name="Text 38"/>
          <p:cNvSpPr txBox="1"/>
          <p:nvPr/>
        </p:nvSpPr>
        <p:spPr>
          <a:xfrm>
            <a:off x="3901353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ürünün merkezinde</a:t>
            </a:r>
            <a:endParaRPr lang="en-US" sz="600" dirty="0"/>
          </a:p>
        </p:txBody>
      </p:sp>
      <p:sp>
        <p:nvSpPr>
          <p:cNvPr id="42" name="Text 39"/>
          <p:cNvSpPr txBox="1"/>
          <p:nvPr/>
        </p:nvSpPr>
        <p:spPr>
          <a:xfrm>
            <a:off x="5449693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yok</a:t>
            </a:r>
            <a:endParaRPr lang="en-US" sz="600" dirty="0"/>
          </a:p>
        </p:txBody>
      </p:sp>
      <p:sp>
        <p:nvSpPr>
          <p:cNvPr id="43" name="Text 40"/>
          <p:cNvSpPr txBox="1"/>
          <p:nvPr/>
        </p:nvSpPr>
        <p:spPr>
          <a:xfrm>
            <a:off x="6998034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güncelleme kontrolü</a:t>
            </a:r>
            <a:endParaRPr lang="en-US" sz="600" dirty="0"/>
          </a:p>
        </p:txBody>
      </p:sp>
      <p:sp>
        <p:nvSpPr>
          <p:cNvPr id="44" name="Text 41"/>
          <p:cNvSpPr txBox="1"/>
          <p:nvPr/>
        </p:nvSpPr>
        <p:spPr>
          <a:xfrm>
            <a:off x="8546374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yok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10094715" y="28359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yok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76656" y="303276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47" name="Shape 44"/>
          <p:cNvSpPr/>
          <p:nvPr/>
        </p:nvSpPr>
        <p:spPr>
          <a:xfrm>
            <a:off x="676656" y="303276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Çalışma biçimi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2353012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Kendi sunucunda web uygulaması</a:t>
            </a:r>
            <a:endParaRPr lang="en-US" sz="600" dirty="0"/>
          </a:p>
        </p:txBody>
      </p:sp>
      <p:sp>
        <p:nvSpPr>
          <p:cNvPr id="50" name="Text 47"/>
          <p:cNvSpPr txBox="1"/>
          <p:nvPr/>
        </p:nvSpPr>
        <p:spPr>
          <a:xfrm>
            <a:off x="3901353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Mobil + masaüstü + donanım</a:t>
            </a:r>
            <a:endParaRPr lang="en-US" sz="600" dirty="0"/>
          </a:p>
        </p:txBody>
      </p:sp>
      <p:sp>
        <p:nvSpPr>
          <p:cNvPr id="51" name="Text 48"/>
          <p:cNvSpPr txBox="1"/>
          <p:nvPr/>
        </p:nvSpPr>
        <p:spPr>
          <a:xfrm>
            <a:off x="5449693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Masaüstü uygulaması</a:t>
            </a:r>
            <a:endParaRPr lang="en-US" sz="600" dirty="0"/>
          </a:p>
        </p:txBody>
      </p:sp>
      <p:sp>
        <p:nvSpPr>
          <p:cNvPr id="52" name="Text 49"/>
          <p:cNvSpPr txBox="1"/>
          <p:nvPr/>
        </p:nvSpPr>
        <p:spPr>
          <a:xfrm>
            <a:off x="6998034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Windows masaüstü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8546374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Kendi sunucunda web uygulaması</a:t>
            </a:r>
            <a:endParaRPr lang="en-US" sz="600" dirty="0"/>
          </a:p>
        </p:txBody>
      </p:sp>
      <p:sp>
        <p:nvSpPr>
          <p:cNvPr id="54" name="Text 51"/>
          <p:cNvSpPr txBox="1"/>
          <p:nvPr/>
        </p:nvSpPr>
        <p:spPr>
          <a:xfrm>
            <a:off x="10094715" y="30874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CLI (+ Zenmap)</a:t>
            </a:r>
            <a:endParaRPr lang="en-US" sz="600" dirty="0"/>
          </a:p>
        </p:txBody>
      </p:sp>
      <p:sp>
        <p:nvSpPr>
          <p:cNvPr id="55" name="Shape 52"/>
          <p:cNvSpPr/>
          <p:nvPr/>
        </p:nvSpPr>
        <p:spPr>
          <a:xfrm>
            <a:off x="676656" y="328422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4672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ARP katman-2 keşfi</a:t>
            </a:r>
            <a:endParaRPr lang="en-US" sz="600" dirty="0"/>
          </a:p>
        </p:txBody>
      </p:sp>
      <p:sp>
        <p:nvSpPr>
          <p:cNvPr id="57" name="Text 54"/>
          <p:cNvSpPr txBox="1"/>
          <p:nvPr/>
        </p:nvSpPr>
        <p:spPr>
          <a:xfrm>
            <a:off x="2353012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ham + yedek</a:t>
            </a:r>
            <a:endParaRPr lang="en-US" sz="600" dirty="0"/>
          </a:p>
        </p:txBody>
      </p:sp>
      <p:sp>
        <p:nvSpPr>
          <p:cNvPr id="58" name="Text 55"/>
          <p:cNvSpPr txBox="1"/>
          <p:nvPr/>
        </p:nvSpPr>
        <p:spPr>
          <a:xfrm>
            <a:off x="3901353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5449693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ping + port</a:t>
            </a:r>
            <a:endParaRPr lang="en-US" sz="600" dirty="0"/>
          </a:p>
        </p:txBody>
      </p:sp>
      <p:sp>
        <p:nvSpPr>
          <p:cNvPr id="60" name="Text 57"/>
          <p:cNvSpPr txBox="1"/>
          <p:nvPr/>
        </p:nvSpPr>
        <p:spPr>
          <a:xfrm>
            <a:off x="6998034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61" name="Text 58"/>
          <p:cNvSpPr txBox="1"/>
          <p:nvPr/>
        </p:nvSpPr>
        <p:spPr>
          <a:xfrm>
            <a:off x="8546374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62" name="Text 59"/>
          <p:cNvSpPr txBox="1"/>
          <p:nvPr/>
        </p:nvSpPr>
        <p:spPr>
          <a:xfrm>
            <a:off x="10094715" y="33389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63" name="Shape 60"/>
          <p:cNvSpPr/>
          <p:nvPr/>
        </p:nvSpPr>
        <p:spPr>
          <a:xfrm>
            <a:off x="676656" y="353568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64" name="Shape 61"/>
          <p:cNvSpPr/>
          <p:nvPr/>
        </p:nvSpPr>
        <p:spPr>
          <a:xfrm>
            <a:off x="676656" y="353568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04672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mDNS / SSDP / UPnP</a:t>
            </a:r>
            <a:endParaRPr lang="en-US" sz="600" dirty="0"/>
          </a:p>
        </p:txBody>
      </p:sp>
      <p:sp>
        <p:nvSpPr>
          <p:cNvPr id="66" name="Text 63"/>
          <p:cNvSpPr txBox="1"/>
          <p:nvPr/>
        </p:nvSpPr>
        <p:spPr>
          <a:xfrm>
            <a:off x="2353012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67" name="Text 64"/>
          <p:cNvSpPr txBox="1"/>
          <p:nvPr/>
        </p:nvSpPr>
        <p:spPr>
          <a:xfrm>
            <a:off x="3901353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68" name="Text 65"/>
          <p:cNvSpPr txBox="1"/>
          <p:nvPr/>
        </p:nvSpPr>
        <p:spPr>
          <a:xfrm>
            <a:off x="5449693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69" name="Text 66"/>
          <p:cNvSpPr txBox="1"/>
          <p:nvPr/>
        </p:nvSpPr>
        <p:spPr>
          <a:xfrm>
            <a:off x="6998034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endParaRPr lang="en-US" sz="600" dirty="0"/>
          </a:p>
        </p:txBody>
      </p:sp>
      <p:sp>
        <p:nvSpPr>
          <p:cNvPr id="70" name="Text 67"/>
          <p:cNvSpPr txBox="1"/>
          <p:nvPr/>
        </p:nvSpPr>
        <p:spPr>
          <a:xfrm>
            <a:off x="8546374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endParaRPr lang="en-US" sz="600" dirty="0"/>
          </a:p>
        </p:txBody>
      </p:sp>
      <p:sp>
        <p:nvSpPr>
          <p:cNvPr id="71" name="Text 68"/>
          <p:cNvSpPr txBox="1"/>
          <p:nvPr/>
        </p:nvSpPr>
        <p:spPr>
          <a:xfrm>
            <a:off x="10094715" y="35903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script ile</a:t>
            </a:r>
            <a:endParaRPr lang="en-US" sz="600" dirty="0"/>
          </a:p>
        </p:txBody>
      </p:sp>
      <p:sp>
        <p:nvSpPr>
          <p:cNvPr id="72" name="Shape 69"/>
          <p:cNvSpPr/>
          <p:nvPr/>
        </p:nvSpPr>
        <p:spPr>
          <a:xfrm>
            <a:off x="676656" y="378714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04672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Matter</a:t>
            </a:r>
            <a:endParaRPr lang="en-US" sz="600" dirty="0"/>
          </a:p>
        </p:txBody>
      </p:sp>
      <p:sp>
        <p:nvSpPr>
          <p:cNvPr id="74" name="Text 71"/>
          <p:cNvSpPr txBox="1"/>
          <p:nvPr/>
        </p:nvSpPr>
        <p:spPr>
          <a:xfrm>
            <a:off x="2353012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_matter._tcp</a:t>
            </a:r>
            <a:endParaRPr lang="en-US" sz="600" dirty="0"/>
          </a:p>
        </p:txBody>
      </p:sp>
      <p:sp>
        <p:nvSpPr>
          <p:cNvPr id="75" name="Text 72"/>
          <p:cNvSpPr txBox="1"/>
          <p:nvPr/>
        </p:nvSpPr>
        <p:spPr>
          <a:xfrm>
            <a:off x="3901353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endParaRPr lang="en-US" sz="600" dirty="0"/>
          </a:p>
        </p:txBody>
      </p:sp>
      <p:sp>
        <p:nvSpPr>
          <p:cNvPr id="76" name="Text 73"/>
          <p:cNvSpPr txBox="1"/>
          <p:nvPr/>
        </p:nvSpPr>
        <p:spPr>
          <a:xfrm>
            <a:off x="5449693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77" name="Text 74"/>
          <p:cNvSpPr txBox="1"/>
          <p:nvPr/>
        </p:nvSpPr>
        <p:spPr>
          <a:xfrm>
            <a:off x="6998034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78" name="Text 75"/>
          <p:cNvSpPr txBox="1"/>
          <p:nvPr/>
        </p:nvSpPr>
        <p:spPr>
          <a:xfrm>
            <a:off x="8546374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79" name="Text 76"/>
          <p:cNvSpPr txBox="1"/>
          <p:nvPr/>
        </p:nvSpPr>
        <p:spPr>
          <a:xfrm>
            <a:off x="10094715" y="38418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80" name="Shape 77"/>
          <p:cNvSpPr/>
          <p:nvPr/>
        </p:nvSpPr>
        <p:spPr>
          <a:xfrm>
            <a:off x="676656" y="403860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81" name="Shape 78"/>
          <p:cNvSpPr/>
          <p:nvPr/>
        </p:nvSpPr>
        <p:spPr>
          <a:xfrm>
            <a:off x="676656" y="403860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04672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Bluetooth LE ★</a:t>
            </a:r>
            <a:endParaRPr lang="en-US" sz="600" dirty="0"/>
          </a:p>
        </p:txBody>
      </p:sp>
      <p:sp>
        <p:nvSpPr>
          <p:cNvPr id="83" name="Text 80"/>
          <p:cNvSpPr txBox="1"/>
          <p:nvPr/>
        </p:nvSpPr>
        <p:spPr>
          <a:xfrm>
            <a:off x="2353012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84" name="Text 81"/>
          <p:cNvSpPr txBox="1"/>
          <p:nvPr/>
        </p:nvSpPr>
        <p:spPr>
          <a:xfrm>
            <a:off x="3901353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yalnızca mobil</a:t>
            </a:r>
            <a:endParaRPr lang="en-US" sz="600" dirty="0"/>
          </a:p>
        </p:txBody>
      </p:sp>
      <p:sp>
        <p:nvSpPr>
          <p:cNvPr id="85" name="Text 82"/>
          <p:cNvSpPr txBox="1"/>
          <p:nvPr/>
        </p:nvSpPr>
        <p:spPr>
          <a:xfrm>
            <a:off x="5449693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86" name="Text 83"/>
          <p:cNvSpPr txBox="1"/>
          <p:nvPr/>
        </p:nvSpPr>
        <p:spPr>
          <a:xfrm>
            <a:off x="6998034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87" name="Text 84"/>
          <p:cNvSpPr txBox="1"/>
          <p:nvPr/>
        </p:nvSpPr>
        <p:spPr>
          <a:xfrm>
            <a:off x="8546374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88" name="Text 85"/>
          <p:cNvSpPr txBox="1"/>
          <p:nvPr/>
        </p:nvSpPr>
        <p:spPr>
          <a:xfrm>
            <a:off x="10094715" y="40932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89" name="Shape 86"/>
          <p:cNvSpPr/>
          <p:nvPr/>
        </p:nvSpPr>
        <p:spPr>
          <a:xfrm>
            <a:off x="676656" y="429006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804672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MQTT ile Zigbee / Z-Wave ★</a:t>
            </a:r>
            <a:endParaRPr lang="en-US" sz="600" dirty="0"/>
          </a:p>
        </p:txBody>
      </p:sp>
      <p:sp>
        <p:nvSpPr>
          <p:cNvPr id="91" name="Text 88"/>
          <p:cNvSpPr txBox="1"/>
          <p:nvPr/>
        </p:nvSpPr>
        <p:spPr>
          <a:xfrm>
            <a:off x="2353012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92" name="Text 89"/>
          <p:cNvSpPr txBox="1"/>
          <p:nvPr/>
        </p:nvSpPr>
        <p:spPr>
          <a:xfrm>
            <a:off x="3901353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93" name="Text 90"/>
          <p:cNvSpPr txBox="1"/>
          <p:nvPr/>
        </p:nvSpPr>
        <p:spPr>
          <a:xfrm>
            <a:off x="5449693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94" name="Text 91"/>
          <p:cNvSpPr txBox="1"/>
          <p:nvPr/>
        </p:nvSpPr>
        <p:spPr>
          <a:xfrm>
            <a:off x="6998034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95" name="Text 92"/>
          <p:cNvSpPr txBox="1"/>
          <p:nvPr/>
        </p:nvSpPr>
        <p:spPr>
          <a:xfrm>
            <a:off x="8546374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96" name="Text 93"/>
          <p:cNvSpPr txBox="1"/>
          <p:nvPr/>
        </p:nvSpPr>
        <p:spPr>
          <a:xfrm>
            <a:off x="10094715" y="43447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97" name="Shape 94"/>
          <p:cNvSpPr/>
          <p:nvPr/>
        </p:nvSpPr>
        <p:spPr>
          <a:xfrm>
            <a:off x="676656" y="454152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98" name="Shape 95"/>
          <p:cNvSpPr/>
          <p:nvPr/>
        </p:nvSpPr>
        <p:spPr>
          <a:xfrm>
            <a:off x="676656" y="454152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804672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Docker konteyner ve ağları ★</a:t>
            </a:r>
            <a:endParaRPr lang="en-US" sz="600" dirty="0"/>
          </a:p>
        </p:txBody>
      </p:sp>
      <p:sp>
        <p:nvSpPr>
          <p:cNvPr id="100" name="Text 97"/>
          <p:cNvSpPr txBox="1"/>
          <p:nvPr/>
        </p:nvSpPr>
        <p:spPr>
          <a:xfrm>
            <a:off x="2353012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endParaRPr lang="en-US" sz="600" dirty="0"/>
          </a:p>
        </p:txBody>
      </p:sp>
      <p:sp>
        <p:nvSpPr>
          <p:cNvPr id="101" name="Text 98"/>
          <p:cNvSpPr txBox="1"/>
          <p:nvPr/>
        </p:nvSpPr>
        <p:spPr>
          <a:xfrm>
            <a:off x="3901353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02" name="Text 99"/>
          <p:cNvSpPr txBox="1"/>
          <p:nvPr/>
        </p:nvSpPr>
        <p:spPr>
          <a:xfrm>
            <a:off x="5449693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03" name="Text 100"/>
          <p:cNvSpPr txBox="1"/>
          <p:nvPr/>
        </p:nvSpPr>
        <p:spPr>
          <a:xfrm>
            <a:off x="6998034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04" name="Text 101"/>
          <p:cNvSpPr txBox="1"/>
          <p:nvPr/>
        </p:nvSpPr>
        <p:spPr>
          <a:xfrm>
            <a:off x="8546374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05" name="Text 102"/>
          <p:cNvSpPr txBox="1"/>
          <p:nvPr/>
        </p:nvSpPr>
        <p:spPr>
          <a:xfrm>
            <a:off x="10094715" y="45962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06" name="Shape 103"/>
          <p:cNvSpPr/>
          <p:nvPr/>
        </p:nvSpPr>
        <p:spPr>
          <a:xfrm>
            <a:off x="676656" y="479298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804672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Sürekli izleme + uyarı</a:t>
            </a:r>
            <a:endParaRPr lang="en-US" sz="600" dirty="0"/>
          </a:p>
        </p:txBody>
      </p:sp>
      <p:sp>
        <p:nvSpPr>
          <p:cNvPr id="108" name="Text 105"/>
          <p:cNvSpPr txBox="1"/>
          <p:nvPr/>
        </p:nvSpPr>
        <p:spPr>
          <a:xfrm>
            <a:off x="2353012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8 kural tipi</a:t>
            </a:r>
            <a:endParaRPr lang="en-US" sz="600" dirty="0"/>
          </a:p>
        </p:txBody>
      </p:sp>
      <p:sp>
        <p:nvSpPr>
          <p:cNvPr id="109" name="Text 106"/>
          <p:cNvSpPr txBox="1"/>
          <p:nvPr/>
        </p:nvSpPr>
        <p:spPr>
          <a:xfrm>
            <a:off x="3901353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kutu / premium</a:t>
            </a:r>
            <a:endParaRPr lang="en-US" sz="600" dirty="0"/>
          </a:p>
        </p:txBody>
      </p:sp>
      <p:sp>
        <p:nvSpPr>
          <p:cNvPr id="110" name="Text 107"/>
          <p:cNvSpPr txBox="1"/>
          <p:nvPr/>
        </p:nvSpPr>
        <p:spPr>
          <a:xfrm>
            <a:off x="5449693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11" name="Text 108"/>
          <p:cNvSpPr txBox="1"/>
          <p:nvPr/>
        </p:nvSpPr>
        <p:spPr>
          <a:xfrm>
            <a:off x="6998034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12" name="Text 109"/>
          <p:cNvSpPr txBox="1"/>
          <p:nvPr/>
        </p:nvSpPr>
        <p:spPr>
          <a:xfrm>
            <a:off x="8546374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çekirdek özelliği</a:t>
            </a:r>
            <a:endParaRPr lang="en-US" sz="600" dirty="0"/>
          </a:p>
        </p:txBody>
      </p:sp>
      <p:sp>
        <p:nvSpPr>
          <p:cNvPr id="113" name="Text 110"/>
          <p:cNvSpPr txBox="1"/>
          <p:nvPr/>
        </p:nvSpPr>
        <p:spPr>
          <a:xfrm>
            <a:off x="10094715" y="48476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14" name="Shape 111"/>
          <p:cNvSpPr/>
          <p:nvPr/>
        </p:nvSpPr>
        <p:spPr>
          <a:xfrm>
            <a:off x="676656" y="504444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115" name="Shape 112"/>
          <p:cNvSpPr/>
          <p:nvPr/>
        </p:nvSpPr>
        <p:spPr>
          <a:xfrm>
            <a:off x="676656" y="504444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804672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Home Assistant entegrasyonu</a:t>
            </a:r>
            <a:endParaRPr lang="en-US" sz="600" dirty="0"/>
          </a:p>
        </p:txBody>
      </p:sp>
      <p:sp>
        <p:nvSpPr>
          <p:cNvPr id="117" name="Text 114"/>
          <p:cNvSpPr txBox="1"/>
          <p:nvPr/>
        </p:nvSpPr>
        <p:spPr>
          <a:xfrm>
            <a:off x="2353012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MQTT Discovery + eklenti</a:t>
            </a:r>
            <a:endParaRPr lang="en-US" sz="600" dirty="0"/>
          </a:p>
        </p:txBody>
      </p:sp>
      <p:sp>
        <p:nvSpPr>
          <p:cNvPr id="118" name="Text 115"/>
          <p:cNvSpPr txBox="1"/>
          <p:nvPr/>
        </p:nvSpPr>
        <p:spPr>
          <a:xfrm>
            <a:off x="3901353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19" name="Text 116"/>
          <p:cNvSpPr txBox="1"/>
          <p:nvPr/>
        </p:nvSpPr>
        <p:spPr>
          <a:xfrm>
            <a:off x="5449693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20" name="Text 117"/>
          <p:cNvSpPr txBox="1"/>
          <p:nvPr/>
        </p:nvSpPr>
        <p:spPr>
          <a:xfrm>
            <a:off x="6998034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21" name="Text 118"/>
          <p:cNvSpPr txBox="1"/>
          <p:nvPr/>
        </p:nvSpPr>
        <p:spPr>
          <a:xfrm>
            <a:off x="8546374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topluluk</a:t>
            </a:r>
            <a:endParaRPr lang="en-US" sz="600" dirty="0"/>
          </a:p>
        </p:txBody>
      </p:sp>
      <p:sp>
        <p:nvSpPr>
          <p:cNvPr id="122" name="Text 119"/>
          <p:cNvSpPr txBox="1"/>
          <p:nvPr/>
        </p:nvSpPr>
        <p:spPr>
          <a:xfrm>
            <a:off x="10094715" y="509912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23" name="Shape 120"/>
          <p:cNvSpPr/>
          <p:nvPr/>
        </p:nvSpPr>
        <p:spPr>
          <a:xfrm>
            <a:off x="676656" y="529590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804672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Görünümler</a:t>
            </a:r>
            <a:endParaRPr lang="en-US" sz="600" dirty="0"/>
          </a:p>
        </p:txBody>
      </p:sp>
      <p:sp>
        <p:nvSpPr>
          <p:cNvPr id="125" name="Text 122"/>
          <p:cNvSpPr txBox="1"/>
          <p:nvPr/>
        </p:nvSpPr>
        <p:spPr>
          <a:xfrm>
            <a:off x="2353012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Kart, tablo, 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grafik, topoloji, ev planı</a:t>
            </a:r>
            <a:endParaRPr lang="en-US" sz="600" dirty="0"/>
          </a:p>
        </p:txBody>
      </p:sp>
      <p:sp>
        <p:nvSpPr>
          <p:cNvPr id="126" name="Text 123"/>
          <p:cNvSpPr txBox="1"/>
          <p:nvPr/>
        </p:nvSpPr>
        <p:spPr>
          <a:xfrm>
            <a:off x="3901353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Liste</a:t>
            </a:r>
            <a:endParaRPr lang="en-US" sz="600" dirty="0"/>
          </a:p>
        </p:txBody>
      </p:sp>
      <p:sp>
        <p:nvSpPr>
          <p:cNvPr id="127" name="Text 124"/>
          <p:cNvSpPr txBox="1"/>
          <p:nvPr/>
        </p:nvSpPr>
        <p:spPr>
          <a:xfrm>
            <a:off x="5449693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Liste</a:t>
            </a:r>
            <a:endParaRPr lang="en-US" sz="600" dirty="0"/>
          </a:p>
        </p:txBody>
      </p:sp>
      <p:sp>
        <p:nvSpPr>
          <p:cNvPr id="128" name="Text 125"/>
          <p:cNvSpPr txBox="1"/>
          <p:nvPr/>
        </p:nvSpPr>
        <p:spPr>
          <a:xfrm>
            <a:off x="6998034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Liste</a:t>
            </a:r>
            <a:endParaRPr lang="en-US" sz="600" dirty="0"/>
          </a:p>
        </p:txBody>
      </p:sp>
      <p:sp>
        <p:nvSpPr>
          <p:cNvPr id="129" name="Text 126"/>
          <p:cNvSpPr txBox="1"/>
          <p:nvPr/>
        </p:nvSpPr>
        <p:spPr>
          <a:xfrm>
            <a:off x="8546374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Liste</a:t>
            </a: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10094715" y="535058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Zenmap topolojisi</a:t>
            </a:r>
            <a:endParaRPr lang="en-US" sz="600" dirty="0"/>
          </a:p>
        </p:txBody>
      </p:sp>
      <p:sp>
        <p:nvSpPr>
          <p:cNvPr id="131" name="Shape 128"/>
          <p:cNvSpPr/>
          <p:nvPr/>
        </p:nvSpPr>
        <p:spPr>
          <a:xfrm>
            <a:off x="676656" y="554736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132" name="Shape 129"/>
          <p:cNvSpPr/>
          <p:nvPr/>
        </p:nvSpPr>
        <p:spPr>
          <a:xfrm>
            <a:off x="676656" y="554736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804672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Yerel mobil uygulama</a:t>
            </a: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2353012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iOS + Android + PWA</a:t>
            </a:r>
            <a:endParaRPr lang="en-US" sz="600" dirty="0"/>
          </a:p>
        </p:txBody>
      </p:sp>
      <p:sp>
        <p:nvSpPr>
          <p:cNvPr id="135" name="Text 132"/>
          <p:cNvSpPr txBox="1"/>
          <p:nvPr/>
        </p:nvSpPr>
        <p:spPr>
          <a:xfrm>
            <a:off x="3901353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native</a:t>
            </a:r>
            <a:endParaRPr lang="en-US" sz="600" dirty="0"/>
          </a:p>
        </p:txBody>
      </p:sp>
      <p:sp>
        <p:nvSpPr>
          <p:cNvPr id="136" name="Text 133"/>
          <p:cNvSpPr txBox="1"/>
          <p:nvPr/>
        </p:nvSpPr>
        <p:spPr>
          <a:xfrm>
            <a:off x="5449693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37" name="Text 134"/>
          <p:cNvSpPr txBox="1"/>
          <p:nvPr/>
        </p:nvSpPr>
        <p:spPr>
          <a:xfrm>
            <a:off x="6998034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38" name="Text 135"/>
          <p:cNvSpPr txBox="1"/>
          <p:nvPr/>
        </p:nvSpPr>
        <p:spPr>
          <a:xfrm>
            <a:off x="8546374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PWA</a:t>
            </a:r>
            <a:endParaRPr lang="en-US" sz="600" dirty="0"/>
          </a:p>
        </p:txBody>
      </p:sp>
      <p:sp>
        <p:nvSpPr>
          <p:cNvPr id="139" name="Text 136"/>
          <p:cNvSpPr txBox="1"/>
          <p:nvPr/>
        </p:nvSpPr>
        <p:spPr>
          <a:xfrm>
            <a:off x="10094715" y="560204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40" name="Shape 137"/>
          <p:cNvSpPr/>
          <p:nvPr/>
        </p:nvSpPr>
        <p:spPr>
          <a:xfrm>
            <a:off x="676656" y="579882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804672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Cihaz parmak izi derinliği</a:t>
            </a:r>
            <a:endParaRPr lang="en-US" sz="600" dirty="0"/>
          </a:p>
        </p:txBody>
      </p:sp>
      <p:sp>
        <p:nvSpPr>
          <p:cNvPr id="142" name="Text 139"/>
          <p:cNvSpPr txBox="1"/>
          <p:nvPr/>
        </p:nvSpPr>
        <p:spPr>
          <a:xfrm>
            <a:off x="2353012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OUI + sezgisel + AI</a:t>
            </a:r>
            <a:endParaRPr lang="en-US" sz="600" dirty="0"/>
          </a:p>
        </p:txBody>
      </p:sp>
      <p:sp>
        <p:nvSpPr>
          <p:cNvPr id="143" name="Text 140"/>
          <p:cNvSpPr txBox="1"/>
          <p:nvPr/>
        </p:nvSpPr>
        <p:spPr>
          <a:xfrm>
            <a:off x="3901353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kitle kaynaklı, en büyük</a:t>
            </a:r>
            <a:endParaRPr lang="en-US" sz="600" dirty="0"/>
          </a:p>
        </p:txBody>
      </p:sp>
      <p:sp>
        <p:nvSpPr>
          <p:cNvPr id="144" name="Text 141"/>
          <p:cNvSpPr txBox="1"/>
          <p:nvPr/>
        </p:nvSpPr>
        <p:spPr>
          <a:xfrm>
            <a:off x="5449693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45" name="Text 142"/>
          <p:cNvSpPr txBox="1"/>
          <p:nvPr/>
        </p:nvSpPr>
        <p:spPr>
          <a:xfrm>
            <a:off x="6998034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C3F4A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✕</a:t>
            </a:r>
            <a:endParaRPr lang="en-US" sz="600" dirty="0"/>
          </a:p>
        </p:txBody>
      </p:sp>
      <p:sp>
        <p:nvSpPr>
          <p:cNvPr id="146" name="Text 143"/>
          <p:cNvSpPr txBox="1"/>
          <p:nvPr/>
        </p:nvSpPr>
        <p:spPr>
          <a:xfrm>
            <a:off x="8546374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endParaRPr lang="en-US" sz="600" dirty="0"/>
          </a:p>
        </p:txBody>
      </p:sp>
      <p:sp>
        <p:nvSpPr>
          <p:cNvPr id="147" name="Text 144"/>
          <p:cNvSpPr txBox="1"/>
          <p:nvPr/>
        </p:nvSpPr>
        <p:spPr>
          <a:xfrm>
            <a:off x="10094715" y="585350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7A05C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sınıfının en iyisi</a:t>
            </a:r>
            <a:endParaRPr lang="en-US" sz="600" dirty="0"/>
          </a:p>
        </p:txBody>
      </p:sp>
      <p:sp>
        <p:nvSpPr>
          <p:cNvPr id="148" name="Shape 145"/>
          <p:cNvSpPr/>
          <p:nvPr/>
        </p:nvSpPr>
        <p:spPr>
          <a:xfrm>
            <a:off x="676656" y="6050280"/>
            <a:ext cx="10838383" cy="251460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149" name="Shape 146"/>
          <p:cNvSpPr/>
          <p:nvPr/>
        </p:nvSpPr>
        <p:spPr>
          <a:xfrm>
            <a:off x="676656" y="605028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150" name="Text 147"/>
          <p:cNvSpPr txBox="1"/>
          <p:nvPr/>
        </p:nvSpPr>
        <p:spPr>
          <a:xfrm>
            <a:off x="804672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Olgunluk</a:t>
            </a:r>
            <a:endParaRPr lang="en-US" sz="600" dirty="0"/>
          </a:p>
        </p:txBody>
      </p:sp>
      <p:sp>
        <p:nvSpPr>
          <p:cNvPr id="151" name="Text 148"/>
          <p:cNvSpPr txBox="1"/>
          <p:nvPr/>
        </p:nvSpPr>
        <p:spPr>
          <a:xfrm>
            <a:off x="2353012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Genç · 2025– · tek geliştirici</a:t>
            </a:r>
            <a:endParaRPr lang="en-US" sz="600" dirty="0"/>
          </a:p>
        </p:txBody>
      </p:sp>
      <p:sp>
        <p:nvSpPr>
          <p:cNvPr id="152" name="Text 149"/>
          <p:cNvSpPr txBox="1"/>
          <p:nvPr/>
        </p:nvSpPr>
        <p:spPr>
          <a:xfrm>
            <a:off x="3901353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15 yıl · bir şirket</a:t>
            </a:r>
            <a:endParaRPr lang="en-US" sz="600" dirty="0"/>
          </a:p>
        </p:txBody>
      </p:sp>
      <p:sp>
        <p:nvSpPr>
          <p:cNvPr id="153" name="Text 150"/>
          <p:cNvSpPr txBox="1"/>
          <p:nvPr/>
        </p:nvSpPr>
        <p:spPr>
          <a:xfrm>
            <a:off x="5449693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20 yıl</a:t>
            </a:r>
            <a:endParaRPr lang="en-US" sz="600" dirty="0"/>
          </a:p>
        </p:txBody>
      </p:sp>
      <p:sp>
        <p:nvSpPr>
          <p:cNvPr id="154" name="Text 151"/>
          <p:cNvSpPr txBox="1"/>
          <p:nvPr/>
        </p:nvSpPr>
        <p:spPr>
          <a:xfrm>
            <a:off x="6998034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15 yıl</a:t>
            </a:r>
            <a:endParaRPr lang="en-US" sz="600" dirty="0"/>
          </a:p>
        </p:txBody>
      </p:sp>
      <p:sp>
        <p:nvSpPr>
          <p:cNvPr id="155" name="Text 152"/>
          <p:cNvSpPr txBox="1"/>
          <p:nvPr/>
        </p:nvSpPr>
        <p:spPr>
          <a:xfrm>
            <a:off x="8546374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Birkaç yıl, aktif</a:t>
            </a:r>
            <a:endParaRPr lang="en-US" sz="600" dirty="0"/>
          </a:p>
        </p:txBody>
      </p:sp>
      <p:sp>
        <p:nvSpPr>
          <p:cNvPr id="156" name="Text 153"/>
          <p:cNvSpPr txBox="1"/>
          <p:nvPr/>
        </p:nvSpPr>
        <p:spPr>
          <a:xfrm>
            <a:off x="10094715" y="6104961"/>
            <a:ext cx="1292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98A1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25 yıl</a:t>
            </a:r>
            <a:endParaRPr lang="en-US" sz="600" dirty="0"/>
          </a:p>
        </p:txBody>
      </p:sp>
      <p:sp>
        <p:nvSpPr>
          <p:cNvPr id="157" name="Shape 154"/>
          <p:cNvSpPr/>
          <p:nvPr/>
        </p:nvSpPr>
        <p:spPr>
          <a:xfrm>
            <a:off x="676656" y="1871472"/>
            <a:ext cx="10838383" cy="4430268"/>
          </a:xfrm>
          <a:prstGeom prst="rect">
            <a:avLst/>
          </a:prstGeom>
          <a:ln w="11430">
            <a:solidFill>
              <a:srgbClr val="E2E7EF"/>
            </a:solidFill>
            <a:prstDash val="solid"/>
          </a:ln>
        </p:spPr>
      </p:sp>
      <p:sp>
        <p:nvSpPr>
          <p:cNvPr id="158" name="Text 155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67741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67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Pazar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8497"/>
            <a:ext cx="1080820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43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MyNeS nerede kazanıyor — ve nerede başkasını kullanmalısın.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92539"/>
            <a:ext cx="516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A05C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Kazandığı yerler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6656" y="1989938"/>
            <a:ext cx="5163160" cy="0"/>
          </a:xfrm>
          <a:prstGeom prst="line">
            <a:avLst/>
          </a:prstGeom>
          <a:noFill/>
          <a:ln w="20320">
            <a:solidFill>
              <a:srgbClr val="17A0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660" y="2201164"/>
            <a:ext cx="72009" cy="72009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2125726"/>
            <a:ext cx="4925416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Başka hiçbir şeyin görmediğini görür.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Bluetooth LE, Zigbee, Z-Wave ve Matter matristeki diğer tüm araçlara görünmez. 2026 akıllı evinde bu çoğu zaman cihazların üçte biridir.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08660" y="2654554"/>
            <a:ext cx="72009" cy="72009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" y="2579116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Kendi sunucunda, hesapsız, telemetrisiz.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AGPL-3.0, tek konteyner, zaten sahip olduğun donanımda.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08660" y="2972689"/>
            <a:ext cx="72009" cy="72009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2897251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Home Assistant yerel bir hedeftir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MQTT Discovery push, REST pull ve resmi bir eklenti deposu.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08660" y="3290824"/>
            <a:ext cx="72009" cy="72009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3215386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Grafik, topoloji ve ev planı görünümleri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kategoride hiçbir rakibin sunmadığı üç görünüm.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8660" y="3608959"/>
            <a:ext cx="72009" cy="72009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4400" y="3533521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 farkındalığı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konteynerler ve sanal ağları, host'larının altında.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08660" y="3927094"/>
            <a:ext cx="72009" cy="72009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4400" y="3851656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Yapamadığını söyler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— sessizce daha az cihaz bulmak yerine </a:t>
            </a:r>
            <a:pPr algn="l" indent="0" marL="0">
              <a:lnSpc>
                <a:spcPts val="1065"/>
              </a:lnSpc>
              <a:buNone/>
            </a:pPr>
            <a:r>
              <a:rPr lang="en-US" sz="675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/api/capabilities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6351880" y="1592539"/>
            <a:ext cx="516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98A1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Kazanmadığı yerler — başkasını kullan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51880" y="1989938"/>
            <a:ext cx="5163160" cy="0"/>
          </a:xfrm>
          <a:prstGeom prst="line">
            <a:avLst/>
          </a:prstGeom>
          <a:noFill/>
          <a:ln w="20320">
            <a:solidFill>
              <a:srgbClr val="D98A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83884" y="2201164"/>
            <a:ext cx="72009" cy="72009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89624" y="2125726"/>
            <a:ext cx="4925416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Cihaz parmak izi.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Fing'in kitle kaynaklı veritabanı çok daha büyük; sıra dışı donanım daha sık bilinmez kalır. En büyük dürüst açık budur.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383884" y="2654554"/>
            <a:ext cx="72009" cy="72009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89624" y="2579116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WAN tarafı araçlar.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İnternet hız testi, ISP kesinti tespiti, bant genişliği analizi yok. → Fing / Fingbox.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383884" y="2972689"/>
            <a:ext cx="72009" cy="72009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89624" y="2897251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Müdahale.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MyNeS gözlemler; cihaz engellemez, trafik şekillendirmez. → Fingbox ya da router'ın.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383884" y="3290824"/>
            <a:ext cx="72009" cy="72009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589624" y="3215386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Tek dokunuşla kurulum.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Fing tek dokunuş; MyNeS bir konteyner, host ağı ve bir yetki konuşmasıdır.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383884" y="3608959"/>
            <a:ext cx="72009" cy="72009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589624" y="3533521"/>
            <a:ext cx="4925416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Büyük ağlar.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Bir </a:t>
            </a:r>
            <a:pPr algn="l" indent="0" marL="0">
              <a:lnSpc>
                <a:spcPts val="1065"/>
              </a:lnSpc>
              <a:buNone/>
            </a:pPr>
            <a:r>
              <a:rPr lang="en-US" sz="675" dirty="0">
                <a:solidFill>
                  <a:srgbClr val="141A24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/16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üzerinde Python ve Flask saniyeler değil dakikalar demektir. Bu bir ev ağı aracıdır, kampüs aracı değil.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383884" y="4062349"/>
            <a:ext cx="72009" cy="72009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589624" y="3986911"/>
            <a:ext cx="4925416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Olgunluk.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Genç proje, tek geliştirici, on yıllık sertleşme yok. → Savaşta sınanmış varlık tespiti için NetAlertX.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76656" y="4498442"/>
            <a:ext cx="10838383" cy="310896"/>
          </a:xfrm>
          <a:prstGeom prst="roundRect">
            <a:avLst>
              <a:gd name="adj" fmla="val 14706"/>
            </a:avLst>
          </a:prstGeom>
          <a:solidFill>
            <a:srgbClr val="EDF2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04672" y="4604634"/>
            <a:ext cx="72064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İhtiyacın…</a:t>
            </a:r>
            <a:endParaRPr lang="en-US" sz="600" dirty="0"/>
          </a:p>
        </p:txBody>
      </p:sp>
      <p:sp>
        <p:nvSpPr>
          <p:cNvPr id="42" name="Text 39"/>
          <p:cNvSpPr txBox="1"/>
          <p:nvPr/>
        </p:nvSpPr>
        <p:spPr>
          <a:xfrm>
            <a:off x="8267165" y="4604634"/>
            <a:ext cx="3119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Kullan</a:t>
            </a:r>
            <a:endParaRPr lang="en-US" sz="600" dirty="0"/>
          </a:p>
        </p:txBody>
      </p:sp>
      <p:sp>
        <p:nvSpPr>
          <p:cNvPr id="43" name="Shape 40"/>
          <p:cNvSpPr/>
          <p:nvPr/>
        </p:nvSpPr>
        <p:spPr>
          <a:xfrm>
            <a:off x="676656" y="4809338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04672" y="4891451"/>
            <a:ext cx="7206461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Zigbee, Z-Wave, BLE ve Matter'ı da gören, kendi sunucunda bir cihaz envanteri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8267165" y="4891451"/>
            <a:ext cx="31198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76656" y="5115662"/>
            <a:ext cx="10838383" cy="306324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47" name="Shape 44"/>
          <p:cNvSpPr/>
          <p:nvPr/>
        </p:nvSpPr>
        <p:spPr>
          <a:xfrm>
            <a:off x="676656" y="5115662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" y="5197775"/>
            <a:ext cx="7206461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Tutkal kod olmadan her cihazın Home Assistant'a düşmesi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8267165" y="5197775"/>
            <a:ext cx="31198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676656" y="5421986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04672" y="5504099"/>
            <a:ext cx="7206461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Hiçbir yerde sunucu olmadan, telefonda bir tarayıcı</a:t>
            </a:r>
            <a:endParaRPr lang="en-US" sz="600" dirty="0"/>
          </a:p>
        </p:txBody>
      </p:sp>
      <p:sp>
        <p:nvSpPr>
          <p:cNvPr id="52" name="Text 49"/>
          <p:cNvSpPr txBox="1"/>
          <p:nvPr/>
        </p:nvSpPr>
        <p:spPr>
          <a:xfrm>
            <a:off x="8267165" y="5504099"/>
            <a:ext cx="31198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 Mobile</a:t>
            </a:r>
            <a:endParaRPr lang="en-US" sz="600" dirty="0"/>
          </a:p>
        </p:txBody>
      </p:sp>
      <p:sp>
        <p:nvSpPr>
          <p:cNvPr id="53" name="Shape 50"/>
          <p:cNvSpPr/>
          <p:nvPr/>
        </p:nvSpPr>
        <p:spPr>
          <a:xfrm>
            <a:off x="676656" y="5728310"/>
            <a:ext cx="10838383" cy="306324"/>
          </a:xfrm>
          <a:prstGeom prst="rect">
            <a:avLst/>
          </a:prstGeom>
          <a:solidFill>
            <a:srgbClr val="FAFCFF"/>
          </a:solidFill>
          <a:ln/>
        </p:spPr>
      </p:sp>
      <p:sp>
        <p:nvSpPr>
          <p:cNvPr id="54" name="Shape 51"/>
          <p:cNvSpPr/>
          <p:nvPr/>
        </p:nvSpPr>
        <p:spPr>
          <a:xfrm>
            <a:off x="676656" y="5728310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04672" y="5810423"/>
            <a:ext cx="7206461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Hız testi, ISP izleme ya da ağ seviyesinde engelleme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8267165" y="5810423"/>
            <a:ext cx="31198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Fing / Fingbox</a:t>
            </a:r>
            <a:endParaRPr lang="en-US" sz="600" dirty="0"/>
          </a:p>
        </p:txBody>
      </p:sp>
      <p:sp>
        <p:nvSpPr>
          <p:cNvPr id="57" name="Shape 54"/>
          <p:cNvSpPr/>
          <p:nvPr/>
        </p:nvSpPr>
        <p:spPr>
          <a:xfrm>
            <a:off x="676656" y="6034634"/>
            <a:ext cx="10838383" cy="0"/>
          </a:xfrm>
          <a:prstGeom prst="line">
            <a:avLst/>
          </a:prstGeom>
          <a:noFill/>
          <a:ln w="7620">
            <a:solidFill>
              <a:srgbClr val="E2E7E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04672" y="6116747"/>
            <a:ext cx="7206461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141A2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Derin port ve servis sorgulaması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8267165" y="6116747"/>
            <a:ext cx="31198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nmap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76656" y="4498442"/>
            <a:ext cx="10838383" cy="1842516"/>
          </a:xfrm>
          <a:prstGeom prst="rect">
            <a:avLst/>
          </a:prstGeom>
          <a:ln w="11430">
            <a:solidFill>
              <a:srgbClr val="E2E7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12700">
            <a:solidFill>
              <a:srgbClr val="E2E7EF"/>
            </a:solidFill>
            <a:prstDash val="solid"/>
          </a:ln>
        </p:spPr>
      </p:sp>
      <p:pic>
        <p:nvPicPr>
          <p:cNvPr id="4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307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" y="129113"/>
            <a:ext cx="10058400" cy="62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b="1" spc="-2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1400" b="1" spc="-2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70074" y="205831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114" kern="0" dirty="0">
                <a:solidFill>
                  <a:srgbClr val="8C95A3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10718" y="155448"/>
            <a:ext cx="654006" cy="292608"/>
          </a:xfrm>
          <a:prstGeom prst="roundRect">
            <a:avLst>
              <a:gd name="adj" fmla="val 21875"/>
            </a:avLst>
          </a:prstGeom>
          <a:solidFill>
            <a:srgbClr val="EDF2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10718" y="215707"/>
            <a:ext cx="65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Başla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313871" y="269748"/>
            <a:ext cx="96012" cy="96012"/>
          </a:xfrm>
          <a:prstGeom prst="ellipse">
            <a:avLst/>
          </a:prstGeom>
          <a:solidFill>
            <a:srgbClr val="17A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3359" y="2187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860816"/>
            <a:ext cx="1080820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spc="-46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Beş giriş yolu — evine uyanı seç.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1542623"/>
            <a:ext cx="877824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Konteyner referans kurulumdur. Eklenti ve CasaOS kaynağı, kurulumu hazır gelen aynı imajdır; telefonun ise hiçbir sunucuya ihtiyacı yoktur.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2273582"/>
            <a:ext cx="344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6FF5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Docker · referans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" y="2648852"/>
            <a:ext cx="3442106" cy="1215771"/>
          </a:xfrm>
          <a:prstGeom prst="roundRect">
            <a:avLst>
              <a:gd name="adj" fmla="val 5265"/>
            </a:avLst>
          </a:prstGeom>
          <a:solidFill>
            <a:srgbClr val="0F1622"/>
          </a:solidFill>
          <a:ln w="9525">
            <a:solidFill>
              <a:srgbClr val="E2E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762603"/>
            <a:ext cx="3039770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# LAN'ı görmesini sağlayan şey host ağıdır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943578"/>
            <a:ext cx="3039770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8FF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docker</a:t>
            </a:r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compose up -d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3305528"/>
            <a:ext cx="3039770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# sonra aç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77824" y="3486503"/>
            <a:ext cx="3039770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http://&lt;sunucu-ip&gt;:5883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374794" y="2273582"/>
            <a:ext cx="344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A05C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Home Assistant eklentisi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74794" y="2648852"/>
            <a:ext cx="3442106" cy="996696"/>
          </a:xfrm>
          <a:prstGeom prst="roundRect">
            <a:avLst>
              <a:gd name="adj" fmla="val 6422"/>
            </a:avLst>
          </a:prstGeom>
          <a:solidFill>
            <a:srgbClr val="0F1622"/>
          </a:solidFill>
          <a:ln w="9525">
            <a:solidFill>
              <a:srgbClr val="E2E7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5962" y="2764798"/>
            <a:ext cx="30397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79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# Ayarlar → Eklentiler → Mağaza → ⋮ → Depolar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575962" y="2936248"/>
            <a:ext cx="30397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github.com/fxerkan/mynes-addon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5962" y="3279148"/>
            <a:ext cx="30397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79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# kur, başlat, 5883 portunda aç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072933" y="2273582"/>
            <a:ext cx="344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98A1F"/>
                </a:solidFill>
                <a:latin typeface="Saira Cond SemiBold" pitchFamily="34" charset="0"/>
                <a:ea typeface="Saira Cond SemiBold" pitchFamily="34" charset="-122"/>
                <a:cs typeface="Saira Cond SemiBold" pitchFamily="34" charset="-120"/>
              </a:rPr>
              <a:t>CasaOS / ZimaOS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72933" y="2648852"/>
            <a:ext cx="3442106" cy="839534"/>
          </a:xfrm>
          <a:prstGeom prst="roundRect">
            <a:avLst>
              <a:gd name="adj" fmla="val 7624"/>
            </a:avLst>
          </a:prstGeom>
          <a:solidFill>
            <a:srgbClr val="0F1622"/>
          </a:solidFill>
          <a:ln w="9525">
            <a:solidFill>
              <a:srgbClr val="E2E7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4101" y="2763700"/>
            <a:ext cx="3039770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7A8798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# App Store → ⋮ → Add Source</a:t>
            </a:r>
            <a:endParaRPr lang="en-US" sz="925" dirty="0"/>
          </a:p>
        </p:txBody>
      </p:sp>
      <p:sp>
        <p:nvSpPr>
          <p:cNvPr id="27" name="Text 24"/>
          <p:cNvSpPr txBox="1"/>
          <p:nvPr/>
        </p:nvSpPr>
        <p:spPr>
          <a:xfrm>
            <a:off x="8274101" y="2939913"/>
            <a:ext cx="3039770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https://cdn.jsdelivr.net/gh/fxerkan/</a:t>
            </a:r>
            <a:endParaRPr lang="en-US" sz="925" dirty="0"/>
          </a:p>
        </p:txBody>
      </p:sp>
      <p:sp>
        <p:nvSpPr>
          <p:cNvPr id="28" name="Text 25"/>
          <p:cNvSpPr txBox="1"/>
          <p:nvPr/>
        </p:nvSpPr>
        <p:spPr>
          <a:xfrm>
            <a:off x="8274101" y="3116125"/>
            <a:ext cx="3039770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E6EDF7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  mynes-casaos-store@gh-pages/store/main.zip</a:t>
            </a:r>
            <a:endParaRPr lang="en-US" sz="925" dirty="0"/>
          </a:p>
        </p:txBody>
      </p:sp>
      <p:sp>
        <p:nvSpPr>
          <p:cNvPr id="29" name="Text 26"/>
          <p:cNvSpPr txBox="1"/>
          <p:nvPr/>
        </p:nvSpPr>
        <p:spPr>
          <a:xfrm>
            <a:off x="676656" y="6509796"/>
            <a:ext cx="10838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Kaynak: README.md · docs/DOCKER_README.md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D6FF5"/>
          </a:solidFill>
          <a:ln/>
        </p:spPr>
      </p:sp>
      <p:pic>
        <p:nvPicPr>
          <p:cNvPr id="3" name="Image 0" descr="/home/claude/decks/kit2/worlds/../logos/myn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05917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794431"/>
            <a:ext cx="10058400" cy="817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spc="-65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My Network Scann</a:t>
            </a:r>
            <a:pPr indent="0" marL="0">
              <a:buNone/>
            </a:pPr>
            <a:r>
              <a:rPr lang="en-US" sz="3600" b="1" spc="-65" kern="0" dirty="0">
                <a:solidFill>
                  <a:srgbClr val="3D6FF5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er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581912" y="1461486"/>
            <a:ext cx="6400800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02" kern="0" dirty="0">
                <a:solidFill>
                  <a:srgbClr val="606A79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76656" y="1913311"/>
            <a:ext cx="625449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spc="-54" kern="0" dirty="0">
                <a:solidFill>
                  <a:srgbClr val="141A24"/>
                </a:solidFill>
                <a:latin typeface="Saira Cond" pitchFamily="34" charset="0"/>
                <a:ea typeface="Saira Cond" pitchFamily="34" charset="-122"/>
                <a:cs typeface="Saira Cond" pitchFamily="34" charset="-120"/>
              </a:rPr>
              <a:t>IP taraması sana adresleri gösterir. MyNeS evini gösterir.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3088488"/>
            <a:ext cx="6035040" cy="43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606A79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Kendi sunucunda. Hesap yok. Bulut yok. Ve haritada hiç olmayan cihazları bulur.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" y="3629762"/>
            <a:ext cx="2728487" cy="310896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3707221"/>
            <a:ext cx="27284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 pull fxerkan/my_network_scanner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96583" y="3629762"/>
            <a:ext cx="973392" cy="310896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96583" y="3707221"/>
            <a:ext cx="97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AGPL-3.0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61415" y="3629762"/>
            <a:ext cx="1306747" cy="310896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1415" y="3707221"/>
            <a:ext cx="13067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amd64 · arm64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6656" y="4032098"/>
            <a:ext cx="1825542" cy="310896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" y="4109557"/>
            <a:ext cx="1825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Home Assistant eklentisi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93638" y="4032098"/>
            <a:ext cx="1409903" cy="310896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93638" y="4109557"/>
            <a:ext cx="14099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CasaOS / ZimaOS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094982" y="4032098"/>
            <a:ext cx="1198404" cy="310896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D6E2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94982" y="4109557"/>
            <a:ext cx="1198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6FF5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iOS + Android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4088" y="4744441"/>
            <a:ext cx="91440" cy="91440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2688" y="4677527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3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github.com/fxerkan/my_network_scanner</a:t>
            </a:r>
            <a:endParaRPr lang="en-US" sz="813" dirty="0"/>
          </a:p>
        </p:txBody>
      </p:sp>
      <p:sp>
        <p:nvSpPr>
          <p:cNvPr id="22" name="Shape 19"/>
          <p:cNvSpPr/>
          <p:nvPr/>
        </p:nvSpPr>
        <p:spPr>
          <a:xfrm>
            <a:off x="704088" y="4976780"/>
            <a:ext cx="91440" cy="91440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2688" y="4909866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3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 Hub</a:t>
            </a:r>
            <a:endParaRPr lang="en-US" sz="813" dirty="0"/>
          </a:p>
        </p:txBody>
      </p:sp>
      <p:sp>
        <p:nvSpPr>
          <p:cNvPr id="24" name="Shape 21"/>
          <p:cNvSpPr/>
          <p:nvPr/>
        </p:nvSpPr>
        <p:spPr>
          <a:xfrm>
            <a:off x="704088" y="5209119"/>
            <a:ext cx="91440" cy="91440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32688" y="5142205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3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mynes-mobile</a:t>
            </a:r>
            <a:endParaRPr lang="en-US" sz="813" dirty="0"/>
          </a:p>
        </p:txBody>
      </p:sp>
      <p:sp>
        <p:nvSpPr>
          <p:cNvPr id="26" name="Shape 23"/>
          <p:cNvSpPr/>
          <p:nvPr/>
        </p:nvSpPr>
        <p:spPr>
          <a:xfrm>
            <a:off x="704088" y="5441457"/>
            <a:ext cx="91440" cy="91440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32688" y="5374544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3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mynes-ai</a:t>
            </a:r>
            <a:endParaRPr lang="en-US" sz="813" dirty="0"/>
          </a:p>
        </p:txBody>
      </p:sp>
      <p:sp>
        <p:nvSpPr>
          <p:cNvPr id="28" name="Shape 25"/>
          <p:cNvSpPr/>
          <p:nvPr/>
        </p:nvSpPr>
        <p:spPr>
          <a:xfrm>
            <a:off x="704088" y="5673796"/>
            <a:ext cx="91440" cy="91440"/>
          </a:xfrm>
          <a:prstGeom prst="ellipse">
            <a:avLst/>
          </a:prstGeom>
          <a:solidFill>
            <a:srgbClr val="3D6FF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2688" y="5606883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3" dirty="0">
                <a:solidFill>
                  <a:srgbClr val="141A2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HA eklentisi</a:t>
            </a:r>
            <a:endParaRPr lang="en-US" sz="813" dirty="0"/>
          </a:p>
        </p:txBody>
      </p:sp>
      <p:sp>
        <p:nvSpPr>
          <p:cNvPr id="30" name="Shape 27"/>
          <p:cNvSpPr/>
          <p:nvPr/>
        </p:nvSpPr>
        <p:spPr>
          <a:xfrm>
            <a:off x="7082028" y="1065934"/>
            <a:ext cx="4498848" cy="4204923"/>
          </a:xfrm>
          <a:prstGeom prst="rect">
            <a:avLst/>
          </a:prstGeom>
          <a:solidFill>
            <a:srgbClr val="8894A8">
              <a:alpha val="30000"/>
            </a:srgbClr>
          </a:solidFill>
          <a:ln/>
        </p:spPr>
      </p:sp>
      <p:pic>
        <p:nvPicPr>
          <p:cNvPr id="31" name="Image 1" descr="../products/mynes/img/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15642"/>
            <a:ext cx="4498848" cy="4204923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7040880" y="1015642"/>
            <a:ext cx="4498848" cy="4204923"/>
          </a:xfrm>
          <a:prstGeom prst="rect">
            <a:avLst/>
          </a:prstGeom>
          <a:ln w="12700">
            <a:solidFill>
              <a:srgbClr val="E2E7E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76656" y="6126480"/>
            <a:ext cx="10838383" cy="0"/>
          </a:xfrm>
          <a:prstGeom prst="line">
            <a:avLst/>
          </a:prstGeom>
          <a:noFill/>
          <a:ln w="11430">
            <a:solidFill>
              <a:srgbClr val="E2E7E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76656" y="6306434"/>
            <a:ext cx="65030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5A3"/>
                </a:solidFill>
                <a:latin typeface="Sometype Mono" pitchFamily="34" charset="0"/>
                <a:ea typeface="Sometype Mono" pitchFamily="34" charset="-122"/>
                <a:cs typeface="Sometype Mono" pitchFamily="34" charset="-120"/>
              </a:rPr>
              <a:t>MyNeS v1.8.1 · Mobil v1.0 · AGPL-3.0 · FXerkan tarafından geliştirildi — Code more, worry less.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fxerkan.com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MyNeS — My Network Scanner — Pitch Deck (TR)</dc:title>
  <dc:subject>PptxGenJS Presentation</dc:subject>
  <dc:creator>FXerkan</dc:creator>
  <cp:lastModifiedBy>FXerkan</cp:lastModifiedBy>
  <cp:revision>1</cp:revision>
  <dcterms:created xsi:type="dcterms:W3CDTF">2026-09-13T18:24:46Z</dcterms:created>
  <dcterms:modified xsi:type="dcterms:W3CDTF">2026-09-13T18:24:46Z</dcterms:modified>
</cp:coreProperties>
</file>